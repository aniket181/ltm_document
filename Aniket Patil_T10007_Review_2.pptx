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14747048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147470490" r:id="rId11"/>
    <p:sldId id="2147470491" r:id="rId12"/>
    <p:sldId id="2147470492" r:id="rId13"/>
    <p:sldId id="2147470493" r:id="rId14"/>
    <p:sldId id="2147470494" r:id="rId15"/>
    <p:sldId id="2147470495" r:id="rId16"/>
    <p:sldId id="2147470496" r:id="rId17"/>
    <p:sldId id="2147470497" r:id="rId18"/>
    <p:sldId id="214747049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12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997" y="953415"/>
            <a:ext cx="7968254" cy="33342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1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997" y="472144"/>
            <a:ext cx="7968254" cy="33342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1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43342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7.png"/><Relationship Id="rId5" Type="http://schemas.openxmlformats.org/officeDocument/2006/relationships/image" Target="../media/image14.png"/><Relationship Id="rId10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23452" y="22303"/>
            <a:ext cx="9190904" cy="5151292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685783">
              <a:defRPr/>
            </a:pPr>
            <a:endParaRPr lang="en-US" sz="1350" dirty="0">
              <a:solidFill>
                <a:prstClr val="white"/>
              </a:solidFill>
              <a:latin typeface="Frutiger LT Pro 45 Light" panose="020B0403030504020204" pitchFamily="34" charset="0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7227" y="13279"/>
            <a:ext cx="5182591" cy="793594"/>
          </a:xfrm>
        </p:spPr>
        <p:txBody>
          <a:bodyPr/>
          <a:lstStyle/>
          <a:p>
            <a:pPr marL="0" indent="0" algn="ctr">
              <a:buNone/>
            </a:pPr>
            <a:r>
              <a:rPr lang="en-US" sz="33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233013" y="840230"/>
            <a:ext cx="43996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3094464" y="883183"/>
            <a:ext cx="2504478" cy="2400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800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900" dirty="0">
                <a:solidFill>
                  <a:srgbClr val="595959"/>
                </a:solidFill>
                <a:latin typeface="Frutiger 45 bold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35177" y="1244866"/>
            <a:ext cx="8571138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algn="ctr" defTabSz="685800">
              <a:defRPr/>
            </a:pPr>
            <a:r>
              <a:rPr lang="en-IN" sz="2700" b="1" dirty="0">
                <a:solidFill>
                  <a:schemeClr val="bg1"/>
                </a:solidFill>
              </a:rPr>
              <a:t>RAG-Based Student Education Opportunity and Scholarship Eligibility Intelligence System 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Aniket Patil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T10007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467001"/>
              </p:ext>
            </p:extLst>
          </p:nvPr>
        </p:nvGraphicFramePr>
        <p:xfrm>
          <a:off x="-35468" y="4125933"/>
          <a:ext cx="9179412" cy="2494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9706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4589706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145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99" y="4389501"/>
            <a:ext cx="1490601" cy="635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A6B6C-F49C-F24B-B055-7E1142D72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" y="4500915"/>
            <a:ext cx="2069319" cy="55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3669" y="3321844"/>
            <a:ext cx="0" cy="519150"/>
          </a:xfrm>
          <a:prstGeom prst="line">
            <a:avLst/>
          </a:prstGeom>
          <a:noFill/>
          <a:ln w="28575">
            <a:solidFill>
              <a:srgbClr val="3EA6AA"/>
            </a:solidFill>
            <a:prstDash val="solid"/>
          </a:ln>
        </p:spPr>
      </p:sp>
      <p:pic>
        <p:nvPicPr>
          <p:cNvPr id="3" name="Image 0" descr="/tmp/h2p-svg-1791168119073-56s6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281"/>
            <a:ext cx="3840435" cy="607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625" y="1035844"/>
            <a:ext cx="5036344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506"/>
              </a:spcAft>
              <a:buNone/>
            </a:pPr>
            <a:r>
              <a:rPr lang="en-US" sz="10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Students have access to numerous scholarships, fellowships, financial-aid programs and educational opportunities, but relevant information is distributed across multiple portals, institutions and official documents.</a:t>
            </a:r>
            <a:endParaRPr lang="en-US" sz="1000" dirty="0"/>
          </a:p>
          <a:p>
            <a:pPr marL="0" indent="0" algn="l">
              <a:lnSpc>
                <a:spcPts val="1238"/>
              </a:lnSpc>
              <a:spcAft>
                <a:spcPts val="506"/>
              </a:spcAft>
              <a:buNone/>
            </a:pPr>
            <a:r>
              <a:rPr lang="en-US" sz="10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Eligibility conditions are complex and depend on academic performance, course/education level, family income, state/domicile, category, institution type, age and scheme-specific conditions.</a:t>
            </a:r>
            <a:endParaRPr lang="en-US" sz="1000" dirty="0"/>
          </a:p>
          <a:p>
            <a:pPr marL="0" indent="0" algn="l">
              <a:lnSpc>
                <a:spcPts val="1238"/>
              </a:lnSpc>
              <a:spcAft>
                <a:spcPts val="506"/>
              </a:spcAft>
              <a:buNone/>
            </a:pPr>
            <a:r>
              <a:rPr lang="en-US" sz="10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Students often need to manually search multiple sources and interpret lengthy eligibility guidelines.</a:t>
            </a:r>
            <a:endParaRPr lang="en-US" sz="1000" dirty="0"/>
          </a:p>
          <a:p>
            <a:pPr marL="0" indent="0" algn="l">
              <a:lnSpc>
                <a:spcPts val="1238"/>
              </a:lnSpc>
              <a:spcAft>
                <a:spcPts val="506"/>
              </a:spcAft>
              <a:buNone/>
            </a:pPr>
            <a:r>
              <a:rPr lang="en-US" sz="10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Existing search/recommendation approaches may retrieve opportunities but do NOT provide deterministic eligibility reasoning and source-grounded explanations.</a:t>
            </a:r>
            <a:endParaRPr lang="en-US" sz="1000" dirty="0"/>
          </a:p>
          <a:p>
            <a:pPr marL="0" indent="0" algn="l">
              <a:lnSpc>
                <a:spcPts val="1238"/>
              </a:lnSpc>
              <a:spcAft>
                <a:spcPts val="506"/>
              </a:spcAft>
              <a:buNone/>
            </a:pPr>
            <a:r>
              <a:rPr lang="en-US" sz="10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The proposed system combines: RAG, Hybrid Retrieval, Deterministic Eligibility Rules, Personalized Ranking, and Source-grounded Explanations.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63678" y="1051617"/>
            <a:ext cx="1474470" cy="298628"/>
          </a:xfrm>
          <a:prstGeom prst="roundRect">
            <a:avLst>
              <a:gd name="adj" fmla="val 19138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586538" y="1064419"/>
            <a:ext cx="1428750" cy="259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251"/>
              </a:lnSpc>
              <a:buNone/>
            </a:pPr>
            <a:r>
              <a:rPr lang="en-US" sz="862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Profile</a:t>
            </a:r>
            <a:endParaRPr lang="en-US" sz="862" dirty="0"/>
          </a:p>
        </p:txBody>
      </p:sp>
      <p:sp>
        <p:nvSpPr>
          <p:cNvPr id="7" name="Text 4"/>
          <p:cNvSpPr/>
          <p:nvPr/>
        </p:nvSpPr>
        <p:spPr>
          <a:xfrm>
            <a:off x="7234944" y="1351731"/>
            <a:ext cx="131936" cy="1202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538" y="1499406"/>
            <a:ext cx="1428750" cy="273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3678" y="1486605"/>
            <a:ext cx="1474470" cy="298628"/>
          </a:xfrm>
          <a:prstGeom prst="roundRect">
            <a:avLst>
              <a:gd name="adj" fmla="val 19138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586538" y="1499406"/>
            <a:ext cx="1428750" cy="259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251"/>
              </a:lnSpc>
              <a:buNone/>
            </a:pPr>
            <a:r>
              <a:rPr lang="en-US" sz="862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Eligibility Evaluation</a:t>
            </a:r>
            <a:endParaRPr lang="en-US" sz="862" dirty="0"/>
          </a:p>
        </p:txBody>
      </p:sp>
      <p:sp>
        <p:nvSpPr>
          <p:cNvPr id="11" name="Text 7"/>
          <p:cNvSpPr/>
          <p:nvPr/>
        </p:nvSpPr>
        <p:spPr>
          <a:xfrm>
            <a:off x="7234944" y="1786719"/>
            <a:ext cx="131936" cy="1202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63678" y="1921592"/>
            <a:ext cx="1474470" cy="298628"/>
          </a:xfrm>
          <a:prstGeom prst="roundRect">
            <a:avLst>
              <a:gd name="adj" fmla="val 19138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586538" y="1934394"/>
            <a:ext cx="1428750" cy="259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251"/>
              </a:lnSpc>
              <a:buNone/>
            </a:pPr>
            <a:r>
              <a:rPr lang="en-US" sz="862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Hybrid Retrieval</a:t>
            </a:r>
            <a:endParaRPr lang="en-US" sz="862" dirty="0"/>
          </a:p>
        </p:txBody>
      </p:sp>
      <p:sp>
        <p:nvSpPr>
          <p:cNvPr id="14" name="Text 10"/>
          <p:cNvSpPr/>
          <p:nvPr/>
        </p:nvSpPr>
        <p:spPr>
          <a:xfrm>
            <a:off x="7234944" y="2221706"/>
            <a:ext cx="131936" cy="1202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538" y="2369381"/>
            <a:ext cx="1428750" cy="273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63678" y="2356579"/>
            <a:ext cx="1474470" cy="298628"/>
          </a:xfrm>
          <a:prstGeom prst="roundRect">
            <a:avLst>
              <a:gd name="adj" fmla="val 19138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586538" y="2369381"/>
            <a:ext cx="1428750" cy="259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251"/>
              </a:lnSpc>
              <a:buNone/>
            </a:pPr>
            <a:r>
              <a:rPr lang="en-US" sz="862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RAG</a:t>
            </a:r>
            <a:endParaRPr lang="en-US" sz="862" dirty="0"/>
          </a:p>
        </p:txBody>
      </p:sp>
      <p:sp>
        <p:nvSpPr>
          <p:cNvPr id="18" name="Text 13"/>
          <p:cNvSpPr/>
          <p:nvPr/>
        </p:nvSpPr>
        <p:spPr>
          <a:xfrm>
            <a:off x="7234944" y="2656694"/>
            <a:ext cx="131936" cy="1202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538" y="2804368"/>
            <a:ext cx="1428750" cy="431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93681" y="2811512"/>
            <a:ext cx="1414463" cy="417463"/>
          </a:xfrm>
          <a:prstGeom prst="roundRect">
            <a:avLst>
              <a:gd name="adj" fmla="val 13690"/>
            </a:avLst>
          </a:prstGeom>
          <a:noFill/>
          <a:ln w="14288">
            <a:solidFill>
              <a:srgbClr val="70AD47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586538" y="2804368"/>
            <a:ext cx="1428750" cy="466290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marL="0" indent="0" algn="ctr">
              <a:lnSpc>
                <a:spcPts val="1251"/>
              </a:lnSpc>
              <a:buNone/>
            </a:pPr>
            <a:r>
              <a:rPr lang="en-US" sz="862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Personalized &amp; Explainable Results</a:t>
            </a:r>
            <a:endParaRPr lang="en-US" sz="862" dirty="0"/>
          </a:p>
        </p:txBody>
      </p:sp>
      <p:sp>
        <p:nvSpPr>
          <p:cNvPr id="22" name="Text 16"/>
          <p:cNvSpPr/>
          <p:nvPr/>
        </p:nvSpPr>
        <p:spPr>
          <a:xfrm>
            <a:off x="6479381" y="3321844"/>
            <a:ext cx="1643063" cy="519150"/>
          </a:xfrm>
          <a:prstGeom prst="roundRect">
            <a:avLst>
              <a:gd name="adj" fmla="val 7339"/>
            </a:avLst>
          </a:prstGeom>
          <a:solidFill>
            <a:srgbClr val="F4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479381" y="3321844"/>
            <a:ext cx="1643063" cy="569581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Multiple Sources → Information Fragmentation → Student Difficulty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28625" y="500063"/>
            <a:ext cx="5860733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Introduction</a:t>
            </a:r>
            <a:endParaRPr lang="en-US" sz="22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43450"/>
            <a:ext cx="9144000" cy="4000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14313" y="4847034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27" name="Text 20"/>
          <p:cNvSpPr/>
          <p:nvPr/>
        </p:nvSpPr>
        <p:spPr>
          <a:xfrm>
            <a:off x="542590" y="4847034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28" name="Text 21"/>
          <p:cNvSpPr/>
          <p:nvPr/>
        </p:nvSpPr>
        <p:spPr>
          <a:xfrm>
            <a:off x="861938" y="4847034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29" name="Text 22"/>
          <p:cNvSpPr/>
          <p:nvPr/>
        </p:nvSpPr>
        <p:spPr>
          <a:xfrm>
            <a:off x="7852327" y="4847034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3571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662650" y="103584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2913" y="1237098"/>
            <a:ext cx="0" cy="477069"/>
          </a:xfrm>
          <a:prstGeom prst="line">
            <a:avLst/>
          </a:prstGeom>
          <a:noFill/>
          <a:ln w="28575">
            <a:solidFill>
              <a:srgbClr val="3EA6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2913" y="3605921"/>
            <a:ext cx="0" cy="435099"/>
          </a:xfrm>
          <a:prstGeom prst="line">
            <a:avLst/>
          </a:prstGeom>
          <a:noFill/>
          <a:ln w="28575">
            <a:solidFill>
              <a:srgbClr val="70AD47"/>
            </a:solidFill>
            <a:prstDash val="solid"/>
          </a:ln>
        </p:spPr>
      </p:sp>
      <p:pic>
        <p:nvPicPr>
          <p:cNvPr id="4" name="Image 0" descr="/tmp/h2p-svg-1791168119075-up2em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3315"/>
            <a:ext cx="3840435" cy="607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625" y="1042878"/>
            <a:ext cx="8636000" cy="166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b="1" kern="0" spc="45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PRIMARY OBJECTIVE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28625" y="1237098"/>
            <a:ext cx="8393906" cy="477069"/>
          </a:xfrm>
          <a:prstGeom prst="roundRect">
            <a:avLst>
              <a:gd name="adj" fmla="val 7986"/>
            </a:avLst>
          </a:prstGeom>
          <a:solidFill>
            <a:srgbClr val="F4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28625" y="1237098"/>
            <a:ext cx="8393906" cy="515234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Develop an intelligent, source-grounded system that helps students discover, evaluate and understand relevant scholarships and educational opportunities based on their individual profiles.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28625" y="1799892"/>
            <a:ext cx="8636000" cy="166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b="1" kern="0" spc="45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SPECIFIC OBJECTIVES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625" y="1994113"/>
            <a:ext cx="4111228" cy="1668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Build a centralized knowledge system for scholarships, fellowships, financial-aid and educational opportunities.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Create structured student profiles containing academic, financial, demographic and educational attributes.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Retrieve relevant opportunity information using hybrid retrieval (semantic + keyword search).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Analyze student profiles against structured eligibility criteria using a deterministic rule engine.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Identify: Eligible, Not Eligible, Potentially Eligible, and Requires Additional Information opportunities.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711303" y="1994113"/>
            <a:ext cx="4111228" cy="1668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Rank opportunities by eligibility, academic fit, demographic match, financial need and deadline relevance.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Generate source-grounded explanations using RAG and retrieved official document evidence.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Provide source attribution so students can verify information from original documents.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81"/>
              </a:spcAft>
              <a:buSzPct val="100000"/>
              <a:buFont typeface="+mj-lt"/>
              <a:buAutoNum type="arabicPeriod"/>
            </a:pP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Reduce the time and effort required to discover suitable educational opportunities.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28625" y="3605921"/>
            <a:ext cx="8393906" cy="435099"/>
          </a:xfrm>
          <a:prstGeom prst="roundRect">
            <a:avLst>
              <a:gd name="adj" fmla="val 8757"/>
            </a:avLst>
          </a:prstGeom>
          <a:solidFill>
            <a:srgbClr val="F4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8625" y="3605921"/>
            <a:ext cx="8393906" cy="469907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2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Architectural Principle:</a:t>
            </a:r>
            <a:r>
              <a:rPr lang="en-US" sz="862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 The LLM does NOT independently decide factual eligibility. Structured eligibility conditions are evaluated using deterministic rules. RAG is used for retrieval, contextual explanation and source-grounded responses.</a:t>
            </a:r>
            <a:endParaRPr lang="en-US" sz="862" dirty="0"/>
          </a:p>
        </p:txBody>
      </p:sp>
      <p:sp>
        <p:nvSpPr>
          <p:cNvPr id="13" name="Text 10"/>
          <p:cNvSpPr/>
          <p:nvPr/>
        </p:nvSpPr>
        <p:spPr>
          <a:xfrm>
            <a:off x="428625" y="507097"/>
            <a:ext cx="6400800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Objective</a:t>
            </a:r>
            <a:endParaRPr lang="en-US" sz="2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50484"/>
            <a:ext cx="9144000" cy="4000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4313" y="4854068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542590" y="4854068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17" name="Text 13"/>
          <p:cNvSpPr/>
          <p:nvPr/>
        </p:nvSpPr>
        <p:spPr>
          <a:xfrm>
            <a:off x="861938" y="4854068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7852327" y="4854068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034"/>
            <a:ext cx="9144000" cy="3571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62650" y="110618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svg-1791168119082-mtj4q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281"/>
            <a:ext cx="3840435" cy="607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197" y="1039416"/>
            <a:ext cx="1493602" cy="1127931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92919" y="10944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35794" y="1092994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2919" y="1231739"/>
            <a:ext cx="1454488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Profile Management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2919" y="1647584"/>
            <a:ext cx="1454488" cy="274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Create &amp; manage structured student profiles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990092" y="1039416"/>
            <a:ext cx="1493602" cy="1127931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50814" y="10944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93689" y="1092994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50814" y="1231739"/>
            <a:ext cx="1372158" cy="2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Opportunity Knowledge Base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50814" y="1682678"/>
            <a:ext cx="1454488" cy="274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Store scholarships &amp; eligibility metadata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47988" y="1039416"/>
            <a:ext cx="1493602" cy="1127931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08710" y="10944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51585" y="1092994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08710" y="1231739"/>
            <a:ext cx="1372158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Document Ingestion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92746" y="1669086"/>
            <a:ext cx="1454488" cy="274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Extract, clean &amp; chunk PDF documents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2197" y="2231641"/>
            <a:ext cx="1493602" cy="1127931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2919" y="22866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794" y="2285219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2919" y="2423964"/>
            <a:ext cx="1372158" cy="2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Embedding &amp; Vector Storage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2741" y="2832967"/>
            <a:ext cx="1454488" cy="274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BGE-small-en-v1.5 + pgvector (384-dim)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990092" y="2231641"/>
            <a:ext cx="1493602" cy="1127931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050814" y="22866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193689" y="2285219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050814" y="2423964"/>
            <a:ext cx="1372158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062735" y="2839039"/>
            <a:ext cx="1454488" cy="13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Liberation Sans Narrow" pitchFamily="34" charset="-122"/>
                <a:cs typeface="Liberation Sans Narrow" pitchFamily="34" charset="-120"/>
              </a:rPr>
              <a:t>Semantic + BM25 + RRF fusion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547988" y="2231641"/>
            <a:ext cx="1493602" cy="1127931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08710" y="22866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51585" y="2285219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08710" y="2423964"/>
            <a:ext cx="1372158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Eligibility Rule Engine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29788" y="2796093"/>
            <a:ext cx="1454488" cy="411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Deterministic academic/financial/demographic rules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32197" y="3423865"/>
            <a:ext cx="1493602" cy="1037406"/>
          </a:xfrm>
          <a:prstGeom prst="roundRect">
            <a:avLst>
              <a:gd name="adj" fmla="val 642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92919" y="34788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5794" y="3477444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92919" y="3616189"/>
            <a:ext cx="1372158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Recommendation &amp; Ranking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76014" y="3940625"/>
            <a:ext cx="1481931" cy="13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Eligibility-aware scoring &amp; ranking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990092" y="3423865"/>
            <a:ext cx="1493602" cy="1037406"/>
          </a:xfrm>
          <a:prstGeom prst="roundRect">
            <a:avLst>
              <a:gd name="adj" fmla="val 642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050814" y="34788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193689" y="3477444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050814" y="3616189"/>
            <a:ext cx="1372158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RAG Generation &amp; Sources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018667" y="3918618"/>
            <a:ext cx="1454488" cy="274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Grounded responses with source attribution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547988" y="3423865"/>
            <a:ext cx="1493602" cy="1037406"/>
          </a:xfrm>
          <a:prstGeom prst="roundRect">
            <a:avLst>
              <a:gd name="adj" fmla="val 642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47625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608710" y="34788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751585" y="3477444"/>
            <a:ext cx="1229283" cy="15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1000" b="1" kern="0" spc="28" dirty="0">
                <a:solidFill>
                  <a:srgbClr val="3EA6AA"/>
                </a:solidFill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608710" y="3616189"/>
            <a:ext cx="1372158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Dashboard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587102" y="3925675"/>
            <a:ext cx="1454488" cy="274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Search, recommendations, eligibility explanations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70967" y="1050131"/>
            <a:ext cx="782933" cy="139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087"/>
              </a:lnSpc>
              <a:buNone/>
            </a:pPr>
            <a:r>
              <a:rPr lang="en-US" sz="1000" b="1" kern="0" spc="3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325255" y="1203868"/>
            <a:ext cx="1474470" cy="291820"/>
          </a:xfrm>
          <a:prstGeom prst="roundRect">
            <a:avLst>
              <a:gd name="adj" fmla="val 19584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348115" y="1216670"/>
            <a:ext cx="1428750" cy="245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Profile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001210" y="1490030"/>
            <a:ext cx="122560" cy="103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15" y="1620962"/>
            <a:ext cx="1428750" cy="266216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6325255" y="1608160"/>
            <a:ext cx="1474470" cy="291820"/>
          </a:xfrm>
          <a:prstGeom prst="roundRect">
            <a:avLst>
              <a:gd name="adj" fmla="val 19584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348115" y="1620962"/>
            <a:ext cx="1428750" cy="245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Eligibility Engine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7001210" y="1894322"/>
            <a:ext cx="122560" cy="103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6325255" y="2012452"/>
            <a:ext cx="1474470" cy="291820"/>
          </a:xfrm>
          <a:prstGeom prst="roundRect">
            <a:avLst>
              <a:gd name="adj" fmla="val 19584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348115" y="2025253"/>
            <a:ext cx="1428750" cy="245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Opportunity Filtering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7001210" y="2298613"/>
            <a:ext cx="122560" cy="103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15" y="2429545"/>
            <a:ext cx="1428750" cy="266216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6325255" y="2416743"/>
            <a:ext cx="1474470" cy="291820"/>
          </a:xfrm>
          <a:prstGeom prst="roundRect">
            <a:avLst>
              <a:gd name="adj" fmla="val 19584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1" name="Text 56"/>
          <p:cNvSpPr/>
          <p:nvPr/>
        </p:nvSpPr>
        <p:spPr>
          <a:xfrm>
            <a:off x="6348115" y="2429545"/>
            <a:ext cx="1428750" cy="245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7001210" y="2702905"/>
            <a:ext cx="122560" cy="103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63" name="Text 58"/>
          <p:cNvSpPr/>
          <p:nvPr/>
        </p:nvSpPr>
        <p:spPr>
          <a:xfrm>
            <a:off x="6325255" y="2821035"/>
            <a:ext cx="1474470" cy="291820"/>
          </a:xfrm>
          <a:prstGeom prst="roundRect">
            <a:avLst>
              <a:gd name="adj" fmla="val 19584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4" name="Text 59"/>
          <p:cNvSpPr/>
          <p:nvPr/>
        </p:nvSpPr>
        <p:spPr>
          <a:xfrm>
            <a:off x="6348115" y="2833836"/>
            <a:ext cx="1428750" cy="245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Recommendation Engine</a:t>
            </a:r>
            <a:endParaRPr lang="en-US" sz="1000" dirty="0"/>
          </a:p>
        </p:txBody>
      </p:sp>
      <p:sp>
        <p:nvSpPr>
          <p:cNvPr id="65" name="Text 60"/>
          <p:cNvSpPr/>
          <p:nvPr/>
        </p:nvSpPr>
        <p:spPr>
          <a:xfrm>
            <a:off x="7001210" y="3107196"/>
            <a:ext cx="122560" cy="103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pic>
        <p:nvPicPr>
          <p:cNvPr id="6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15" y="3238128"/>
            <a:ext cx="1428750" cy="266216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6325255" y="3225326"/>
            <a:ext cx="1474470" cy="291820"/>
          </a:xfrm>
          <a:prstGeom prst="roundRect">
            <a:avLst>
              <a:gd name="adj" fmla="val 19584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8" name="Text 62"/>
          <p:cNvSpPr/>
          <p:nvPr/>
        </p:nvSpPr>
        <p:spPr>
          <a:xfrm>
            <a:off x="6348115" y="3238128"/>
            <a:ext cx="1428750" cy="245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RAG Generation</a:t>
            </a:r>
            <a:endParaRPr lang="en-US" sz="1000" dirty="0"/>
          </a:p>
        </p:txBody>
      </p:sp>
      <p:sp>
        <p:nvSpPr>
          <p:cNvPr id="69" name="Text 63"/>
          <p:cNvSpPr/>
          <p:nvPr/>
        </p:nvSpPr>
        <p:spPr>
          <a:xfrm>
            <a:off x="7001210" y="3511488"/>
            <a:ext cx="122560" cy="103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pic>
        <p:nvPicPr>
          <p:cNvPr id="7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115" y="3642420"/>
            <a:ext cx="1428750" cy="266216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6325255" y="3629618"/>
            <a:ext cx="1474470" cy="291820"/>
          </a:xfrm>
          <a:prstGeom prst="roundRect">
            <a:avLst>
              <a:gd name="adj" fmla="val 19584"/>
            </a:avLst>
          </a:prstGeom>
          <a:noFill/>
          <a:ln w="14288">
            <a:solidFill>
              <a:srgbClr val="70AD47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2" name="Text 65"/>
          <p:cNvSpPr/>
          <p:nvPr/>
        </p:nvSpPr>
        <p:spPr>
          <a:xfrm>
            <a:off x="6348115" y="3642420"/>
            <a:ext cx="1428750" cy="266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Dashboard</a:t>
            </a:r>
            <a:endParaRPr lang="en-US" sz="1000" dirty="0"/>
          </a:p>
        </p:txBody>
      </p:sp>
      <p:sp>
        <p:nvSpPr>
          <p:cNvPr id="73" name="Text 66"/>
          <p:cNvSpPr/>
          <p:nvPr/>
        </p:nvSpPr>
        <p:spPr>
          <a:xfrm>
            <a:off x="428625" y="500063"/>
            <a:ext cx="5250656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Project Modules</a:t>
            </a:r>
            <a:endParaRPr lang="en-US" sz="2250" dirty="0"/>
          </a:p>
        </p:txBody>
      </p:sp>
      <p:pic>
        <p:nvPicPr>
          <p:cNvPr id="7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43450"/>
            <a:ext cx="9144000" cy="400050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214313" y="4847034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76" name="Text 68"/>
          <p:cNvSpPr/>
          <p:nvPr/>
        </p:nvSpPr>
        <p:spPr>
          <a:xfrm>
            <a:off x="542590" y="4847034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77" name="Text 69"/>
          <p:cNvSpPr/>
          <p:nvPr/>
        </p:nvSpPr>
        <p:spPr>
          <a:xfrm>
            <a:off x="861938" y="4847034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78" name="Text 70"/>
          <p:cNvSpPr/>
          <p:nvPr/>
        </p:nvSpPr>
        <p:spPr>
          <a:xfrm>
            <a:off x="7852327" y="4847034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7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357188"/>
          </a:xfrm>
          <a:prstGeom prst="rect">
            <a:avLst/>
          </a:prstGeom>
        </p:spPr>
      </p:pic>
      <p:sp>
        <p:nvSpPr>
          <p:cNvPr id="80" name="Text 71"/>
          <p:cNvSpPr/>
          <p:nvPr/>
        </p:nvSpPr>
        <p:spPr>
          <a:xfrm>
            <a:off x="5662650" y="103584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svg-1791168119723-16625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281"/>
            <a:ext cx="3840435" cy="607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6531" y="810427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59382" y="810427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0844" y="803283"/>
            <a:ext cx="400550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 Acquisition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0844" y="986080"/>
            <a:ext cx="3814763" cy="13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Official govt/UGC/AICTE/scholarship portal documents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6531" y="1187233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59382" y="1199993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2934" y="1157171"/>
            <a:ext cx="400550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Document Processing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2314" y="1332105"/>
            <a:ext cx="3814763" cy="13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PDF extraction, cleaning, chunking, metadata preservation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6530" y="1507574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9381" y="1529116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844" y="1521938"/>
            <a:ext cx="4119944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Knowledge Representation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4130" y="1676765"/>
            <a:ext cx="4402104" cy="11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Structured (PostgreSQL + metadata) + Unstructured (chunks + BGE embeddings + pgvector)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496" y="1971621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9380" y="1979256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2934" y="1983966"/>
            <a:ext cx="400550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Profiling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4130" y="2161480"/>
            <a:ext cx="4402104" cy="17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Education level, course, CGPA, income, category, state, institution type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08621" y="2355462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1472" y="2355462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2934" y="2355365"/>
            <a:ext cx="4119944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Deterministic Eligibility Evaluation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932" y="2520245"/>
            <a:ext cx="3814763" cy="274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Academic/financial/demographic rules → ELIGIBLE / NOT_ELIGIBLE / POTENTIALLY_ELIGIBLE / INSUFFICIENT_INFORMATION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8621" y="2827928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1472" y="2827928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792" y="2842018"/>
            <a:ext cx="400550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5792" y="3022171"/>
            <a:ext cx="4238663" cy="13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Semantic search + BM25 + metadata filter + Reciprocal Rank Fusion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18623" y="3201255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71474" y="3201255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2936" y="3194111"/>
            <a:ext cx="400550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2934" y="3355204"/>
            <a:ext cx="3814763" cy="13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Score &amp; rank by eligibility, academic fit, demographic match, financial need, deadline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08621" y="3694092"/>
            <a:ext cx="157163" cy="157163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61472" y="3694092"/>
            <a:ext cx="251460" cy="1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11464" y="3720202"/>
            <a:ext cx="400550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RAG Generation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2934" y="3889178"/>
            <a:ext cx="3814763" cy="13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Retrieve evidence, assemble context, generate grounded explanation, source attribution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86528" y="4255590"/>
            <a:ext cx="5071737" cy="216715"/>
          </a:xfrm>
          <a:prstGeom prst="rect">
            <a:avLst/>
          </a:prstGeom>
          <a:noFill/>
          <a:ln/>
        </p:spPr>
        <p:txBody>
          <a:bodyPr wrap="square" lIns="214313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F8A62"/>
                </a:solidFill>
                <a:ea typeface="Carlito" pitchFamily="34" charset="-122"/>
                <a:cs typeface="Carlito" pitchFamily="34" charset="-120"/>
              </a:rPr>
              <a:t>LLM is NOT the eligibility decision-maker — deterministic rules decide; RAG explains.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06123" y="1050131"/>
            <a:ext cx="1125161" cy="139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087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MASTER PIPELINE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995749" y="1204628"/>
            <a:ext cx="1545908" cy="224778"/>
          </a:xfrm>
          <a:prstGeom prst="roundRect">
            <a:avLst>
              <a:gd name="adj" fmla="val 254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018609" y="1216670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Official Sources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716799" y="1424508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609" y="1536464"/>
            <a:ext cx="1500188" cy="200695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995749" y="1524423"/>
            <a:ext cx="1545908" cy="224778"/>
          </a:xfrm>
          <a:prstGeom prst="roundRect">
            <a:avLst>
              <a:gd name="adj" fmla="val 25425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6018609" y="1536464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Document Ingestion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6716799" y="1744303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sp>
        <p:nvSpPr>
          <p:cNvPr id="44" name="Text 40"/>
          <p:cNvSpPr/>
          <p:nvPr/>
        </p:nvSpPr>
        <p:spPr>
          <a:xfrm>
            <a:off x="5995749" y="1844217"/>
            <a:ext cx="1545908" cy="224778"/>
          </a:xfrm>
          <a:prstGeom prst="roundRect">
            <a:avLst>
              <a:gd name="adj" fmla="val 254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6018609" y="1856259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Cleaning + Chunking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6716799" y="2064097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609" y="2176053"/>
            <a:ext cx="1500188" cy="31566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025753" y="2183197"/>
            <a:ext cx="1485900" cy="301377"/>
          </a:xfrm>
          <a:prstGeom prst="roundRect">
            <a:avLst>
              <a:gd name="adj" fmla="val 18963"/>
            </a:avLst>
          </a:prstGeom>
          <a:noFill/>
          <a:ln w="14288">
            <a:solidFill>
              <a:srgbClr val="70AD47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6018609" y="2176053"/>
            <a:ext cx="1500188" cy="295376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Structured DB + Vector Store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6716799" y="2498861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sp>
        <p:nvSpPr>
          <p:cNvPr id="51" name="Text 46"/>
          <p:cNvSpPr/>
          <p:nvPr/>
        </p:nvSpPr>
        <p:spPr>
          <a:xfrm>
            <a:off x="5995749" y="2598776"/>
            <a:ext cx="1545908" cy="224778"/>
          </a:xfrm>
          <a:prstGeom prst="roundRect">
            <a:avLst>
              <a:gd name="adj" fmla="val 254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6018609" y="2610817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Profile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6716799" y="2818656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609" y="2930612"/>
            <a:ext cx="1500188" cy="200695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995749" y="2918570"/>
            <a:ext cx="1545908" cy="224778"/>
          </a:xfrm>
          <a:prstGeom prst="roundRect">
            <a:avLst>
              <a:gd name="adj" fmla="val 25425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6018609" y="2930612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Eligibility Engine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6716799" y="3138450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sp>
        <p:nvSpPr>
          <p:cNvPr id="58" name="Text 52"/>
          <p:cNvSpPr/>
          <p:nvPr/>
        </p:nvSpPr>
        <p:spPr>
          <a:xfrm>
            <a:off x="5995749" y="3238365"/>
            <a:ext cx="1545908" cy="224778"/>
          </a:xfrm>
          <a:prstGeom prst="roundRect">
            <a:avLst>
              <a:gd name="adj" fmla="val 254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6018609" y="3250406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Candidate Opportunities</a:t>
            </a:r>
            <a:endParaRPr lang="en-US" sz="800" dirty="0"/>
          </a:p>
        </p:txBody>
      </p:sp>
      <p:sp>
        <p:nvSpPr>
          <p:cNvPr id="60" name="Text 54"/>
          <p:cNvSpPr/>
          <p:nvPr/>
        </p:nvSpPr>
        <p:spPr>
          <a:xfrm>
            <a:off x="6716799" y="3458245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609" y="3570201"/>
            <a:ext cx="1500188" cy="200695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5995749" y="3558159"/>
            <a:ext cx="1545908" cy="224778"/>
          </a:xfrm>
          <a:prstGeom prst="roundRect">
            <a:avLst>
              <a:gd name="adj" fmla="val 25425"/>
            </a:avLst>
          </a:prstGeom>
          <a:noFill/>
          <a:ln w="14288">
            <a:solidFill>
              <a:srgbClr val="70AD47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6018609" y="3570201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Hybrid Retrieval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6716799" y="3778039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sp>
        <p:nvSpPr>
          <p:cNvPr id="65" name="Text 58"/>
          <p:cNvSpPr/>
          <p:nvPr/>
        </p:nvSpPr>
        <p:spPr>
          <a:xfrm>
            <a:off x="5995749" y="3877953"/>
            <a:ext cx="1545908" cy="224778"/>
          </a:xfrm>
          <a:prstGeom prst="roundRect">
            <a:avLst>
              <a:gd name="adj" fmla="val 254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6018609" y="3889995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Reranking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6716799" y="4097834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609" y="4209790"/>
            <a:ext cx="1500188" cy="200695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5995749" y="4197748"/>
            <a:ext cx="1545908" cy="224778"/>
          </a:xfrm>
          <a:prstGeom prst="roundRect">
            <a:avLst>
              <a:gd name="adj" fmla="val 25425"/>
            </a:avLst>
          </a:prstGeom>
          <a:noFill/>
          <a:ln w="14288">
            <a:solidFill>
              <a:srgbClr val="3EA6AA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2"/>
          <p:cNvSpPr/>
          <p:nvPr/>
        </p:nvSpPr>
        <p:spPr>
          <a:xfrm>
            <a:off x="6018609" y="4209790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Retrieved Context</a:t>
            </a:r>
            <a:endParaRPr lang="en-US" sz="800" dirty="0"/>
          </a:p>
        </p:txBody>
      </p:sp>
      <p:sp>
        <p:nvSpPr>
          <p:cNvPr id="71" name="Text 63"/>
          <p:cNvSpPr/>
          <p:nvPr/>
        </p:nvSpPr>
        <p:spPr>
          <a:xfrm>
            <a:off x="6716799" y="4417628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sp>
        <p:nvSpPr>
          <p:cNvPr id="72" name="Text 64"/>
          <p:cNvSpPr/>
          <p:nvPr/>
        </p:nvSpPr>
        <p:spPr>
          <a:xfrm>
            <a:off x="5995749" y="4517542"/>
            <a:ext cx="1545908" cy="224778"/>
          </a:xfrm>
          <a:prstGeom prst="roundRect">
            <a:avLst>
              <a:gd name="adj" fmla="val 254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5"/>
          <p:cNvSpPr/>
          <p:nvPr/>
        </p:nvSpPr>
        <p:spPr>
          <a:xfrm>
            <a:off x="6018609" y="4529584"/>
            <a:ext cx="1500188" cy="1804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LLM / RAG</a:t>
            </a:r>
            <a:endParaRPr lang="en-US" sz="800" dirty="0"/>
          </a:p>
        </p:txBody>
      </p:sp>
      <p:sp>
        <p:nvSpPr>
          <p:cNvPr id="74" name="Text 66"/>
          <p:cNvSpPr/>
          <p:nvPr/>
        </p:nvSpPr>
        <p:spPr>
          <a:xfrm>
            <a:off x="6716799" y="4737422"/>
            <a:ext cx="1036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25" dirty="0"/>
          </a:p>
        </p:txBody>
      </p:sp>
      <p:pic>
        <p:nvPicPr>
          <p:cNvPr id="7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609" y="4849378"/>
            <a:ext cx="1500188" cy="315664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6025753" y="4856522"/>
            <a:ext cx="1485900" cy="301377"/>
          </a:xfrm>
          <a:prstGeom prst="roundRect">
            <a:avLst>
              <a:gd name="adj" fmla="val 18963"/>
            </a:avLst>
          </a:prstGeom>
          <a:noFill/>
          <a:ln w="14288">
            <a:solidFill>
              <a:srgbClr val="70AD47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8"/>
          <p:cNvSpPr/>
          <p:nvPr/>
        </p:nvSpPr>
        <p:spPr>
          <a:xfrm>
            <a:off x="6018609" y="4849378"/>
            <a:ext cx="1500188" cy="294122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/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Grounded Recommendation + Sources</a:t>
            </a:r>
            <a:endParaRPr lang="en-US" sz="800" dirty="0"/>
          </a:p>
        </p:txBody>
      </p:sp>
      <p:sp>
        <p:nvSpPr>
          <p:cNvPr id="78" name="Text 69"/>
          <p:cNvSpPr/>
          <p:nvPr/>
        </p:nvSpPr>
        <p:spPr>
          <a:xfrm>
            <a:off x="418623" y="380444"/>
            <a:ext cx="5500688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Methodology / Modeling Plan</a:t>
            </a:r>
            <a:endParaRPr lang="en-US" sz="2250" dirty="0"/>
          </a:p>
        </p:txBody>
      </p:sp>
      <p:pic>
        <p:nvPicPr>
          <p:cNvPr id="7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743450"/>
            <a:ext cx="9144000" cy="400050"/>
          </a:xfrm>
          <a:prstGeom prst="rect">
            <a:avLst/>
          </a:prstGeom>
        </p:spPr>
      </p:pic>
      <p:sp>
        <p:nvSpPr>
          <p:cNvPr id="80" name="Text 70"/>
          <p:cNvSpPr/>
          <p:nvPr/>
        </p:nvSpPr>
        <p:spPr>
          <a:xfrm>
            <a:off x="214313" y="4847034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81" name="Text 71"/>
          <p:cNvSpPr/>
          <p:nvPr/>
        </p:nvSpPr>
        <p:spPr>
          <a:xfrm>
            <a:off x="542590" y="4847034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82" name="Text 72"/>
          <p:cNvSpPr/>
          <p:nvPr/>
        </p:nvSpPr>
        <p:spPr>
          <a:xfrm>
            <a:off x="861938" y="4847034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83" name="Text 73"/>
          <p:cNvSpPr/>
          <p:nvPr/>
        </p:nvSpPr>
        <p:spPr>
          <a:xfrm>
            <a:off x="7852327" y="4847034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8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357188"/>
          </a:xfrm>
          <a:prstGeom prst="rect">
            <a:avLst/>
          </a:prstGeom>
        </p:spPr>
      </p:pic>
      <p:sp>
        <p:nvSpPr>
          <p:cNvPr id="85" name="Text 74"/>
          <p:cNvSpPr/>
          <p:nvPr/>
        </p:nvSpPr>
        <p:spPr>
          <a:xfrm>
            <a:off x="5662650" y="103584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h2p-svg-1791168119725-oibr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281"/>
            <a:ext cx="3840435" cy="607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197" y="1039416"/>
            <a:ext cx="4146947" cy="1664494"/>
          </a:xfrm>
          <a:prstGeom prst="roundRect">
            <a:avLst>
              <a:gd name="adj" fmla="val 457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57150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35769" y="1042988"/>
            <a:ext cx="4139803" cy="251371"/>
          </a:xfrm>
          <a:prstGeom prst="roundRect">
            <a:avLst>
              <a:gd name="adj" fmla="val 22735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35769" y="1042988"/>
            <a:ext cx="4139803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305"/>
              </a:lnSpc>
              <a:buNone/>
            </a:pPr>
            <a:r>
              <a:rPr lang="en-US" sz="1000" b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A. Data Sources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21494" y="1351508"/>
            <a:ext cx="3968353" cy="913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Official scholarship portals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Government ministry/department sources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UGC / AICTE sources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Official university/institution sources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Official scholarship guideline PDFs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672013" y="1039416"/>
            <a:ext cx="4146947" cy="1664494"/>
          </a:xfrm>
          <a:prstGeom prst="roundRect">
            <a:avLst>
              <a:gd name="adj" fmla="val 457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57150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75584" y="1042988"/>
            <a:ext cx="4139803" cy="251371"/>
          </a:xfrm>
          <a:prstGeom prst="roundRect">
            <a:avLst>
              <a:gd name="adj" fmla="val 22735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675584" y="1042988"/>
            <a:ext cx="4139803" cy="223939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>
            <a:noAutofit/>
          </a:bodyPr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1000" b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B. Structured Data — Opportunity Attributes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61309" y="1351508"/>
            <a:ext cx="3968353" cy="72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Opportunity name, Provider, Type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Education level, Course/field of study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Min percentage/CGPA, Income limits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Category, Gender (where applicable)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State/domicile, Institution type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Benefits, Application dates</a:t>
            </a:r>
            <a:endParaRPr lang="en-US" sz="825" dirty="0"/>
          </a:p>
          <a:p>
            <a:pPr marL="0" indent="0" algn="l">
              <a:lnSpc>
                <a:spcPts val="108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Required documents, Official source URL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2505670" y="2787848"/>
            <a:ext cx="4146947" cy="1664494"/>
          </a:xfrm>
          <a:prstGeom prst="roundRect">
            <a:avLst>
              <a:gd name="adj" fmla="val 457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57150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509242" y="2791420"/>
            <a:ext cx="4139803" cy="251371"/>
          </a:xfrm>
          <a:prstGeom prst="roundRect">
            <a:avLst>
              <a:gd name="adj" fmla="val 22735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509242" y="2791420"/>
            <a:ext cx="4139803" cy="223939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>
            <a:noAutofit/>
          </a:bodyPr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1000" b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C. Document Preprocessing Pipeline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77244" y="3117947"/>
            <a:ext cx="457200" cy="197275"/>
          </a:xfrm>
          <a:prstGeom prst="roundRect">
            <a:avLst>
              <a:gd name="adj" fmla="val 19313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77244" y="3128516"/>
            <a:ext cx="457200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25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PDF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55875" y="3154635"/>
            <a:ext cx="123788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3401094" y="3117947"/>
            <a:ext cx="780790" cy="197275"/>
          </a:xfrm>
          <a:prstGeom prst="roundRect">
            <a:avLst>
              <a:gd name="adj" fmla="val 19313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401094" y="3128516"/>
            <a:ext cx="780790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25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Text Extraction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03315" y="3154635"/>
            <a:ext cx="123788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348534" y="3117947"/>
            <a:ext cx="502072" cy="197275"/>
          </a:xfrm>
          <a:prstGeom prst="roundRect">
            <a:avLst>
              <a:gd name="adj" fmla="val 19313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326429" y="3128516"/>
            <a:ext cx="546283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25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Cleaning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72037" y="3154635"/>
            <a:ext cx="123788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5017256" y="3117947"/>
            <a:ext cx="539018" cy="197275"/>
          </a:xfrm>
          <a:prstGeom prst="roundRect">
            <a:avLst>
              <a:gd name="adj" fmla="val 19313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13624" y="3128516"/>
            <a:ext cx="546283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25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Chunking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77706" y="3154635"/>
            <a:ext cx="123788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5722925" y="3117947"/>
            <a:ext cx="512787" cy="197275"/>
          </a:xfrm>
          <a:prstGeom prst="roundRect">
            <a:avLst>
              <a:gd name="adj" fmla="val 19313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706177" y="3128516"/>
            <a:ext cx="546283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25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Metadata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257143" y="3154635"/>
            <a:ext cx="123788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3800475" y="3322661"/>
            <a:ext cx="618492" cy="197275"/>
          </a:xfrm>
          <a:prstGeom prst="roundRect">
            <a:avLst>
              <a:gd name="adj" fmla="val 19313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800475" y="3333229"/>
            <a:ext cx="618492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25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Embedding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440398" y="3359348"/>
            <a:ext cx="123788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4585617" y="3322661"/>
            <a:ext cx="772083" cy="197275"/>
          </a:xfrm>
          <a:prstGeom prst="roundRect">
            <a:avLst>
              <a:gd name="adj" fmla="val 19313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585617" y="3333229"/>
            <a:ext cx="772083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25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Vector Storage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126283" y="4267944"/>
            <a:ext cx="1427924" cy="15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7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•</a:t>
            </a:r>
            <a:r>
              <a:rPr lang="en-US" sz="750" dirty="0">
                <a:solidFill>
                  <a:srgbClr val="2E75B6"/>
                </a:solidFill>
                <a:ea typeface="Liberation Sans Narrow" pitchFamily="34" charset="-122"/>
                <a:cs typeface="Liberation Sans Narrow" pitchFamily="34" charset="-120"/>
              </a:rPr>
              <a:t> Chunk size: ~1000 characters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619885" y="4267944"/>
            <a:ext cx="1943435" cy="15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•</a:t>
            </a:r>
            <a:r>
              <a:rPr lang="en-US" sz="800" dirty="0">
                <a:solidFill>
                  <a:srgbClr val="2E75B6"/>
                </a:solidFill>
                <a:ea typeface="Liberation Sans Narrow" pitchFamily="34" charset="-122"/>
                <a:cs typeface="Liberation Sans Narrow" pitchFamily="34" charset="-120"/>
              </a:rPr>
              <a:t> Chunk overlap: ~200 characters</a:t>
            </a:r>
            <a:endParaRPr lang="en-US" sz="800" dirty="0"/>
          </a:p>
        </p:txBody>
      </p:sp>
      <p:sp>
        <p:nvSpPr>
          <p:cNvPr id="60" name="Text 55"/>
          <p:cNvSpPr/>
          <p:nvPr/>
        </p:nvSpPr>
        <p:spPr>
          <a:xfrm>
            <a:off x="428625" y="500063"/>
            <a:ext cx="5250656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 Preprocessing &amp; EDA</a:t>
            </a:r>
            <a:endParaRPr lang="en-US" sz="2250" dirty="0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43450"/>
            <a:ext cx="9144000" cy="400050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214313" y="4847034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63" name="Text 57"/>
          <p:cNvSpPr/>
          <p:nvPr/>
        </p:nvSpPr>
        <p:spPr>
          <a:xfrm>
            <a:off x="542590" y="4847034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64" name="Text 58"/>
          <p:cNvSpPr/>
          <p:nvPr/>
        </p:nvSpPr>
        <p:spPr>
          <a:xfrm>
            <a:off x="861938" y="4847034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65" name="Text 59"/>
          <p:cNvSpPr/>
          <p:nvPr/>
        </p:nvSpPr>
        <p:spPr>
          <a:xfrm>
            <a:off x="7852327" y="4847034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6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357188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5662650" y="103584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81688" y="1538922"/>
            <a:ext cx="0" cy="128476"/>
          </a:xfrm>
          <a:prstGeom prst="line">
            <a:avLst/>
          </a:prstGeom>
          <a:noFill/>
          <a:ln w="14288">
            <a:solidFill>
              <a:srgbClr val="D6E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81688" y="1883943"/>
            <a:ext cx="0" cy="128476"/>
          </a:xfrm>
          <a:prstGeom prst="line">
            <a:avLst/>
          </a:prstGeom>
          <a:noFill/>
          <a:ln w="14288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81688" y="2228963"/>
            <a:ext cx="0" cy="256952"/>
          </a:xfrm>
          <a:prstGeom prst="line">
            <a:avLst/>
          </a:prstGeom>
          <a:noFill/>
          <a:ln w="14288">
            <a:solidFill>
              <a:srgbClr val="D6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81688" y="2702460"/>
            <a:ext cx="0" cy="128476"/>
          </a:xfrm>
          <a:prstGeom prst="line">
            <a:avLst/>
          </a:prstGeom>
          <a:noFill/>
          <a:ln w="14288">
            <a:solidFill>
              <a:srgbClr val="D6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1688" y="3047481"/>
            <a:ext cx="0" cy="128476"/>
          </a:xfrm>
          <a:prstGeom prst="line">
            <a:avLst/>
          </a:prstGeom>
          <a:noFill/>
          <a:ln w="14288">
            <a:solidFill>
              <a:srgbClr val="D6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1688" y="3392502"/>
            <a:ext cx="0" cy="128476"/>
          </a:xfrm>
          <a:prstGeom prst="line">
            <a:avLst/>
          </a:prstGeom>
          <a:noFill/>
          <a:ln w="14288">
            <a:solidFill>
              <a:srgbClr val="D6E8F5"/>
            </a:solidFill>
            <a:prstDash val="solid"/>
          </a:ln>
        </p:spPr>
      </p:sp>
      <p:pic>
        <p:nvPicPr>
          <p:cNvPr id="8" name="Image 0" descr="/tmp/h2p-svg-1791168119722-1aorq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3315"/>
            <a:ext cx="3840435" cy="607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2197" y="1046450"/>
            <a:ext cx="2733601" cy="3421856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57150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35769" y="1050022"/>
            <a:ext cx="2726457" cy="265212"/>
          </a:xfrm>
          <a:prstGeom prst="roundRect">
            <a:avLst>
              <a:gd name="adj" fmla="val 21549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35769" y="1050022"/>
            <a:ext cx="2726457" cy="2377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414"/>
              </a:lnSpc>
              <a:buNone/>
            </a:pPr>
            <a:r>
              <a:rPr lang="en-US" sz="975" b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A. Core Approaches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21494" y="1386671"/>
            <a:ext cx="2555007" cy="2051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2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Retrieval-Augmented Generation (RAG)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Retrieve evidence before generation; grounded answers using retrieved context.</a:t>
            </a:r>
            <a:endParaRPr lang="en-US" sz="900" dirty="0"/>
          </a:p>
          <a:p>
            <a:pPr marL="342900" indent="-342900" algn="l">
              <a:lnSpc>
                <a:spcPts val="1122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Hybrid Retrieval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Semantic vector search + BM25 keyword search + metadata filtering + Reciprocal Rank Fusion.</a:t>
            </a:r>
            <a:endParaRPr lang="en-US" sz="900" dirty="0"/>
          </a:p>
          <a:p>
            <a:pPr marL="342900" indent="-342900" algn="l">
              <a:lnSpc>
                <a:spcPts val="1122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Deterministic Eligibility Engine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Rule-based evaluation; condition-level PASS/FAIL/UNKNOWN reasoning; final eligibility status.</a:t>
            </a:r>
            <a:endParaRPr lang="en-US" sz="900" dirty="0"/>
          </a:p>
          <a:p>
            <a:pPr marL="342900" indent="-342900" algn="l">
              <a:lnSpc>
                <a:spcPts val="1122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Opportunity Recommendation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Deterministic scoring; eligibility-aware filtering; deadline and profile-fit ranking.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58666" y="1046450"/>
            <a:ext cx="2733712" cy="3421856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57150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62238" y="1050022"/>
            <a:ext cx="2726568" cy="265212"/>
          </a:xfrm>
          <a:prstGeom prst="roundRect">
            <a:avLst>
              <a:gd name="adj" fmla="val 21549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62238" y="1050022"/>
            <a:ext cx="2726568" cy="2377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414"/>
              </a:lnSpc>
              <a:buNone/>
            </a:pPr>
            <a:r>
              <a:rPr lang="en-US" sz="975" b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B. Models / Algorithms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347963" y="1386671"/>
            <a:ext cx="2555118" cy="1659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2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BGE-small-en-v1.5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Local embedding model, 384-dim embeddings</a:t>
            </a:r>
            <a:endParaRPr lang="en-US" sz="900" dirty="0"/>
          </a:p>
          <a:p>
            <a:pPr marL="0" indent="0" algn="l">
              <a:lnSpc>
                <a:spcPts val="1122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BM25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Keyword retrieval algorithm</a:t>
            </a:r>
            <a:endParaRPr lang="en-US" sz="900" dirty="0"/>
          </a:p>
          <a:p>
            <a:pPr marL="0" indent="0" algn="l">
              <a:lnSpc>
                <a:spcPts val="1122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Reciprocal Rank Fusion (RRF)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Combines semantic + keyword rankings</a:t>
            </a:r>
            <a:endParaRPr lang="en-US" sz="900" dirty="0"/>
          </a:p>
          <a:p>
            <a:pPr marL="0" indent="0" algn="l">
              <a:lnSpc>
                <a:spcPts val="1122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Rule-based Eligibility Engine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Academic + Financial + Demographic rules</a:t>
            </a:r>
            <a:endParaRPr lang="en-US" sz="900" dirty="0"/>
          </a:p>
          <a:p>
            <a:pPr marL="0" indent="0" algn="l">
              <a:lnSpc>
                <a:spcPts val="1122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Ollama + Local LLM</a:t>
            </a: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 — Local generation for grounded RAG responses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85247" y="1046450"/>
            <a:ext cx="2733601" cy="3421856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57150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088819" y="1050022"/>
            <a:ext cx="2726457" cy="265212"/>
          </a:xfrm>
          <a:prstGeom prst="roundRect">
            <a:avLst>
              <a:gd name="adj" fmla="val 21549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088819" y="1050022"/>
            <a:ext cx="2726457" cy="2377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414"/>
              </a:lnSpc>
              <a:buNone/>
            </a:pPr>
            <a:r>
              <a:rPr lang="en-US" sz="975" b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C. Technology Stack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6174544" y="1386671"/>
            <a:ext cx="2640732" cy="12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kern="0" spc="34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BACKEND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74544" y="1538922"/>
            <a:ext cx="2555007" cy="148005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Python, FastAPI, SQLAlchemy, Pydantic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74544" y="1731692"/>
            <a:ext cx="2640732" cy="12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kern="0" spc="34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DATABASE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74544" y="1883943"/>
            <a:ext cx="2555007" cy="148005"/>
          </a:xfrm>
          <a:prstGeom prst="rect">
            <a:avLst/>
          </a:prstGeom>
          <a:noFill/>
          <a:ln/>
        </p:spPr>
        <p:txBody>
          <a:bodyPr wrap="none" lIns="42863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PostgreSQL, pgvector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74544" y="2076712"/>
            <a:ext cx="2640732" cy="12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kern="0" spc="34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RAG / NLP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74544" y="2228963"/>
            <a:ext cx="2555007" cy="296009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LangChain, Hugging Face, BGE-small-en-v1.5, BM25, Ollama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74544" y="2550209"/>
            <a:ext cx="2640732" cy="12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kern="0" spc="34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DOC PROCESSING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74544" y="2702460"/>
            <a:ext cx="2555007" cy="148005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PyMuPDF / PDF loader, Text cleaning, Chunking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74544" y="2895230"/>
            <a:ext cx="2640732" cy="12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kern="0" spc="34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DEVOPS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74544" y="3047481"/>
            <a:ext cx="2555007" cy="148005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Docker, Git/GitHub, Pytest, Postman/Swagger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74544" y="3240251"/>
            <a:ext cx="2640732" cy="12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900" b="1" kern="0" spc="34" dirty="0">
                <a:solidFill>
                  <a:srgbClr val="3EA6AA"/>
                </a:solidFill>
                <a:ea typeface="Carlito" pitchFamily="34" charset="-122"/>
                <a:cs typeface="Carlito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74544" y="3392502"/>
            <a:ext cx="2555007" cy="148005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dirty="0">
                <a:solidFill>
                  <a:srgbClr val="2E75B6"/>
                </a:solidFill>
                <a:ea typeface="Carlito" pitchFamily="34" charset="-122"/>
                <a:cs typeface="Carlito" pitchFamily="34" charset="-120"/>
              </a:rPr>
              <a:t>Web-based student dashboard (planned/integration stage)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28625" y="507097"/>
            <a:ext cx="5500688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Approach / Algorithms / Tools</a:t>
            </a:r>
            <a:endParaRPr lang="en-US" sz="22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50484"/>
            <a:ext cx="9144000" cy="4000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14313" y="4854068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35" name="Text 31"/>
          <p:cNvSpPr/>
          <p:nvPr/>
        </p:nvSpPr>
        <p:spPr>
          <a:xfrm>
            <a:off x="542590" y="4854068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36" name="Text 32"/>
          <p:cNvSpPr/>
          <p:nvPr/>
        </p:nvSpPr>
        <p:spPr>
          <a:xfrm>
            <a:off x="861938" y="4854068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37" name="Text 33"/>
          <p:cNvSpPr/>
          <p:nvPr/>
        </p:nvSpPr>
        <p:spPr>
          <a:xfrm>
            <a:off x="7852327" y="4854068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034"/>
            <a:ext cx="9144000" cy="3571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662650" y="110618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svg-1791168119747-qlrj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281"/>
            <a:ext cx="3840435" cy="607219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099789"/>
              </p:ext>
            </p:extLst>
          </p:nvPr>
        </p:nvGraphicFramePr>
        <p:xfrm>
          <a:off x="428625" y="1035844"/>
          <a:ext cx="8393906" cy="2924178"/>
        </p:xfrm>
        <a:graphic>
          <a:graphicData uri="http://schemas.openxmlformats.org/drawingml/2006/table">
            <a:tbl>
              <a:tblPr/>
              <a:tblGrid>
                <a:gridCol w="167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9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Phase</a:t>
                      </a:r>
                      <a:endParaRPr lang="en-US" sz="825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Status</a:t>
                      </a:r>
                      <a:endParaRPr lang="en-US" sz="825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Key Deliverables</a:t>
                      </a:r>
                      <a:endParaRPr lang="en-US" sz="825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1. Project Foundation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Project structure, environment setup, configuration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2. Database &amp; Core Models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PostgreSQL + pgvector, SQLAlchemy models, Alembic migrations, student/opportunity/document entities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3. Opportunity Management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Opportunity CRUD APIs, opportunity seed data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4. Document Ingestion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PDF upload, text extraction, cleaning, chunking, document metadata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5. Semantic Retrieval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Local BGE embedding integration, pgvector semantic search, existing chunks require embedding population/validation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6. Hybrid Retrieval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BM25 keyword search, semantic + keyword retrieval, RRF ranking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7. Student Profile Management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Student CRUD, structured student profiles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8. Eligibility Engine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Academic/financial/demographic rules, eligibility status classification, eligibility logs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9. Recommendation Engine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Eligibility-aware filtering, opportunity scoring, ranking, top-K recommendations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10. RAG &amp; Source Attribution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RAG engine, retrieved-context prompting, source attribution, local LLM integration, end-to-end runtime validation pending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11. Student Dashboard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IN PROGRESS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E75B6"/>
                          </a:solidFill>
                          <a:latin typeface="+mn-lt"/>
                          <a:ea typeface="Carlito" pitchFamily="34" charset="-122"/>
                          <a:cs typeface="Carlito" pitchFamily="34" charset="-120"/>
                        </a:rPr>
                        <a:t>Student-facing interface, search, recommendations, eligibility explanations, source display</a:t>
                      </a:r>
                      <a:endParaRPr lang="en-US" sz="800" dirty="0">
                        <a:latin typeface="+mn-lt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428625" y="500063"/>
            <a:ext cx="5500688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Plan / Milestones Progress</a:t>
            </a:r>
            <a:endParaRPr lang="en-US" sz="2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43450"/>
            <a:ext cx="9144000" cy="4000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14313" y="4847034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7" name="Text 2"/>
          <p:cNvSpPr/>
          <p:nvPr/>
        </p:nvSpPr>
        <p:spPr>
          <a:xfrm>
            <a:off x="542590" y="4847034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8" name="Text 3"/>
          <p:cNvSpPr/>
          <p:nvPr/>
        </p:nvSpPr>
        <p:spPr>
          <a:xfrm>
            <a:off x="861938" y="4847034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3" name="Text 4"/>
          <p:cNvSpPr/>
          <p:nvPr/>
        </p:nvSpPr>
        <p:spPr>
          <a:xfrm>
            <a:off x="7852327" y="4847034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3571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62650" y="103584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11688" y="2625998"/>
            <a:ext cx="0" cy="1838846"/>
          </a:xfrm>
          <a:prstGeom prst="line">
            <a:avLst/>
          </a:prstGeom>
          <a:noFill/>
          <a:ln w="42863">
            <a:solidFill>
              <a:srgbClr val="70AD47"/>
            </a:solidFill>
            <a:prstDash val="solid"/>
          </a:ln>
        </p:spPr>
      </p:sp>
      <p:pic>
        <p:nvPicPr>
          <p:cNvPr id="3" name="Image 0" descr="/tmp/h2p-svg-1791168120351-taeut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281"/>
            <a:ext cx="3840435" cy="607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2826" y="1053703"/>
            <a:ext cx="1993106" cy="128029"/>
          </a:xfrm>
          <a:prstGeom prst="roundRect">
            <a:avLst>
              <a:gd name="adj" fmla="val 37199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709254" y="1050131"/>
            <a:ext cx="2000250" cy="107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Official Sources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677567" y="118530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254" y="1249598"/>
            <a:ext cx="2000250" cy="1208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09254" y="1249598"/>
            <a:ext cx="2000250" cy="934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Document Ingestion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677567" y="137048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712826" y="1438349"/>
            <a:ext cx="1993106" cy="128029"/>
          </a:xfrm>
          <a:prstGeom prst="roundRect">
            <a:avLst>
              <a:gd name="adj" fmla="val 37199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709254" y="1434778"/>
            <a:ext cx="2000250" cy="107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Text Cleaning &amp; Chunking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677567" y="15699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2139716" y="1695279"/>
            <a:ext cx="1214438" cy="208368"/>
          </a:xfrm>
          <a:prstGeom prst="rect">
            <a:avLst/>
          </a:prstGeom>
          <a:noFill/>
          <a:ln/>
        </p:spPr>
        <p:txBody>
          <a:bodyPr wrap="none" lIns="42863" tIns="14288" rIns="42863" bIns="14288" rtlCol="0" anchor="t"/>
          <a:lstStyle/>
          <a:p>
            <a:pPr marL="0" indent="0" algn="ctr">
              <a:lnSpc>
                <a:spcPts val="819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Structured Data → PostgreSQL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451" y="1808073"/>
            <a:ext cx="2423741" cy="2729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7451" y="1661391"/>
            <a:ext cx="2428338" cy="443182"/>
          </a:xfrm>
          <a:prstGeom prst="roundRect">
            <a:avLst>
              <a:gd name="adj" fmla="val 13693"/>
            </a:avLst>
          </a:prstGeom>
          <a:noFill/>
          <a:ln w="7144">
            <a:solidFill>
              <a:srgbClr val="3EA6A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2259433" y="1894496"/>
            <a:ext cx="1214438" cy="430429"/>
          </a:xfrm>
          <a:prstGeom prst="rect">
            <a:avLst/>
          </a:prstGeom>
          <a:noFill/>
          <a:ln/>
        </p:spPr>
        <p:txBody>
          <a:bodyPr wrap="none" lIns="42863" tIns="14288" rIns="42863" bIns="14288" rtlCol="0" anchor="t"/>
          <a:lstStyle/>
          <a:p>
            <a:pPr marL="0" indent="0" algn="ctr">
              <a:lnSpc>
                <a:spcPts val="819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Document Chunks → BGE Embeddings → pgvector Store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2655495" y="209461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1090" y="2180276"/>
            <a:ext cx="2000250" cy="12088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701090" y="2180276"/>
            <a:ext cx="2000250" cy="934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Profile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2669403" y="230116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1704662" y="2411128"/>
            <a:ext cx="1993106" cy="128029"/>
          </a:xfrm>
          <a:prstGeom prst="roundRect">
            <a:avLst>
              <a:gd name="adj" fmla="val 37199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1701090" y="2407556"/>
            <a:ext cx="2000250" cy="107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Eligibility Engine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2669403" y="254272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090" y="2607023"/>
            <a:ext cx="2000250" cy="12088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701090" y="2607023"/>
            <a:ext cx="2000250" cy="934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Candidate Filtering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2669403" y="272790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712826" y="2832687"/>
            <a:ext cx="1993106" cy="128029"/>
          </a:xfrm>
          <a:prstGeom prst="roundRect">
            <a:avLst>
              <a:gd name="adj" fmla="val 37199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1709254" y="2829115"/>
            <a:ext cx="2000250" cy="107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Hybrid Retrieval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2677567" y="296428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254" y="3028582"/>
            <a:ext cx="2000250" cy="12088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709254" y="3028582"/>
            <a:ext cx="2000250" cy="934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RRF Ranking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2677567" y="314946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1734048" y="3250777"/>
            <a:ext cx="1993106" cy="128029"/>
          </a:xfrm>
          <a:prstGeom prst="roundRect">
            <a:avLst>
              <a:gd name="adj" fmla="val 37199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1730476" y="3247205"/>
            <a:ext cx="2000250" cy="107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Retrieved Context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2669403" y="33625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0476" y="3446672"/>
            <a:ext cx="2000250" cy="12088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730476" y="3446672"/>
            <a:ext cx="2000250" cy="934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Local LLM / Ollama</a:t>
            </a:r>
            <a:endParaRPr lang="en-US" sz="800" dirty="0"/>
          </a:p>
        </p:txBody>
      </p:sp>
      <p:sp>
        <p:nvSpPr>
          <p:cNvPr id="40" name="Text 30"/>
          <p:cNvSpPr/>
          <p:nvPr/>
        </p:nvSpPr>
        <p:spPr>
          <a:xfrm>
            <a:off x="2669403" y="356617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41" name="Text 31"/>
          <p:cNvSpPr/>
          <p:nvPr/>
        </p:nvSpPr>
        <p:spPr>
          <a:xfrm>
            <a:off x="1718186" y="3669720"/>
            <a:ext cx="1993106" cy="128029"/>
          </a:xfrm>
          <a:prstGeom prst="roundRect">
            <a:avLst>
              <a:gd name="adj" fmla="val 37199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1714614" y="3666149"/>
            <a:ext cx="2000250" cy="107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Grounded RAG Response</a:t>
            </a: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2673785" y="381446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474" y="3907693"/>
            <a:ext cx="2000250" cy="12088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915474" y="3907693"/>
            <a:ext cx="2000250" cy="93454"/>
          </a:xfrm>
          <a:prstGeom prst="rect">
            <a:avLst/>
          </a:prstGeom>
          <a:noFill/>
          <a:ln/>
        </p:spPr>
        <p:txBody>
          <a:bodyPr wrap="square" lIns="57150" tIns="7144" rIns="57150" bIns="7144" rtlCol="0" anchor="t">
            <a:no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Recommendations + Reasoning</a:t>
            </a:r>
            <a:endParaRPr lang="en-US" sz="800" dirty="0"/>
          </a:p>
        </p:txBody>
      </p:sp>
      <p:sp>
        <p:nvSpPr>
          <p:cNvPr id="46" name="Text 35"/>
          <p:cNvSpPr/>
          <p:nvPr/>
        </p:nvSpPr>
        <p:spPr>
          <a:xfrm>
            <a:off x="2677567" y="40369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sp>
        <p:nvSpPr>
          <p:cNvPr id="47" name="Text 36"/>
          <p:cNvSpPr/>
          <p:nvPr/>
        </p:nvSpPr>
        <p:spPr>
          <a:xfrm>
            <a:off x="1712826" y="4133032"/>
            <a:ext cx="1993106" cy="128029"/>
          </a:xfrm>
          <a:prstGeom prst="roundRect">
            <a:avLst>
              <a:gd name="adj" fmla="val 37199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  <a:effectLst>
            <a:outerShdw blurRad="38100" dist="1905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8" name="Text 37"/>
          <p:cNvSpPr/>
          <p:nvPr/>
        </p:nvSpPr>
        <p:spPr>
          <a:xfrm>
            <a:off x="1709254" y="4129460"/>
            <a:ext cx="2000250" cy="107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Source Attribution</a:t>
            </a:r>
            <a:endParaRPr lang="en-US" sz="800" dirty="0"/>
          </a:p>
        </p:txBody>
      </p:sp>
      <p:sp>
        <p:nvSpPr>
          <p:cNvPr id="49" name="Text 38"/>
          <p:cNvSpPr/>
          <p:nvPr/>
        </p:nvSpPr>
        <p:spPr>
          <a:xfrm>
            <a:off x="2680804" y="424998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8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826" y="4336535"/>
            <a:ext cx="2000250" cy="120886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1712826" y="4336535"/>
            <a:ext cx="2000250" cy="120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Student Dashboard</a:t>
            </a:r>
            <a:endParaRPr lang="en-US" sz="800" dirty="0"/>
          </a:p>
        </p:txBody>
      </p:sp>
      <p:sp>
        <p:nvSpPr>
          <p:cNvPr id="52" name="Text 40"/>
          <p:cNvSpPr/>
          <p:nvPr/>
        </p:nvSpPr>
        <p:spPr>
          <a:xfrm>
            <a:off x="5093829" y="1039416"/>
            <a:ext cx="3725131" cy="1497285"/>
          </a:xfrm>
          <a:prstGeom prst="roundRect">
            <a:avLst>
              <a:gd name="adj" fmla="val 5089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57150" dist="19050" dir="5400000" algn="bl" rotWithShape="0">
              <a:srgbClr val="1F4E79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1"/>
          <p:cNvSpPr/>
          <p:nvPr/>
        </p:nvSpPr>
        <p:spPr>
          <a:xfrm>
            <a:off x="5097400" y="1042988"/>
            <a:ext cx="3717987" cy="251371"/>
          </a:xfrm>
          <a:prstGeom prst="roundRect">
            <a:avLst>
              <a:gd name="adj" fmla="val 22735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2"/>
          <p:cNvSpPr/>
          <p:nvPr/>
        </p:nvSpPr>
        <p:spPr>
          <a:xfrm>
            <a:off x="5097400" y="1042988"/>
            <a:ext cx="3717987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305"/>
              </a:lnSpc>
              <a:buNone/>
            </a:pPr>
            <a:r>
              <a:rPr lang="en-US" sz="900" b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Hybrid Retrieval Detail</a:t>
            </a:r>
            <a:endParaRPr lang="en-US" sz="9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0583" y="1692399"/>
            <a:ext cx="924558" cy="199913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5380583" y="1680404"/>
            <a:ext cx="924558" cy="223903"/>
          </a:xfrm>
          <a:prstGeom prst="roundRect">
            <a:avLst>
              <a:gd name="adj" fmla="val 21270"/>
            </a:avLst>
          </a:prstGeom>
          <a:noFill/>
          <a:ln w="7144">
            <a:solidFill>
              <a:srgbClr val="3EA6A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4"/>
          <p:cNvSpPr/>
          <p:nvPr/>
        </p:nvSpPr>
        <p:spPr>
          <a:xfrm>
            <a:off x="5380583" y="1692399"/>
            <a:ext cx="924558" cy="199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Semantic Search</a:t>
            </a:r>
            <a:endParaRPr lang="en-US" sz="800" dirty="0"/>
          </a:p>
        </p:txBody>
      </p:sp>
      <p:sp>
        <p:nvSpPr>
          <p:cNvPr id="58" name="Text 45"/>
          <p:cNvSpPr/>
          <p:nvPr/>
        </p:nvSpPr>
        <p:spPr>
          <a:xfrm>
            <a:off x="6351575" y="1716174"/>
            <a:ext cx="150019" cy="152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20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028" y="1820875"/>
            <a:ext cx="769181" cy="214201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6548028" y="1808073"/>
            <a:ext cx="769181" cy="239804"/>
          </a:xfrm>
          <a:prstGeom prst="roundRect">
            <a:avLst>
              <a:gd name="adj" fmla="val 19860"/>
            </a:avLst>
          </a:prstGeom>
          <a:noFill/>
          <a:ln w="14288">
            <a:solidFill>
              <a:srgbClr val="70AD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7"/>
          <p:cNvSpPr/>
          <p:nvPr/>
        </p:nvSpPr>
        <p:spPr>
          <a:xfrm>
            <a:off x="6548028" y="1820875"/>
            <a:ext cx="769181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RRF Ranking</a:t>
            </a:r>
            <a:endParaRPr lang="en-US" sz="800" dirty="0"/>
          </a:p>
        </p:txBody>
      </p:sp>
      <p:sp>
        <p:nvSpPr>
          <p:cNvPr id="62" name="Text 48"/>
          <p:cNvSpPr/>
          <p:nvPr/>
        </p:nvSpPr>
        <p:spPr>
          <a:xfrm>
            <a:off x="7352928" y="18423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0AD47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63" name="Text 49"/>
          <p:cNvSpPr/>
          <p:nvPr/>
        </p:nvSpPr>
        <p:spPr>
          <a:xfrm>
            <a:off x="7560097" y="1816024"/>
            <a:ext cx="971996" cy="223903"/>
          </a:xfrm>
          <a:prstGeom prst="roundRect">
            <a:avLst>
              <a:gd name="adj" fmla="val 21270"/>
            </a:avLst>
          </a:prstGeom>
          <a:solidFill>
            <a:srgbClr val="FFFFFF"/>
          </a:solidFill>
          <a:ln w="7144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0"/>
          <p:cNvSpPr/>
          <p:nvPr/>
        </p:nvSpPr>
        <p:spPr>
          <a:xfrm>
            <a:off x="7560097" y="1828019"/>
            <a:ext cx="971996" cy="199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Retrieved Context</a:t>
            </a:r>
            <a:endParaRPr lang="en-US" sz="800" dirty="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5192" y="1963750"/>
            <a:ext cx="755228" cy="199913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5442332" y="1951755"/>
            <a:ext cx="800948" cy="223903"/>
          </a:xfrm>
          <a:prstGeom prst="roundRect">
            <a:avLst>
              <a:gd name="adj" fmla="val 21270"/>
            </a:avLst>
          </a:prstGeom>
          <a:noFill/>
          <a:ln w="7144">
            <a:solidFill>
              <a:srgbClr val="3EA6A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2"/>
          <p:cNvSpPr/>
          <p:nvPr/>
        </p:nvSpPr>
        <p:spPr>
          <a:xfrm>
            <a:off x="5465192" y="1963750"/>
            <a:ext cx="755228" cy="199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BM25 Search</a:t>
            </a:r>
            <a:endParaRPr lang="en-US" sz="800" dirty="0"/>
          </a:p>
        </p:txBody>
      </p:sp>
      <p:sp>
        <p:nvSpPr>
          <p:cNvPr id="68" name="Text 53"/>
          <p:cNvSpPr/>
          <p:nvPr/>
        </p:nvSpPr>
        <p:spPr>
          <a:xfrm>
            <a:off x="6351575" y="1987525"/>
            <a:ext cx="150019" cy="152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A6AA"/>
                </a:solidFill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69" name="Text 54"/>
          <p:cNvSpPr/>
          <p:nvPr/>
        </p:nvSpPr>
        <p:spPr>
          <a:xfrm>
            <a:off x="5090257" y="2625998"/>
            <a:ext cx="3732275" cy="1838846"/>
          </a:xfrm>
          <a:prstGeom prst="roundRect">
            <a:avLst>
              <a:gd name="adj" fmla="val 3108"/>
            </a:avLst>
          </a:prstGeom>
          <a:solidFill>
            <a:srgbClr val="E8F5E9"/>
          </a:solidFill>
          <a:ln/>
          <a:effectLst>
            <a:outerShdw blurRad="95250" dist="28575" dir="5400000" algn="bl" rotWithShape="0">
              <a:srgbClr val="70AD47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5"/>
          <p:cNvSpPr/>
          <p:nvPr/>
        </p:nvSpPr>
        <p:spPr>
          <a:xfrm>
            <a:off x="5504594" y="3105969"/>
            <a:ext cx="1378762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b="1" kern="0" spc="3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KEY PRINCIPLE</a:t>
            </a:r>
            <a:endParaRPr lang="en-US" sz="1050" dirty="0"/>
          </a:p>
        </p:txBody>
      </p:sp>
      <p:sp>
        <p:nvSpPr>
          <p:cNvPr id="71" name="Text 56"/>
          <p:cNvSpPr/>
          <p:nvPr/>
        </p:nvSpPr>
        <p:spPr>
          <a:xfrm>
            <a:off x="5290282" y="310262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70AD47"/>
                </a:solidFill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72" name="Text 57"/>
          <p:cNvSpPr/>
          <p:nvPr/>
        </p:nvSpPr>
        <p:spPr>
          <a:xfrm>
            <a:off x="5290282" y="3363590"/>
            <a:ext cx="400050" cy="14288"/>
          </a:xfrm>
          <a:prstGeom prst="roundRect">
            <a:avLst>
              <a:gd name="adj" fmla="val 133329"/>
            </a:avLst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58"/>
          <p:cNvSpPr/>
          <p:nvPr/>
        </p:nvSpPr>
        <p:spPr>
          <a:xfrm>
            <a:off x="5290282" y="3449315"/>
            <a:ext cx="3375087" cy="60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E7D32"/>
                </a:solidFill>
                <a:ea typeface="Carlito" pitchFamily="34" charset="-122"/>
                <a:cs typeface="Carlito" pitchFamily="34" charset="-120"/>
              </a:rPr>
              <a:t>Deterministic rules</a:t>
            </a: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 decide structured eligibility;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E7D32"/>
                </a:solidFill>
                <a:ea typeface="Carlito" pitchFamily="34" charset="-122"/>
                <a:cs typeface="Carlito" pitchFamily="34" charset="-120"/>
              </a:rPr>
              <a:t>RAG</a:t>
            </a: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 explains information using retrieved official evidence.</a:t>
            </a:r>
            <a:endParaRPr lang="en-US" sz="975" dirty="0"/>
          </a:p>
        </p:txBody>
      </p:sp>
      <p:sp>
        <p:nvSpPr>
          <p:cNvPr id="74" name="Text 59"/>
          <p:cNvSpPr/>
          <p:nvPr/>
        </p:nvSpPr>
        <p:spPr>
          <a:xfrm>
            <a:off x="428625" y="500063"/>
            <a:ext cx="5250656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Pipeline Structure</a:t>
            </a:r>
            <a:endParaRPr lang="en-US" sz="2250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743450"/>
            <a:ext cx="9144000" cy="400050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214313" y="4847034"/>
            <a:ext cx="7772400" cy="200597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L&amp;T</a:t>
            </a:r>
            <a:endParaRPr lang="en-US" sz="1275" dirty="0"/>
          </a:p>
        </p:txBody>
      </p:sp>
      <p:sp>
        <p:nvSpPr>
          <p:cNvPr id="77" name="Text 61"/>
          <p:cNvSpPr/>
          <p:nvPr/>
        </p:nvSpPr>
        <p:spPr>
          <a:xfrm>
            <a:off x="542590" y="4847034"/>
            <a:ext cx="493283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Edu</a:t>
            </a:r>
            <a:endParaRPr lang="en-US" sz="1275" dirty="0"/>
          </a:p>
        </p:txBody>
      </p:sp>
      <p:sp>
        <p:nvSpPr>
          <p:cNvPr id="78" name="Text 62"/>
          <p:cNvSpPr/>
          <p:nvPr/>
        </p:nvSpPr>
        <p:spPr>
          <a:xfrm>
            <a:off x="861938" y="4847034"/>
            <a:ext cx="591516" cy="208312"/>
          </a:xfrm>
          <a:prstGeom prst="rect">
            <a:avLst/>
          </a:prstGeom>
          <a:noFill/>
          <a:ln/>
          <a:effectLst>
            <a:outerShdw blurRad="28575" dist="9525" dir="5400000" algn="b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66"/>
                </a:solidFill>
                <a:ea typeface="Carlito" pitchFamily="34" charset="-122"/>
                <a:cs typeface="Carlito" pitchFamily="34" charset="-120"/>
              </a:rPr>
              <a:t>Tech</a:t>
            </a:r>
            <a:endParaRPr lang="en-US" sz="1275" dirty="0"/>
          </a:p>
        </p:txBody>
      </p:sp>
      <p:sp>
        <p:nvSpPr>
          <p:cNvPr id="79" name="Text 63"/>
          <p:cNvSpPr/>
          <p:nvPr/>
        </p:nvSpPr>
        <p:spPr>
          <a:xfrm>
            <a:off x="7852327" y="4847034"/>
            <a:ext cx="1226033" cy="208312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1275" dirty="0"/>
          </a:p>
        </p:txBody>
      </p:sp>
      <p:pic>
        <p:nvPicPr>
          <p:cNvPr id="80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357188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5662650" y="103584"/>
            <a:ext cx="3281325" cy="162020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RAG-Based Scholarship Eligibility Intelligence System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23452" y="22303"/>
            <a:ext cx="9190904" cy="5151292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685783">
              <a:defRPr/>
            </a:pPr>
            <a:endParaRPr lang="en-US" sz="1350" dirty="0">
              <a:solidFill>
                <a:prstClr val="white"/>
              </a:solidFill>
              <a:latin typeface="Frutiger LT Pro 45 Light" panose="020B0403030504020204" pitchFamily="34" charset="0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7227" y="13279"/>
            <a:ext cx="5182591" cy="793594"/>
          </a:xfrm>
        </p:spPr>
        <p:txBody>
          <a:bodyPr/>
          <a:lstStyle/>
          <a:p>
            <a:pPr marL="0" indent="0" algn="ctr">
              <a:buNone/>
            </a:pPr>
            <a:r>
              <a:rPr lang="en-US" sz="33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233013" y="840230"/>
            <a:ext cx="43996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2996418" y="922516"/>
            <a:ext cx="2738654" cy="2400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800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900" dirty="0">
                <a:solidFill>
                  <a:srgbClr val="595959"/>
                </a:solidFill>
                <a:latin typeface="Frutiger 45 bold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35177" y="1244867"/>
            <a:ext cx="8571138" cy="403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algn="ctr">
              <a:defRPr/>
            </a:pPr>
            <a:r>
              <a:rPr lang="en-US" sz="2700" b="1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r>
              <a:rPr lang="en-IN" sz="2700" b="1" dirty="0">
                <a:solidFill>
                  <a:schemeClr val="bg1"/>
                </a:solidFill>
              </a:rPr>
              <a:t> 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Aniket Patil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T10007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35468" y="4125933"/>
          <a:ext cx="9179412" cy="2494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9706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4589706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145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99" y="4389501"/>
            <a:ext cx="1490601" cy="635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A6B6C-F49C-F24B-B055-7E1142D72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" y="4500915"/>
            <a:ext cx="2069319" cy="55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41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4313" y="1035844"/>
            <a:ext cx="5012010" cy="207169"/>
          </a:xfrm>
          <a:prstGeom prst="roundRect">
            <a:avLst>
              <a:gd name="adj" fmla="val 9195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501201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Project Context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14313" y="1328738"/>
            <a:ext cx="5012010" cy="1272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Industrial equipment such as rotating machinery and bearings can gradually degrade before complete failure. Conventional monitoring approaches may rely on manual inspection or isolated threshold-based alerts, making early fault identification and maintenance planning difficult. This project develops an Agentic AI-based equipment health monitoring system using vibration data from the IMS Bearing Dataset to address these limitations end-to-end.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14313" y="2628900"/>
            <a:ext cx="5012010" cy="207169"/>
          </a:xfrm>
          <a:prstGeom prst="roundRect">
            <a:avLst>
              <a:gd name="adj" fmla="val 9195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14313" y="2628900"/>
            <a:ext cx="501201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Key Capabilities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214313" y="2921794"/>
            <a:ext cx="2405993" cy="116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Continuous vibration-based condition monitoring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Statistical and frequency-domain feature extraction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Random Forest fault diagnosis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Isolation Forest anomaly detection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820330" y="2921794"/>
            <a:ext cx="2405993" cy="1004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Explainable 0–100 health score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Agent-based analysis orchestration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RAG-based maintenance knowledge retrieval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Streamlit dashboard and FastAPI REST API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44207" y="1035844"/>
            <a:ext cx="0" cy="3750469"/>
          </a:xfrm>
          <a:prstGeom prst="line">
            <a:avLst/>
          </a:prstGeom>
          <a:noFill/>
          <a:ln w="7144">
            <a:solidFill>
              <a:srgbClr val="E0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33517" y="1035844"/>
            <a:ext cx="1690576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8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CONCEPTUAL PIPELINE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22824" y="1244498"/>
            <a:ext cx="1688783" cy="32564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45684" y="1257300"/>
            <a:ext cx="1643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3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RAW VIBRATION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60072" y="1585913"/>
            <a:ext cx="14288" cy="1285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522824" y="1730273"/>
            <a:ext cx="1688783" cy="32564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45684" y="1743075"/>
            <a:ext cx="1643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3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FEATURE EXTRACTION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60072" y="2071688"/>
            <a:ext cx="14288" cy="1285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22824" y="2216048"/>
            <a:ext cx="1688783" cy="32564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545684" y="2228850"/>
            <a:ext cx="1643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3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ML ANALYSIS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60072" y="2557463"/>
            <a:ext cx="14288" cy="1285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522824" y="2701823"/>
            <a:ext cx="1688783" cy="32564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545684" y="2714625"/>
            <a:ext cx="1643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3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HEALTH ASSESSMENT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60072" y="3043238"/>
            <a:ext cx="14288" cy="1285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22824" y="3187598"/>
            <a:ext cx="1688783" cy="32564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545684" y="3200400"/>
            <a:ext cx="1643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3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DECISION SUPPORT</a:t>
            </a:r>
            <a:endParaRPr lang="en-US" sz="9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02 / 09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4313" y="1035844"/>
            <a:ext cx="8715375" cy="207169"/>
          </a:xfrm>
          <a:prstGeom prst="roundRect">
            <a:avLst>
              <a:gd name="adj" fmla="val 9195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8636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Project Objectives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14313" y="1328738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14313" y="1332309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32709" y="1328738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4313" y="2135981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1328738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" y="1634133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2900" y="1634133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2938" y="1650541"/>
            <a:ext cx="3771900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Develop a vibration-based industrial equipment monitoring pipeline.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607719" y="1328738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07719" y="1332309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26116" y="1328738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07719" y="2135981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22006" y="1328738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306" y="1634133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36306" y="1634133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36344" y="1567049"/>
            <a:ext cx="3771900" cy="360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Extract meaningful statistical and frequency-domain health indicators.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214313" y="2210991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214313" y="2214563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32709" y="2210991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14313" y="3018234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28600" y="2210991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2900" y="2516386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42900" y="2516386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2938" y="2532794"/>
            <a:ext cx="3771900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Detect equipment degradation from vibration trends.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4607719" y="2210991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607719" y="2214563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26116" y="2210991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07719" y="3018234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22006" y="2210991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36306" y="2516386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36306" y="2516386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036344" y="2532794"/>
            <a:ext cx="3771900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Perform Normal/Faulty diagnosis using Random Forest.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214313" y="3093244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214313" y="3096816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32709" y="3093244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14313" y="3900488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28600" y="3093244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2900" y="3398639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42900" y="3398639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42938" y="3415047"/>
            <a:ext cx="3771900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Detect abnormal operating conditions using Isolation Forest.</a:t>
            </a:r>
            <a:endParaRPr lang="en-US" sz="975" dirty="0"/>
          </a:p>
        </p:txBody>
      </p:sp>
      <p:sp>
        <p:nvSpPr>
          <p:cNvPr id="50" name="Text 47"/>
          <p:cNvSpPr/>
          <p:nvPr/>
        </p:nvSpPr>
        <p:spPr>
          <a:xfrm>
            <a:off x="4607719" y="3093244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8"/>
          <p:cNvSpPr/>
          <p:nvPr/>
        </p:nvSpPr>
        <p:spPr>
          <a:xfrm>
            <a:off x="4607719" y="3096816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926116" y="3093244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607719" y="3900488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622006" y="3093244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36306" y="3398639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736306" y="3398639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5036344" y="3415047"/>
            <a:ext cx="3771900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Generate an interpretable 0–100 equipment health score.</a:t>
            </a:r>
            <a:endParaRPr lang="en-US" sz="975" dirty="0"/>
          </a:p>
        </p:txBody>
      </p:sp>
      <p:sp>
        <p:nvSpPr>
          <p:cNvPr id="58" name="Text 55"/>
          <p:cNvSpPr/>
          <p:nvPr/>
        </p:nvSpPr>
        <p:spPr>
          <a:xfrm>
            <a:off x="214313" y="3975497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6"/>
          <p:cNvSpPr/>
          <p:nvPr/>
        </p:nvSpPr>
        <p:spPr>
          <a:xfrm>
            <a:off x="214313" y="3979069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532709" y="3975497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14313" y="4782741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28600" y="3975497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2900" y="4280892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42900" y="4280892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642938" y="4297300"/>
            <a:ext cx="3771900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Coordinate analysis using state-based Agentic AI orchestration.</a:t>
            </a:r>
            <a:endParaRPr lang="en-US" sz="975" dirty="0"/>
          </a:p>
        </p:txBody>
      </p:sp>
      <p:sp>
        <p:nvSpPr>
          <p:cNvPr id="66" name="Text 63"/>
          <p:cNvSpPr/>
          <p:nvPr/>
        </p:nvSpPr>
        <p:spPr>
          <a:xfrm>
            <a:off x="4607719" y="3975497"/>
            <a:ext cx="4321969" cy="81081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Shape 64"/>
          <p:cNvSpPr/>
          <p:nvPr/>
        </p:nvSpPr>
        <p:spPr>
          <a:xfrm>
            <a:off x="4607719" y="3979069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926116" y="3975497"/>
            <a:ext cx="0" cy="810816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607719" y="4782741"/>
            <a:ext cx="4321969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622006" y="3975497"/>
            <a:ext cx="0" cy="81081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736306" y="4280892"/>
            <a:ext cx="200025" cy="200025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4736306" y="4280892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036344" y="4213808"/>
            <a:ext cx="3771900" cy="360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Provide knowledge-supported insights via RAG and expose the system through Streamlit and FastAPI.</a:t>
            </a:r>
            <a:endParaRPr lang="en-US" sz="975" dirty="0"/>
          </a:p>
        </p:txBody>
      </p:sp>
      <p:pic>
        <p:nvPicPr>
          <p:cNvPr id="7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03 / 09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System Modules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91453" y="1023414"/>
            <a:ext cx="1665007" cy="232029"/>
          </a:xfrm>
          <a:prstGeom prst="roundRect">
            <a:avLst>
              <a:gd name="adj" fmla="val 8210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161928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Six-Module Architecture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17884" y="1332309"/>
            <a:ext cx="2831269" cy="1621631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21469" y="1435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550069" y="1444935"/>
            <a:ext cx="2395500" cy="16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 &amp; Feature Engineering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1469" y="1678781"/>
            <a:ext cx="2624100" cy="803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IMS vibration data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Timestamp ordering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Statistical features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FFT features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56310" y="1332309"/>
            <a:ext cx="2831269" cy="1621631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59894" y="1435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8B57"/>
                </a:solidFill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16" name="Text 13"/>
          <p:cNvSpPr/>
          <p:nvPr/>
        </p:nvSpPr>
        <p:spPr>
          <a:xfrm>
            <a:off x="3488494" y="1444935"/>
            <a:ext cx="2395500" cy="16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Fault Diagnosis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59894" y="1678781"/>
            <a:ext cx="2624100" cy="609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Random Forest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Normal/Faulty classification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Confidence estimation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94735" y="1332309"/>
            <a:ext cx="2831381" cy="1621631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98319" y="1435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4761A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0" name="Text 17"/>
          <p:cNvSpPr/>
          <p:nvPr/>
        </p:nvSpPr>
        <p:spPr>
          <a:xfrm>
            <a:off x="6426919" y="1444935"/>
            <a:ext cx="2395612" cy="16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98319" y="1678781"/>
            <a:ext cx="2624212" cy="609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Isolation Forest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Normal-only training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Anomaly score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7884" y="3061097"/>
            <a:ext cx="2831269" cy="1621631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21469" y="31646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8E44AD"/>
                </a:solidFill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550069" y="3173723"/>
            <a:ext cx="2395500" cy="16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Health Monitoring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21469" y="3407569"/>
            <a:ext cx="2624100" cy="99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RMS degradation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Anomaly component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Fault component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Health score 0–100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Stable / Degrading / Critical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156310" y="3061097"/>
            <a:ext cx="2831269" cy="1621631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259894" y="31646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6A085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8" name="Text 25"/>
          <p:cNvSpPr/>
          <p:nvPr/>
        </p:nvSpPr>
        <p:spPr>
          <a:xfrm>
            <a:off x="3488494" y="3173723"/>
            <a:ext cx="2395500" cy="16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Agentic AI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259894" y="3407569"/>
            <a:ext cx="2624100" cy="99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Orchestrator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Data/Health Agent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Fault Diagnosis Agent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Anomaly Agent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Shared structured state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094735" y="3061097"/>
            <a:ext cx="2831381" cy="1621631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98319" y="31646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C0392B"/>
                </a:solidFill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32" name="Text 29"/>
          <p:cNvSpPr/>
          <p:nvPr/>
        </p:nvSpPr>
        <p:spPr>
          <a:xfrm>
            <a:off x="6426919" y="3173723"/>
            <a:ext cx="2395612" cy="16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RAG &amp; Interfaces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198319" y="3407569"/>
            <a:ext cx="2624212" cy="803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ChromaDB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Ollama nomic-embed-text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Streamlit</a:t>
            </a:r>
            <a:endParaRPr lang="en-US" sz="900" dirty="0"/>
          </a:p>
          <a:p>
            <a:pPr marL="0" indent="0" algn="l">
              <a:lnSpc>
                <a:spcPts val="1215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FastAPI</a:t>
            </a:r>
            <a:endParaRPr lang="en-US" sz="9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04 / 09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Methodology / Modeling Plan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91453" y="1023414"/>
            <a:ext cx="1421673" cy="232029"/>
          </a:xfrm>
          <a:prstGeom prst="roundRect">
            <a:avLst>
              <a:gd name="adj" fmla="val 8210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137595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End-to-End Pipeline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718755" y="1357313"/>
            <a:ext cx="57338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kern="0" spc="68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263140" y="1487386"/>
            <a:ext cx="1331595" cy="297066"/>
          </a:xfrm>
          <a:prstGeom prst="roundRect">
            <a:avLst>
              <a:gd name="adj" fmla="val 128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286000" y="1500188"/>
            <a:ext cx="128587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 ACQUISITION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86000" y="1814513"/>
            <a:ext cx="1285875" cy="64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IMS Bearing Dataset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20 kHz sampling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20,480 samples/snapshot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Chronological timestamps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43313" y="2262560"/>
            <a:ext cx="214313" cy="142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361817" y="1357313"/>
            <a:ext cx="57338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kern="0" spc="68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STEP 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06202" y="1487386"/>
            <a:ext cx="1331595" cy="368503"/>
          </a:xfrm>
          <a:prstGeom prst="roundRect">
            <a:avLst>
              <a:gd name="adj" fmla="val 10339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29063" y="1500188"/>
            <a:ext cx="12858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FEATURE EXTRACTION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932634" y="1889522"/>
            <a:ext cx="1278731" cy="612353"/>
          </a:xfrm>
          <a:prstGeom prst="roundRect">
            <a:avLst>
              <a:gd name="adj" fmla="val 3111"/>
            </a:avLst>
          </a:prstGeom>
          <a:solidFill>
            <a:srgbClr val="F7FAFC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979069" y="1921669"/>
            <a:ext cx="1185863" cy="92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29"/>
              </a:lnSpc>
              <a:buNone/>
            </a:pPr>
            <a:r>
              <a:rPr lang="en-US" sz="800" b="1" kern="0" spc="23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TIME-DOMAIN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979069" y="2041103"/>
            <a:ext cx="12570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Mean, RMS, std, variance, kurtosis, skewness, peak, crest factor, shape factor, peak-to-peak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932634" y="2537594"/>
            <a:ext cx="1278731" cy="398041"/>
          </a:xfrm>
          <a:prstGeom prst="roundRect">
            <a:avLst>
              <a:gd name="adj" fmla="val 4786"/>
            </a:avLst>
          </a:prstGeom>
          <a:solidFill>
            <a:srgbClr val="F7FAFC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979069" y="2569741"/>
            <a:ext cx="1185863" cy="92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29"/>
              </a:lnSpc>
              <a:buNone/>
            </a:pPr>
            <a:r>
              <a:rPr lang="en-US" sz="800" b="1" kern="0" spc="23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FREQUENCY-DOMAIN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979069" y="2689175"/>
            <a:ext cx="125701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Spectral energy, dominant frequency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86375" y="2262560"/>
            <a:ext cx="214313" cy="142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004880" y="1357313"/>
            <a:ext cx="57338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kern="0" spc="68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49265" y="1487386"/>
            <a:ext cx="1331595" cy="297066"/>
          </a:xfrm>
          <a:prstGeom prst="roundRect">
            <a:avLst>
              <a:gd name="adj" fmla="val 128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572125" y="1500188"/>
            <a:ext cx="128587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72125" y="1814513"/>
            <a:ext cx="1285875" cy="64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Chronological split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Metadata separation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Train-only StandardScaler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Leakage validation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479131" y="302493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828" dirty="0"/>
          </a:p>
        </p:txBody>
      </p:sp>
      <p:sp>
        <p:nvSpPr>
          <p:cNvPr id="30" name="Text 27"/>
          <p:cNvSpPr/>
          <p:nvPr/>
        </p:nvSpPr>
        <p:spPr>
          <a:xfrm>
            <a:off x="2718755" y="3267819"/>
            <a:ext cx="57338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kern="0" spc="68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263140" y="3397893"/>
            <a:ext cx="1331595" cy="297066"/>
          </a:xfrm>
          <a:prstGeom prst="roundRect">
            <a:avLst>
              <a:gd name="adj" fmla="val 128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286000" y="3410694"/>
            <a:ext cx="128587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286000" y="3725019"/>
            <a:ext cx="1285875" cy="59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Fault Diagnosis → Random Forest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Anomaly Detection → Isolation Forest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643313" y="3953396"/>
            <a:ext cx="214313" cy="142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361817" y="3267819"/>
            <a:ext cx="57338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kern="0" spc="68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STEP 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906202" y="3397893"/>
            <a:ext cx="1331595" cy="297066"/>
          </a:xfrm>
          <a:prstGeom prst="roundRect">
            <a:avLst>
              <a:gd name="adj" fmla="val 12825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929063" y="3410694"/>
            <a:ext cx="128587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HEALTH MONITORING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929063" y="3725019"/>
            <a:ext cx="1285875" cy="75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RMS trend + anomaly + fault prediction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Health Score 0–100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Stable / Degrading / Critical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286375" y="3953396"/>
            <a:ext cx="214313" cy="142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004880" y="3267819"/>
            <a:ext cx="57338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kern="0" spc="68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549265" y="3397893"/>
            <a:ext cx="1331595" cy="368503"/>
          </a:xfrm>
          <a:prstGeom prst="roundRect">
            <a:avLst>
              <a:gd name="adj" fmla="val 10339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572125" y="3410694"/>
            <a:ext cx="12858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AGENTIC ORCHESTRATION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572125" y="3796457"/>
            <a:ext cx="1285875" cy="617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Agents process structured state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Unified analysis result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Decision support output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327300" y="4538960"/>
            <a:ext cx="4489289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4"/>
              </a:lnSpc>
              <a:buNone/>
            </a:pPr>
            <a:r>
              <a:rPr lang="en-US" sz="825" i="1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Raw Vibration → Features → ML Models → Health → Agentic Orchestration → Decision Support</a:t>
            </a:r>
            <a:endParaRPr lang="en-US" sz="825" dirty="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05 / 09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 Preprocessing &amp; EDA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4313" y="1035844"/>
            <a:ext cx="1981944" cy="207169"/>
          </a:xfrm>
          <a:prstGeom prst="roundRect">
            <a:avLst>
              <a:gd name="adj" fmla="val 9195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1981944" cy="223742"/>
          </a:xfrm>
          <a:prstGeom prst="rect">
            <a:avLst/>
          </a:prstGeom>
          <a:noFill/>
          <a:ln/>
        </p:spPr>
        <p:txBody>
          <a:bodyPr wrap="square" lIns="100013" tIns="28575" rIns="100013" bIns="28575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IMS Bearing Dataset Overview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214313" y="1460897"/>
            <a:ext cx="3311798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313" y="1328738"/>
            <a:ext cx="4021144" cy="156363"/>
          </a:xfrm>
          <a:prstGeom prst="rect">
            <a:avLst/>
          </a:prstGeom>
          <a:noFill/>
          <a:ln/>
        </p:spPr>
        <p:txBody>
          <a:bodyPr wrap="none" lIns="0" tIns="0" rIns="0" bIns="21431" rtlCol="0" anchor="t"/>
          <a:lstStyle/>
          <a:p>
            <a:pPr marL="0" indent="0" algn="l">
              <a:buNone/>
            </a:pPr>
            <a:r>
              <a:rPr lang="en-US" sz="800" b="1" kern="0" spc="3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DATASET DETAILS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14313" y="1550194"/>
          <a:ext cx="3311798" cy="1863096"/>
        </p:xfrm>
        <a:graphic>
          <a:graphicData uri="http://schemas.openxmlformats.org/drawingml/2006/table">
            <a:tbl>
              <a:tblPr/>
              <a:tblGrid>
                <a:gridCol w="1818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Dataset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IMS Bearing Dataset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Sampling frequency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kHz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Samples per snapshot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20,480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1 snapshots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2,156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2 snapshots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984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3 snapshots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6,324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 processed snapshots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9,464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dirty="0">
                          <a:solidFill>
                            <a:srgbClr val="5A5A5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Invalid feature rows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82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64294" marT="64294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640410" y="1460897"/>
            <a:ext cx="2788853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40410" y="1328738"/>
            <a:ext cx="3386190" cy="156363"/>
          </a:xfrm>
          <a:prstGeom prst="rect">
            <a:avLst/>
          </a:prstGeom>
          <a:noFill/>
          <a:ln/>
        </p:spPr>
        <p:txBody>
          <a:bodyPr wrap="none" lIns="0" tIns="0" rIns="0" bIns="21431" rtlCol="0" anchor="t"/>
          <a:lstStyle/>
          <a:p>
            <a:pPr marL="0" indent="0" algn="l">
              <a:buNone/>
            </a:pPr>
            <a:r>
              <a:rPr lang="en-US" sz="800" b="1" kern="0" spc="3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EDA FINDINGS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640410" y="1550194"/>
            <a:ext cx="2788853" cy="1259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Test 1 contains 8 vibration channels.</a:t>
            </a:r>
            <a:endParaRPr lang="en-US" sz="825" dirty="0"/>
          </a:p>
          <a:p>
            <a:pPr marL="0" indent="0" algn="l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Test 2 and Test 3 contain 4 channels.</a:t>
            </a:r>
            <a:endParaRPr lang="en-US" sz="825" dirty="0"/>
          </a:p>
          <a:p>
            <a:pPr marL="0" indent="0" algn="l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Chronological degradation structure is present.</a:t>
            </a:r>
            <a:endParaRPr lang="en-US" sz="825" dirty="0"/>
          </a:p>
          <a:p>
            <a:pPr marL="0" indent="0" algn="l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RMS increases toward degraded operation.</a:t>
            </a:r>
            <a:endParaRPr lang="en-US" sz="825" dirty="0"/>
          </a:p>
          <a:p>
            <a:pPr marL="0" indent="0" algn="l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Kurtosis and crest factor change during degradation.</a:t>
            </a:r>
            <a:endParaRPr lang="en-US" sz="825" dirty="0"/>
          </a:p>
          <a:p>
            <a:pPr marL="0" indent="0" algn="l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25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Frequency-domain characteristics change with equipment condition.</a:t>
            </a:r>
            <a:endParaRPr lang="en-US" sz="825" dirty="0"/>
          </a:p>
        </p:txBody>
      </p:sp>
      <p:sp>
        <p:nvSpPr>
          <p:cNvPr id="16" name="Shape 12"/>
          <p:cNvSpPr/>
          <p:nvPr/>
        </p:nvSpPr>
        <p:spPr>
          <a:xfrm>
            <a:off x="3640410" y="2943783"/>
            <a:ext cx="2788853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40410" y="2811624"/>
            <a:ext cx="3011961" cy="156363"/>
          </a:xfrm>
          <a:prstGeom prst="rect">
            <a:avLst/>
          </a:prstGeom>
          <a:noFill/>
          <a:ln/>
        </p:spPr>
        <p:txBody>
          <a:bodyPr wrap="square" lIns="0" tIns="0" rIns="0" bIns="21431" rtlCol="0" anchor="t"/>
          <a:lstStyle/>
          <a:p>
            <a:pPr marL="0" indent="0" algn="l">
              <a:buNone/>
            </a:pPr>
            <a:r>
              <a:rPr lang="en-US" sz="800" b="1" kern="0" spc="3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FEATURE EXTRACTION SUMMARY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643982" y="3036652"/>
            <a:ext cx="884374" cy="402394"/>
          </a:xfrm>
          <a:prstGeom prst="roundRect">
            <a:avLst>
              <a:gd name="adj" fmla="val 7101"/>
            </a:avLst>
          </a:prstGeom>
          <a:solidFill>
            <a:srgbClr val="F7FAFC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676129" y="3083086"/>
            <a:ext cx="820080" cy="196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104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3676129" y="3306887"/>
            <a:ext cx="8200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8" dirty="0">
                <a:solidFill>
                  <a:srgbClr val="5A5A5A"/>
                </a:solidFill>
                <a:ea typeface="Liberation Sans Narrow" pitchFamily="34" charset="-122"/>
                <a:cs typeface="Liberation Sans Narrow" pitchFamily="34" charset="-120"/>
              </a:rPr>
              <a:t>TEST 1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592650" y="3036652"/>
            <a:ext cx="884374" cy="402394"/>
          </a:xfrm>
          <a:prstGeom prst="roundRect">
            <a:avLst>
              <a:gd name="adj" fmla="val 7101"/>
            </a:avLst>
          </a:prstGeom>
          <a:solidFill>
            <a:srgbClr val="F7FAFC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624797" y="3083086"/>
            <a:ext cx="820080" cy="196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52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4624797" y="3306887"/>
            <a:ext cx="8200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8" dirty="0">
                <a:solidFill>
                  <a:srgbClr val="5A5A5A"/>
                </a:solidFill>
                <a:ea typeface="Liberation Sans Narrow" pitchFamily="34" charset="-122"/>
                <a:cs typeface="Liberation Sans Narrow" pitchFamily="34" charset="-120"/>
              </a:rPr>
              <a:t>TEST 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541318" y="3036652"/>
            <a:ext cx="884374" cy="402394"/>
          </a:xfrm>
          <a:prstGeom prst="roundRect">
            <a:avLst>
              <a:gd name="adj" fmla="val 7101"/>
            </a:avLst>
          </a:prstGeom>
          <a:solidFill>
            <a:srgbClr val="F7FAFC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573464" y="3083086"/>
            <a:ext cx="820080" cy="196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52</a:t>
            </a:r>
            <a:endParaRPr lang="en-US" sz="1650" dirty="0"/>
          </a:p>
        </p:txBody>
      </p:sp>
      <p:sp>
        <p:nvSpPr>
          <p:cNvPr id="26" name="Text 22"/>
          <p:cNvSpPr/>
          <p:nvPr/>
        </p:nvSpPr>
        <p:spPr>
          <a:xfrm>
            <a:off x="5573464" y="3306887"/>
            <a:ext cx="8200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8" dirty="0">
                <a:solidFill>
                  <a:srgbClr val="5A5A5A"/>
                </a:solidFill>
                <a:ea typeface="Liberation Sans Narrow" pitchFamily="34" charset="-122"/>
                <a:cs typeface="Liberation Sans Narrow" pitchFamily="34" charset="-120"/>
              </a:rPr>
              <a:t>TEST 3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543563" y="1460897"/>
            <a:ext cx="2614613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43563" y="1328738"/>
            <a:ext cx="2600437" cy="156363"/>
          </a:xfrm>
          <a:prstGeom prst="rect">
            <a:avLst/>
          </a:prstGeom>
          <a:noFill/>
          <a:ln/>
        </p:spPr>
        <p:txBody>
          <a:bodyPr wrap="none" lIns="0" tIns="0" rIns="0" bIns="21431" rtlCol="0" anchor="t"/>
          <a:lstStyle/>
          <a:p>
            <a:pPr marL="0" indent="0" algn="l">
              <a:buNone/>
            </a:pPr>
            <a:r>
              <a:rPr lang="en-US" sz="800" b="1" kern="0" spc="34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RMS DEGRADATION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132253" y="1550194"/>
            <a:ext cx="1552212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RMS Degradation Trend (Test 1)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7068629" y="1689497"/>
            <a:ext cx="1564481" cy="992981"/>
          </a:xfrm>
          <a:prstGeom prst="rect">
            <a:avLst/>
          </a:prstGeom>
          <a:solidFill>
            <a:srgbClr val="FCFDFE"/>
          </a:solidFill>
          <a:ln w="7144">
            <a:solidFill>
              <a:srgbClr val="B7CCE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172213" y="1750219"/>
            <a:ext cx="7144" cy="871538"/>
          </a:xfrm>
          <a:prstGeom prst="rect">
            <a:avLst/>
          </a:prstGeom>
          <a:solidFill>
            <a:srgbClr val="5A5A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7172213" y="2614613"/>
            <a:ext cx="1400175" cy="7144"/>
          </a:xfrm>
          <a:prstGeom prst="rect">
            <a:avLst/>
          </a:prstGeom>
          <a:solidFill>
            <a:srgbClr val="5A5A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086488" y="1721644"/>
            <a:ext cx="26736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RMS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337314" y="2521744"/>
            <a:ext cx="29222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Time →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7041974" y="2728913"/>
            <a:ext cx="1617791" cy="142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9"/>
              </a:lnSpc>
              <a:buNone/>
            </a:pPr>
            <a:r>
              <a:rPr lang="en-US" sz="637" i="1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Schematic — actual values not displayed.</a:t>
            </a:r>
            <a:endParaRPr lang="en-US" sz="637" dirty="0"/>
          </a:p>
        </p:txBody>
      </p:sp>
      <p:sp>
        <p:nvSpPr>
          <p:cNvPr id="37" name="Shape 33"/>
          <p:cNvSpPr/>
          <p:nvPr/>
        </p:nvSpPr>
        <p:spPr>
          <a:xfrm>
            <a:off x="6557851" y="2934072"/>
            <a:ext cx="0" cy="514127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43563" y="2934072"/>
            <a:ext cx="2600437" cy="592276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marL="0" indent="0" algn="l">
              <a:lnSpc>
                <a:spcPts val="1050"/>
              </a:lnSpc>
              <a:buNone/>
            </a:pPr>
            <a:endParaRPr lang="en-US" sz="80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06 / 09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7225792" y="2511028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7404385" y="2425303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7582979" y="2325291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7761573" y="2225278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7940167" y="2125266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8118760" y="2025253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8297354" y="1925241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8475948" y="1825228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Approach / Algorithms / Tools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4313" y="1035844"/>
            <a:ext cx="1857821" cy="207169"/>
          </a:xfrm>
          <a:prstGeom prst="roundRect">
            <a:avLst>
              <a:gd name="adj" fmla="val 9195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1857821" cy="223742"/>
          </a:xfrm>
          <a:prstGeom prst="rect">
            <a:avLst/>
          </a:prstGeom>
          <a:noFill/>
          <a:ln/>
        </p:spPr>
        <p:txBody>
          <a:bodyPr wrap="square" lIns="100013" tIns="28575" rIns="100013" bIns="28575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Algorithms, Results &amp; Stack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14313" y="1328738"/>
            <a:ext cx="2847901" cy="2214563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14313" y="1339453"/>
            <a:ext cx="2847901" cy="0"/>
          </a:xfrm>
          <a:prstGeom prst="line">
            <a:avLst/>
          </a:prstGeom>
          <a:noFill/>
          <a:ln w="21431">
            <a:solidFill>
              <a:srgbClr val="1F4E7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58641" y="1328738"/>
            <a:ext cx="0" cy="221456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4313" y="3539728"/>
            <a:ext cx="2847901" cy="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7884" y="1328738"/>
            <a:ext cx="0" cy="221456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2919" y="1443038"/>
            <a:ext cx="1927366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Fault Diagnosis · Random Forest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1469" y="14401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321469" y="1630114"/>
            <a:ext cx="2633588" cy="50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200 trees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Balanced class weighting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Train-only scaling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25041" y="2799792"/>
            <a:ext cx="846869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7188" y="2846226"/>
            <a:ext cx="782575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83.18%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57188" y="3020467"/>
            <a:ext cx="7825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3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ACCURACY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214772" y="2799792"/>
            <a:ext cx="846869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246919" y="2846226"/>
            <a:ext cx="782575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79.35%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46919" y="3020467"/>
            <a:ext cx="7825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3" dirty="0">
                <a:solidFill>
                  <a:srgbClr val="5A5A5A"/>
                </a:solidFill>
                <a:ea typeface="Liberation Sans Narrow" pitchFamily="34" charset="-122"/>
                <a:cs typeface="Liberation Sans Narrow" pitchFamily="34" charset="-120"/>
              </a:rPr>
              <a:t>MACRO F1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104504" y="2799792"/>
            <a:ext cx="846981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136651" y="2846226"/>
            <a:ext cx="782687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136651" y="3020467"/>
            <a:ext cx="7826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kern="0" spc="23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FAULTY RECALL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21469" y="3199061"/>
            <a:ext cx="2633588" cy="118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6"/>
              </a:lnSpc>
              <a:buNone/>
            </a:pPr>
            <a:r>
              <a:rPr lang="en-US" sz="800" dirty="0">
                <a:solidFill>
                  <a:srgbClr val="5A5A5A"/>
                </a:solidFill>
                <a:ea typeface="Liberation Sans Narrow" pitchFamily="34" charset="-122"/>
                <a:cs typeface="Liberation Sans Narrow" pitchFamily="34" charset="-120"/>
              </a:rPr>
              <a:t>Faulty F1 = 70.46%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21469" y="3345284"/>
            <a:ext cx="2633588" cy="105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9"/>
              </a:lnSpc>
              <a:buNone/>
            </a:pPr>
            <a:r>
              <a:rPr lang="en-US" sz="637" i="1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RF probabilities are not calibrated probabilities.</a:t>
            </a:r>
            <a:endParaRPr lang="en-US" sz="637" dirty="0"/>
          </a:p>
        </p:txBody>
      </p:sp>
      <p:sp>
        <p:nvSpPr>
          <p:cNvPr id="29" name="Text 26"/>
          <p:cNvSpPr/>
          <p:nvPr/>
        </p:nvSpPr>
        <p:spPr>
          <a:xfrm>
            <a:off x="3147938" y="1328738"/>
            <a:ext cx="2848012" cy="2214563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3147938" y="1339453"/>
            <a:ext cx="2848012" cy="0"/>
          </a:xfrm>
          <a:prstGeom prst="line">
            <a:avLst/>
          </a:prstGeom>
          <a:noFill/>
          <a:ln w="21431">
            <a:solidFill>
              <a:srgbClr val="D4761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92378" y="1328738"/>
            <a:ext cx="0" cy="221456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47938" y="3539728"/>
            <a:ext cx="2848012" cy="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51510" y="1328738"/>
            <a:ext cx="0" cy="221456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6544" y="1443038"/>
            <a:ext cx="2140017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Anomaly Detection · Isolation Forest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55094" y="14401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3255094" y="1630114"/>
            <a:ext cx="2633700" cy="66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Normal-only training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200 estimators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Automatic contamination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Higher score = more anomalous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258666" y="2799792"/>
            <a:ext cx="846869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290813" y="2846226"/>
            <a:ext cx="782575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81.68%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290813" y="3020467"/>
            <a:ext cx="7825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3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ACCURACY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148398" y="2799792"/>
            <a:ext cx="846981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180545" y="2846226"/>
            <a:ext cx="782687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81.53%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180545" y="3020467"/>
            <a:ext cx="7826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3" dirty="0">
                <a:solidFill>
                  <a:srgbClr val="5A5A5A"/>
                </a:solidFill>
                <a:ea typeface="Liberation Sans Narrow" pitchFamily="34" charset="-122"/>
                <a:cs typeface="Liberation Sans Narrow" pitchFamily="34" charset="-120"/>
              </a:rPr>
              <a:t>MACRO F1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038241" y="2799792"/>
            <a:ext cx="846869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070388" y="2846226"/>
            <a:ext cx="782575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070388" y="3020467"/>
            <a:ext cx="7825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kern="0" spc="23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FAULTY RECALL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3255094" y="3199061"/>
            <a:ext cx="2743428" cy="14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6"/>
              </a:lnSpc>
              <a:buNone/>
            </a:pPr>
            <a:r>
              <a:rPr lang="en-US" sz="800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771 anomaly predictions across Test 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255094" y="3345284"/>
            <a:ext cx="2633700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29"/>
              </a:lnSpc>
              <a:buNone/>
            </a:pPr>
            <a:r>
              <a:rPr lang="en-US" sz="800" i="1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spacer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081675" y="1328738"/>
            <a:ext cx="2847901" cy="2214563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6081675" y="1339453"/>
            <a:ext cx="2847901" cy="0"/>
          </a:xfrm>
          <a:prstGeom prst="line">
            <a:avLst/>
          </a:prstGeom>
          <a:noFill/>
          <a:ln w="21431">
            <a:solidFill>
              <a:srgbClr val="8E44A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26004" y="1328738"/>
            <a:ext cx="0" cy="221456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1675" y="3539728"/>
            <a:ext cx="2847901" cy="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085247" y="1328738"/>
            <a:ext cx="0" cy="221456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60282" y="1443038"/>
            <a:ext cx="121429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Health Monitoring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188832" y="14401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55" name="Text 52"/>
          <p:cNvSpPr/>
          <p:nvPr/>
        </p:nvSpPr>
        <p:spPr>
          <a:xfrm>
            <a:off x="6188832" y="1630114"/>
            <a:ext cx="2633588" cy="50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RMS + anomaly + fault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Liberation Sans Narrow" pitchFamily="34" charset="-122"/>
                <a:cs typeface="Liberation Sans Narrow" pitchFamily="34" charset="-120"/>
              </a:rPr>
              <a:t>Health Score 0–100</a:t>
            </a:r>
            <a:endParaRPr lang="en-US" sz="800" dirty="0"/>
          </a:p>
          <a:p>
            <a:pPr marL="0" indent="0" algn="l">
              <a:lnSpc>
                <a:spcPts val="1024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0AD47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242424"/>
                </a:solidFill>
                <a:ea typeface="Carlito" pitchFamily="34" charset="-122"/>
                <a:cs typeface="Carlito" pitchFamily="34" charset="-120"/>
              </a:rPr>
              <a:t>Status: Stable / Degrading / Critical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192403" y="2799792"/>
            <a:ext cx="846869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224550" y="2846226"/>
            <a:ext cx="782575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43.43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6224550" y="3020467"/>
            <a:ext cx="7825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3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MEAN SCORE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082135" y="2799792"/>
            <a:ext cx="846869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7114282" y="2846226"/>
            <a:ext cx="782575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0.53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099353" y="3020467"/>
            <a:ext cx="81243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3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FINAL SCORE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971867" y="2799792"/>
            <a:ext cx="846981" cy="352834"/>
          </a:xfrm>
          <a:prstGeom prst="roundRect">
            <a:avLst>
              <a:gd name="adj" fmla="val 5399"/>
            </a:avLst>
          </a:prstGeom>
          <a:solidFill>
            <a:srgbClr val="F4F8FB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8004014" y="2846226"/>
            <a:ext cx="782687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ctr">
              <a:lnSpc>
                <a:spcPts val="866"/>
              </a:lnSpc>
              <a:buNone/>
            </a:pPr>
            <a:r>
              <a:rPr lang="en-US" sz="825" b="1" dirty="0">
                <a:solidFill>
                  <a:srgbClr val="1F4E79"/>
                </a:solidFill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25" dirty="0"/>
          </a:p>
        </p:txBody>
      </p:sp>
      <p:sp>
        <p:nvSpPr>
          <p:cNvPr id="64" name="Text 61"/>
          <p:cNvSpPr/>
          <p:nvPr/>
        </p:nvSpPr>
        <p:spPr>
          <a:xfrm>
            <a:off x="8004014" y="2970461"/>
            <a:ext cx="78268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kern="0" spc="23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STATUS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6188832" y="3199061"/>
            <a:ext cx="2633588" cy="14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6"/>
              </a:lnSpc>
              <a:buNone/>
            </a:pPr>
            <a:r>
              <a:rPr lang="en-US" sz="800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Overall Trend = Degrading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188832" y="3345284"/>
            <a:ext cx="2633588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29"/>
              </a:lnSpc>
              <a:buNone/>
            </a:pPr>
            <a:r>
              <a:rPr lang="en-US" sz="800" i="1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spacer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214313" y="3629025"/>
            <a:ext cx="8715375" cy="785813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65"/>
          <p:cNvSpPr/>
          <p:nvPr/>
        </p:nvSpPr>
        <p:spPr>
          <a:xfrm>
            <a:off x="214313" y="3639741"/>
            <a:ext cx="8715375" cy="0"/>
          </a:xfrm>
          <a:prstGeom prst="line">
            <a:avLst/>
          </a:prstGeom>
          <a:noFill/>
          <a:ln w="21431">
            <a:solidFill>
              <a:srgbClr val="1F4E7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926116" y="3629025"/>
            <a:ext cx="0" cy="78581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14313" y="4411266"/>
            <a:ext cx="8715375" cy="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17884" y="3629025"/>
            <a:ext cx="0" cy="785813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21469" y="3721894"/>
            <a:ext cx="850106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321469" y="3896487"/>
            <a:ext cx="1177603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702432" y="3975497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795300" y="3952838"/>
            <a:ext cx="639477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Python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1541934" y="38964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1920329" y="3975497"/>
            <a:ext cx="50006" cy="50006"/>
          </a:xfrm>
          <a:prstGeom prst="ellipse">
            <a:avLst/>
          </a:prstGeom>
          <a:solidFill>
            <a:srgbClr val="2E8B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2013198" y="3952838"/>
            <a:ext cx="642156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NumPy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2762510" y="38964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3135548" y="3975497"/>
            <a:ext cx="50006" cy="50006"/>
          </a:xfrm>
          <a:prstGeom prst="ellipse">
            <a:avLst/>
          </a:prstGeom>
          <a:solidFill>
            <a:srgbClr val="D476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3228417" y="3952838"/>
            <a:ext cx="647514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Pandas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3983087" y="38964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0"/>
          <p:cNvSpPr/>
          <p:nvPr/>
        </p:nvSpPr>
        <p:spPr>
          <a:xfrm>
            <a:off x="4395750" y="3975497"/>
            <a:ext cx="50006" cy="50006"/>
          </a:xfrm>
          <a:prstGeom prst="ellipse">
            <a:avLst/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4488619" y="3952838"/>
            <a:ext cx="607888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SciPy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5203664" y="38964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3"/>
          <p:cNvSpPr/>
          <p:nvPr/>
        </p:nvSpPr>
        <p:spPr>
          <a:xfrm>
            <a:off x="5489414" y="3975497"/>
            <a:ext cx="50006" cy="50006"/>
          </a:xfrm>
          <a:prstGeom prst="ellipse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5556054" y="3952838"/>
            <a:ext cx="787258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6424240" y="38964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6"/>
          <p:cNvSpPr/>
          <p:nvPr/>
        </p:nvSpPr>
        <p:spPr>
          <a:xfrm>
            <a:off x="6826411" y="3975497"/>
            <a:ext cx="50006" cy="50006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6919280" y="3952838"/>
            <a:ext cx="618381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Joblib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7644817" y="38964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9"/>
          <p:cNvSpPr/>
          <p:nvPr/>
        </p:nvSpPr>
        <p:spPr>
          <a:xfrm>
            <a:off x="7983475" y="3975497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8076344" y="3952838"/>
            <a:ext cx="681893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Streamlit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321469" y="4125087"/>
            <a:ext cx="1177603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2"/>
          <p:cNvSpPr/>
          <p:nvPr/>
        </p:nvSpPr>
        <p:spPr>
          <a:xfrm>
            <a:off x="686581" y="4204097"/>
            <a:ext cx="50006" cy="50006"/>
          </a:xfrm>
          <a:prstGeom prst="ellipse">
            <a:avLst/>
          </a:prstGeom>
          <a:solidFill>
            <a:srgbClr val="2E8B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779450" y="4181438"/>
            <a:ext cx="655327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FastAPI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1541934" y="41250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5"/>
          <p:cNvSpPr/>
          <p:nvPr/>
        </p:nvSpPr>
        <p:spPr>
          <a:xfrm>
            <a:off x="1885838" y="4204097"/>
            <a:ext cx="50006" cy="50006"/>
          </a:xfrm>
          <a:prstGeom prst="ellipse">
            <a:avLst/>
          </a:prstGeom>
          <a:solidFill>
            <a:srgbClr val="D476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6"/>
          <p:cNvSpPr/>
          <p:nvPr/>
        </p:nvSpPr>
        <p:spPr>
          <a:xfrm>
            <a:off x="1978707" y="4181438"/>
            <a:ext cx="676647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Pydantic</a:t>
            </a:r>
            <a:endParaRPr lang="en-US" sz="800" dirty="0"/>
          </a:p>
        </p:txBody>
      </p:sp>
      <p:sp>
        <p:nvSpPr>
          <p:cNvPr id="100" name="Text 97"/>
          <p:cNvSpPr/>
          <p:nvPr/>
        </p:nvSpPr>
        <p:spPr>
          <a:xfrm>
            <a:off x="2762510" y="41250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8"/>
          <p:cNvSpPr/>
          <p:nvPr/>
        </p:nvSpPr>
        <p:spPr>
          <a:xfrm>
            <a:off x="3175285" y="4204097"/>
            <a:ext cx="50006" cy="50006"/>
          </a:xfrm>
          <a:prstGeom prst="ellipse">
            <a:avLst/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99"/>
          <p:cNvSpPr/>
          <p:nvPr/>
        </p:nvSpPr>
        <p:spPr>
          <a:xfrm>
            <a:off x="3268154" y="4181438"/>
            <a:ext cx="607777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Plotly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3983087" y="41250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101"/>
          <p:cNvSpPr/>
          <p:nvPr/>
        </p:nvSpPr>
        <p:spPr>
          <a:xfrm>
            <a:off x="4276874" y="4204097"/>
            <a:ext cx="50006" cy="50006"/>
          </a:xfrm>
          <a:prstGeom prst="ellipse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4369743" y="4181438"/>
            <a:ext cx="726765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ChromaDB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5203664" y="41250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5587305" y="4204097"/>
            <a:ext cx="50006" cy="50006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5"/>
          <p:cNvSpPr/>
          <p:nvPr/>
        </p:nvSpPr>
        <p:spPr>
          <a:xfrm>
            <a:off x="5680174" y="4181438"/>
            <a:ext cx="636910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Ollama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6424240" y="41250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7"/>
          <p:cNvSpPr/>
          <p:nvPr/>
        </p:nvSpPr>
        <p:spPr>
          <a:xfrm>
            <a:off x="6556623" y="4204097"/>
            <a:ext cx="50006" cy="50006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8"/>
          <p:cNvSpPr/>
          <p:nvPr/>
        </p:nvSpPr>
        <p:spPr>
          <a:xfrm>
            <a:off x="6649492" y="4181438"/>
            <a:ext cx="888169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nomic-embed-text</a:t>
            </a:r>
            <a:endParaRPr lang="en-US" sz="750" dirty="0"/>
          </a:p>
        </p:txBody>
      </p:sp>
      <p:sp>
        <p:nvSpPr>
          <p:cNvPr id="112" name="Text 109"/>
          <p:cNvSpPr/>
          <p:nvPr/>
        </p:nvSpPr>
        <p:spPr>
          <a:xfrm>
            <a:off x="7644817" y="4125087"/>
            <a:ext cx="1177714" cy="208026"/>
          </a:xfrm>
          <a:prstGeom prst="roundRect">
            <a:avLst>
              <a:gd name="adj" fmla="val 59524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10"/>
          <p:cNvSpPr/>
          <p:nvPr/>
        </p:nvSpPr>
        <p:spPr>
          <a:xfrm>
            <a:off x="7752085" y="4204097"/>
            <a:ext cx="50006" cy="50006"/>
          </a:xfrm>
          <a:prstGeom prst="ellipse">
            <a:avLst/>
          </a:prstGeom>
          <a:solidFill>
            <a:srgbClr val="2E8B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11"/>
          <p:cNvSpPr/>
          <p:nvPr/>
        </p:nvSpPr>
        <p:spPr>
          <a:xfrm>
            <a:off x="7844954" y="4181438"/>
            <a:ext cx="913284" cy="10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Pytest + Git/GitHub</a:t>
            </a:r>
            <a:endParaRPr lang="en-US" sz="750" dirty="0"/>
          </a:p>
        </p:txBody>
      </p:sp>
      <p:pic>
        <p:nvPicPr>
          <p:cNvPr id="1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116" name="Text 112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117" name="Text 113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118" name="Text 114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07 / 09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Project Plan / Milestones Progress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4313" y="1035844"/>
            <a:ext cx="2236217" cy="207169"/>
          </a:xfrm>
          <a:prstGeom prst="roundRect">
            <a:avLst>
              <a:gd name="adj" fmla="val 9195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2236217" cy="223742"/>
          </a:xfrm>
          <a:prstGeom prst="rect">
            <a:avLst/>
          </a:prstGeom>
          <a:noFill/>
          <a:ln/>
        </p:spPr>
        <p:txBody>
          <a:bodyPr wrap="square" lIns="100013" tIns="28575" rIns="100013" bIns="28575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Phase-wise Implementation Status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17884" y="1332309"/>
            <a:ext cx="8708231" cy="1997794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7144">
            <a:solidFill>
              <a:srgbClr val="D0DE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21456" y="1335881"/>
          <a:ext cx="8701088" cy="3536160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Phase #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Title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Status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Dataset &amp; Architecture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Foundation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Feature Engineering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Preprocessing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Fault Diagnosis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Anomaly Detection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Health Monitoring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Agentic AI Orchestration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RAG Knowledge Base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Streamlit Dashboard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FastAPI Backend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Final Testing &amp; Documentation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424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 Progress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14313" y="3651572"/>
            <a:ext cx="2340583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4313" y="4135003"/>
            <a:ext cx="2340583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28600" y="3648001"/>
            <a:ext cx="0" cy="490575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70744" y="3712294"/>
            <a:ext cx="449039" cy="24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ts val="1950"/>
              </a:lnSpc>
              <a:buNone/>
            </a:pP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845092" y="3988557"/>
            <a:ext cx="11004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612045" y="3651572"/>
            <a:ext cx="2340694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612045" y="4135003"/>
            <a:ext cx="2340694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140420" y="3712294"/>
            <a:ext cx="1305265" cy="24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ts val="1950"/>
              </a:lnSpc>
              <a:buNone/>
            </a:pPr>
            <a:endParaRPr lang="en-US" sz="1950" dirty="0"/>
          </a:p>
        </p:txBody>
      </p:sp>
      <p:sp>
        <p:nvSpPr>
          <p:cNvPr id="27" name="Text 23"/>
          <p:cNvSpPr/>
          <p:nvPr/>
        </p:nvSpPr>
        <p:spPr>
          <a:xfrm>
            <a:off x="3380522" y="3988557"/>
            <a:ext cx="82517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637" dirty="0"/>
          </a:p>
        </p:txBody>
      </p:sp>
      <p:sp>
        <p:nvSpPr>
          <p:cNvPr id="32" name="Shape 28"/>
          <p:cNvSpPr/>
          <p:nvPr/>
        </p:nvSpPr>
        <p:spPr>
          <a:xfrm>
            <a:off x="228600" y="4195725"/>
            <a:ext cx="0" cy="490575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6197" y="4317169"/>
            <a:ext cx="1198133" cy="134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ts val="1050"/>
              </a:lnSpc>
              <a:buNone/>
            </a:pP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758059" y="4479131"/>
            <a:ext cx="1274410" cy="116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637" dirty="0"/>
          </a:p>
        </p:txBody>
      </p:sp>
      <p:sp>
        <p:nvSpPr>
          <p:cNvPr id="40" name="Text 36"/>
          <p:cNvSpPr/>
          <p:nvPr/>
        </p:nvSpPr>
        <p:spPr>
          <a:xfrm>
            <a:off x="3194042" y="4317169"/>
            <a:ext cx="1198133" cy="134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ts val="1050"/>
              </a:lnSpc>
              <a:buNone/>
            </a:pP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3406269" y="4479131"/>
            <a:ext cx="773566" cy="116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637" dirty="0"/>
          </a:p>
        </p:txBody>
      </p:sp>
      <p:sp>
        <p:nvSpPr>
          <p:cNvPr id="43" name="Text 39"/>
          <p:cNvSpPr/>
          <p:nvPr/>
        </p:nvSpPr>
        <p:spPr>
          <a:xfrm>
            <a:off x="5052752" y="3419401"/>
            <a:ext cx="38769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5052752" y="3651572"/>
            <a:ext cx="3876935" cy="0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926116" y="3648001"/>
            <a:ext cx="0" cy="1038299"/>
          </a:xfrm>
          <a:prstGeom prst="line">
            <a:avLst/>
          </a:prstGeom>
          <a:noFill/>
          <a:ln w="7144">
            <a:solidFill>
              <a:srgbClr val="B7CCE3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08 / 09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7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0"/>
            <a:ext cx="2761952" cy="257175"/>
          </a:xfrm>
          <a:prstGeom prst="rect">
            <a:avLst/>
          </a:prstGeom>
          <a:solidFill>
            <a:srgbClr val="47BDA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00800" y="0"/>
            <a:ext cx="2743200" cy="25717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 · INDUSTRIAL HEALTH MONITORING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14313" y="357188"/>
            <a:ext cx="863600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84" dirty="0">
                <a:solidFill>
                  <a:srgbClr val="1F4E79"/>
                </a:solidFill>
                <a:ea typeface="Liberation Sans Narrow" pitchFamily="34" charset="-122"/>
                <a:cs typeface="Liberation Sans Narrow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313" y="514350"/>
            <a:ext cx="8636000" cy="362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17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Pipeline Structure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313" y="935385"/>
            <a:ext cx="5143500" cy="21431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4313" y="1035844"/>
            <a:ext cx="2109639" cy="207169"/>
          </a:xfrm>
          <a:prstGeom prst="roundRect">
            <a:avLst>
              <a:gd name="adj" fmla="val 9195"/>
            </a:avLst>
          </a:prstGeom>
          <a:solidFill>
            <a:srgbClr val="C0D1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4313" y="1035844"/>
            <a:ext cx="2109639" cy="223742"/>
          </a:xfrm>
          <a:prstGeom prst="rect">
            <a:avLst/>
          </a:prstGeom>
          <a:noFill/>
          <a:ln/>
        </p:spPr>
        <p:txBody>
          <a:bodyPr wrap="square" lIns="100013" tIns="28575" rIns="100013" bIns="28575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End-to-End Agentic Architecture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4227671" y="1315936"/>
            <a:ext cx="68865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50531" y="1328738"/>
            <a:ext cx="6429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82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USER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564856" y="1557338"/>
            <a:ext cx="14288" cy="100013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078831" y="1664494"/>
            <a:ext cx="4986338" cy="214313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071688" y="1657350"/>
            <a:ext cx="5000625" cy="228600"/>
          </a:xfrm>
          <a:prstGeom prst="rect">
            <a:avLst/>
          </a:prstGeom>
          <a:noFill/>
          <a:ln/>
        </p:spPr>
        <p:txBody>
          <a:bodyPr wrap="none" lIns="114300" tIns="28575" rIns="114300" bIns="28575" rtlCol="0" anchor="ctr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82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STREAMLIT DASHBOARD · FASTAPI REST API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564856" y="1885950"/>
            <a:ext cx="14288" cy="100013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8831" y="1993106"/>
            <a:ext cx="4986338" cy="214313"/>
          </a:xfrm>
          <a:prstGeom prst="roundRect">
            <a:avLst>
              <a:gd name="adj" fmla="val 17778"/>
            </a:avLst>
          </a:prstGeom>
          <a:solidFill>
            <a:srgbClr val="1F4E79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071688" y="1985963"/>
            <a:ext cx="5000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825" b="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ORCHESTRATOR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2500313" y="2228850"/>
            <a:ext cx="14288" cy="85725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564856" y="2228850"/>
            <a:ext cx="14288" cy="85725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643688" y="2228850"/>
            <a:ext cx="14288" cy="85725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071688" y="2328863"/>
            <a:ext cx="1609688" cy="572170"/>
          </a:xfrm>
          <a:prstGeom prst="roundRect">
            <a:avLst>
              <a:gd name="adj" fmla="val 33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2071688" y="2339578"/>
            <a:ext cx="1609688" cy="0"/>
          </a:xfrm>
          <a:prstGeom prst="line">
            <a:avLst/>
          </a:prstGeom>
          <a:noFill/>
          <a:ln w="21431">
            <a:solidFill>
              <a:srgbClr val="70AD4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77803" y="2328863"/>
            <a:ext cx="0" cy="57217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71688" y="2897460"/>
            <a:ext cx="1609688" cy="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75259" y="2328863"/>
            <a:ext cx="0" cy="57217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05038" y="239315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27" name="Text 24"/>
          <p:cNvSpPr/>
          <p:nvPr/>
        </p:nvSpPr>
        <p:spPr>
          <a:xfrm>
            <a:off x="2341291" y="2550319"/>
            <a:ext cx="1070369" cy="116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Data / Health Agent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01228" y="2685291"/>
            <a:ext cx="750607" cy="160020"/>
          </a:xfrm>
          <a:prstGeom prst="roundRect">
            <a:avLst>
              <a:gd name="adj" fmla="val 11905"/>
            </a:avLst>
          </a:prstGeom>
          <a:solidFill>
            <a:srgbClr val="EAF1F8"/>
          </a:solidFill>
          <a:ln w="7144">
            <a:solidFill>
              <a:srgbClr val="C5D5E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524088" y="2693863"/>
            <a:ext cx="7048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HealthMonitor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67100" y="2328863"/>
            <a:ext cx="1609688" cy="572170"/>
          </a:xfrm>
          <a:prstGeom prst="roundRect">
            <a:avLst>
              <a:gd name="adj" fmla="val 33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3767100" y="2339578"/>
            <a:ext cx="1609688" cy="0"/>
          </a:xfrm>
          <a:prstGeom prst="line">
            <a:avLst/>
          </a:prstGeom>
          <a:noFill/>
          <a:ln w="21431">
            <a:solidFill>
              <a:srgbClr val="70AD4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73216" y="2328863"/>
            <a:ext cx="0" cy="57217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67100" y="2897460"/>
            <a:ext cx="1609688" cy="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70672" y="2328863"/>
            <a:ext cx="0" cy="57217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00451" y="239315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6" name="Text 33"/>
          <p:cNvSpPr/>
          <p:nvPr/>
        </p:nvSpPr>
        <p:spPr>
          <a:xfrm>
            <a:off x="3955334" y="2550319"/>
            <a:ext cx="1233109" cy="116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Fault Diagnosis Agent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170410" y="2685291"/>
            <a:ext cx="803069" cy="160020"/>
          </a:xfrm>
          <a:prstGeom prst="roundRect">
            <a:avLst>
              <a:gd name="adj" fmla="val 11905"/>
            </a:avLst>
          </a:prstGeom>
          <a:solidFill>
            <a:srgbClr val="EAF1F8"/>
          </a:solidFill>
          <a:ln w="7144">
            <a:solidFill>
              <a:srgbClr val="C5D5E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151341" y="2693863"/>
            <a:ext cx="84120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62513" y="2328863"/>
            <a:ext cx="1609688" cy="572170"/>
          </a:xfrm>
          <a:prstGeom prst="roundRect">
            <a:avLst>
              <a:gd name="adj" fmla="val 33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5462513" y="2339578"/>
            <a:ext cx="1609688" cy="0"/>
          </a:xfrm>
          <a:prstGeom prst="line">
            <a:avLst/>
          </a:prstGeom>
          <a:noFill/>
          <a:ln w="21431">
            <a:solidFill>
              <a:srgbClr val="70AD4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68629" y="2328863"/>
            <a:ext cx="0" cy="57217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62513" y="2897460"/>
            <a:ext cx="1609688" cy="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466085" y="2328863"/>
            <a:ext cx="0" cy="572170"/>
          </a:xfrm>
          <a:prstGeom prst="line">
            <a:avLst/>
          </a:prstGeom>
          <a:noFill/>
          <a:ln w="7144">
            <a:solidFill>
              <a:srgbClr val="D0DE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95864" y="239315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5" name="Text 42"/>
          <p:cNvSpPr/>
          <p:nvPr/>
        </p:nvSpPr>
        <p:spPr>
          <a:xfrm>
            <a:off x="5839651" y="2550319"/>
            <a:ext cx="855301" cy="116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Anomaly Agent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861023" y="2685291"/>
            <a:ext cx="812557" cy="160020"/>
          </a:xfrm>
          <a:prstGeom prst="roundRect">
            <a:avLst>
              <a:gd name="adj" fmla="val 11905"/>
            </a:avLst>
          </a:prstGeom>
          <a:solidFill>
            <a:srgbClr val="EAF1F8"/>
          </a:solidFill>
          <a:ln w="7144">
            <a:solidFill>
              <a:srgbClr val="C5D5E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883883" y="2693863"/>
            <a:ext cx="7668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Isolation Forest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2500313" y="2901032"/>
            <a:ext cx="14288" cy="85725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564856" y="2901032"/>
            <a:ext cx="14288" cy="85725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643688" y="2901032"/>
            <a:ext cx="14288" cy="85725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2078831" y="3022476"/>
            <a:ext cx="4986338" cy="214313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2071688" y="3015332"/>
            <a:ext cx="5000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82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HEALTH ASSESSMENT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4564856" y="3243932"/>
            <a:ext cx="14288" cy="100013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2078831" y="3351088"/>
            <a:ext cx="4986338" cy="214313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2071688" y="3343945"/>
            <a:ext cx="5000625" cy="228600"/>
          </a:xfrm>
          <a:prstGeom prst="rect">
            <a:avLst/>
          </a:prstGeom>
          <a:noFill/>
          <a:ln/>
        </p:spPr>
        <p:txBody>
          <a:bodyPr wrap="none" lIns="114300" tIns="28575" rIns="114300" bIns="28575" rtlCol="0" anchor="ctr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82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HEALTH SCORE + FAULT + ANOMALY</a:t>
            </a:r>
            <a:endParaRPr lang="en-US" sz="825" dirty="0"/>
          </a:p>
        </p:txBody>
      </p:sp>
      <p:sp>
        <p:nvSpPr>
          <p:cNvPr id="56" name="Text 53"/>
          <p:cNvSpPr/>
          <p:nvPr/>
        </p:nvSpPr>
        <p:spPr>
          <a:xfrm>
            <a:off x="4564856" y="3572545"/>
            <a:ext cx="14288" cy="100013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2078831" y="3679701"/>
            <a:ext cx="4986338" cy="300038"/>
          </a:xfrm>
          <a:prstGeom prst="roundRect">
            <a:avLst>
              <a:gd name="adj" fmla="val 12698"/>
            </a:avLst>
          </a:prstGeom>
          <a:solidFill>
            <a:srgbClr val="1F4E79"/>
          </a:solidFill>
          <a:ln w="14288">
            <a:solidFill>
              <a:srgbClr val="1F4E7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3825420" y="3716648"/>
            <a:ext cx="1493048" cy="100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825" b="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RAG KNOWLEDGE BASE</a:t>
            </a:r>
            <a:endParaRPr lang="en-US" sz="825" dirty="0"/>
          </a:p>
        </p:txBody>
      </p:sp>
      <p:sp>
        <p:nvSpPr>
          <p:cNvPr id="59" name="Text 56"/>
          <p:cNvSpPr/>
          <p:nvPr/>
        </p:nvSpPr>
        <p:spPr>
          <a:xfrm>
            <a:off x="4091210" y="3844230"/>
            <a:ext cx="961469" cy="9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6"/>
              </a:lnSpc>
              <a:buNone/>
            </a:pPr>
            <a:r>
              <a:rPr lang="en-US" sz="675" i="1" dirty="0">
                <a:solidFill>
                  <a:srgbClr val="FFFFFF">
                    <a:alpha val="92000"/>
                  </a:srgbClr>
                </a:solidFill>
                <a:ea typeface="Carlito" pitchFamily="34" charset="-122"/>
                <a:cs typeface="Carlito" pitchFamily="34" charset="-120"/>
              </a:rPr>
              <a:t>ChromaDB + Ollama</a:t>
            </a:r>
            <a:endParaRPr lang="en-US" sz="675" dirty="0"/>
          </a:p>
        </p:txBody>
      </p:sp>
      <p:sp>
        <p:nvSpPr>
          <p:cNvPr id="60" name="Text 57"/>
          <p:cNvSpPr/>
          <p:nvPr/>
        </p:nvSpPr>
        <p:spPr>
          <a:xfrm>
            <a:off x="4564856" y="3986882"/>
            <a:ext cx="14288" cy="100013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2078831" y="4094038"/>
            <a:ext cx="4986338" cy="214313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70AD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071688" y="4086895"/>
            <a:ext cx="5000625" cy="228600"/>
          </a:xfrm>
          <a:prstGeom prst="rect">
            <a:avLst/>
          </a:prstGeom>
          <a:noFill/>
          <a:ln/>
        </p:spPr>
        <p:txBody>
          <a:bodyPr wrap="none" lIns="114300" tIns="28575" rIns="114300" bIns="28575" rtlCol="0" anchor="ctr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825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STRUCTURED DECISION SUPPORT</a:t>
            </a:r>
            <a:endParaRPr lang="en-US" sz="825" dirty="0"/>
          </a:p>
        </p:txBody>
      </p:sp>
      <p:sp>
        <p:nvSpPr>
          <p:cNvPr id="63" name="Text 60"/>
          <p:cNvSpPr/>
          <p:nvPr/>
        </p:nvSpPr>
        <p:spPr>
          <a:xfrm>
            <a:off x="1463687" y="4401220"/>
            <a:ext cx="6216625" cy="142475"/>
          </a:xfrm>
          <a:prstGeom prst="rect">
            <a:avLst/>
          </a:prstGeom>
          <a:noFill/>
          <a:ln/>
        </p:spPr>
        <p:txBody>
          <a:bodyPr wrap="square" lIns="285750" tIns="0" rIns="285750" bIns="0" rtlCol="0" anchor="t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750" i="1" dirty="0">
                <a:solidFill>
                  <a:srgbClr val="5A5A5A"/>
                </a:solidFill>
                <a:ea typeface="Carlito" pitchFamily="34" charset="-122"/>
                <a:cs typeface="Carlito" pitchFamily="34" charset="-120"/>
              </a:rPr>
              <a:t>Raw Vibration → Features → ML Models → Health Assessment → Agentic Orchestration → Knowledge Retrieval → Decision Support</a:t>
            </a:r>
            <a:endParaRPr lang="en-US" sz="750" dirty="0"/>
          </a:p>
        </p:txBody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171450" y="4982766"/>
            <a:ext cx="420231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7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LTIMindtree · L&amp;T EduTech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4388048" y="4982766"/>
            <a:ext cx="426403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FFFFFF">
                    <a:alpha val="95000"/>
                  </a:srgbClr>
                </a:solidFill>
                <a:ea typeface="Carlito" pitchFamily="34" charset="-122"/>
                <a:cs typeface="Carlito" pitchFamily="34" charset="-120"/>
              </a:rPr>
              <a:t>VIT Chennai · M.Tech AI &amp; ML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8606664" y="4982766"/>
            <a:ext cx="42559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7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09 / 09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2484</Words>
  <Application>Microsoft Office PowerPoint</Application>
  <PresentationFormat>On-screen Show (16:9)</PresentationFormat>
  <Paragraphs>662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Carlito</vt:lpstr>
      <vt:lpstr>Courier New</vt:lpstr>
      <vt:lpstr>Frutiger 45 bold</vt:lpstr>
      <vt:lpstr>Frutiger LT Pro 45 Light</vt:lpstr>
      <vt:lpstr>Liberation Sans Narrow</vt:lpstr>
      <vt:lpstr>Segoe UI Symbol</vt:lpstr>
      <vt:lpstr>Tinos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Aniket Patil</cp:lastModifiedBy>
  <cp:revision>7</cp:revision>
  <dcterms:created xsi:type="dcterms:W3CDTF">2026-10-05T02:42:00Z</dcterms:created>
  <dcterms:modified xsi:type="dcterms:W3CDTF">2026-10-12T19:46:21Z</dcterms:modified>
</cp:coreProperties>
</file>