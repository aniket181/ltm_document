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134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2p-fit-1788136814578-mx7h2o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0" y="3429000"/>
            <a:ext cx="9144000" cy="1714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394315"/>
            <a:ext cx="9144000" cy="176397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1500" y="571500"/>
            <a:ext cx="8572500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00" i="1" kern="0" spc="225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ZEROTH REVIEW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3005601" y="849436"/>
            <a:ext cx="2123959" cy="324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sz="2400" kern="0" spc="-28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Zeroth Review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2817251" y="1352843"/>
            <a:ext cx="2700998" cy="291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4A554C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Individual Project Presentation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515229" y="3563871"/>
            <a:ext cx="5353540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1200" i="1" kern="0" spc="141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PRESENTED BY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515229" y="3784731"/>
            <a:ext cx="4521137" cy="1639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1200" b="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Aniket Patil   (25MML1007)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515229" y="4096911"/>
            <a:ext cx="3857625" cy="127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12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M.Tech Artificial Intelligence &amp; Machine Learning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515228" y="4370371"/>
            <a:ext cx="4521137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12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VIT Chennai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4630469" y="3589881"/>
            <a:ext cx="4429125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600" i="1" kern="0" spc="141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PROJECTS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630469" y="3877653"/>
            <a:ext cx="3857625" cy="153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1200" b="1" dirty="0">
                <a:latin typeface="Times New Roman" panose="02020603050405020304" pitchFamily="18" charset="0"/>
                <a:ea typeface="Liberation Sans Narrow" pitchFamily="34" charset="-122"/>
                <a:cs typeface="Times New Roman" panose="02020603050405020304" pitchFamily="18" charset="0"/>
              </a:rPr>
              <a:t>01</a:t>
            </a:r>
            <a:r>
              <a:rPr lang="en-US" sz="12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— Agentic AI-Based Industrial Equipment Health Monitoring and Fault Diagnosis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4630468" y="4370371"/>
            <a:ext cx="3857625" cy="30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3"/>
              </a:lnSpc>
              <a:buNone/>
            </a:pPr>
            <a:r>
              <a:rPr lang="en-US" sz="1200" b="1" dirty="0">
                <a:latin typeface="Times New Roman" panose="02020603050405020304" pitchFamily="18" charset="0"/>
                <a:ea typeface="Liberation Sans Narrow" pitchFamily="34" charset="-122"/>
                <a:cs typeface="Times New Roman" panose="02020603050405020304" pitchFamily="18" charset="0"/>
              </a:rPr>
              <a:t>02</a:t>
            </a:r>
            <a:r>
              <a:rPr lang="en-US" sz="12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— RAG-Based Student Education Opportunity and Scholarship Eligibility Intelligence System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428625" y="4964906"/>
            <a:ext cx="7729091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00" i="1" kern="0" spc="84" dirty="0">
                <a:solidFill>
                  <a:srgbClr val="7A8579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ZEROTH REVIEW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8172004" y="4964906"/>
            <a:ext cx="715875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600" i="1" kern="0" spc="84" dirty="0">
                <a:solidFill>
                  <a:srgbClr val="7A8579"/>
                </a:solidFill>
                <a:latin typeface="Times New Roman" panose="02020603050405020304" pitchFamily="18" charset="0"/>
                <a:ea typeface="Liberation Sans Narrow" pitchFamily="34" charset="-122"/>
                <a:cs typeface="Times New Roman" panose="02020603050405020304" pitchFamily="18" charset="0"/>
              </a:rPr>
              <a:t>SLIDE 1 OF 5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2p-fit-1788136814810-1s8h4p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0" y="3429000"/>
            <a:ext cx="9144000" cy="1714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66707"/>
            <a:ext cx="9144000" cy="26815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8625" y="428625"/>
            <a:ext cx="329012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i="1" dirty="0">
                <a:solidFill>
                  <a:srgbClr val="8C9178"/>
                </a:solidFill>
                <a:latin typeface="Times New Roman" panose="02020603050405020304" pitchFamily="18" charset="0"/>
                <a:ea typeface="Liberation Sans Narrow" pitchFamily="34" charset="-122"/>
                <a:cs typeface="Times New Roman" panose="02020603050405020304" pitchFamily="18" charset="0"/>
              </a:rPr>
              <a:t>Project 01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428625" y="728663"/>
            <a:ext cx="271462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125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Agentic AI-Based Industrial Equipment Health Monitoring and Fault Diagnosis</a:t>
            </a:r>
            <a:endParaRPr lang="en-US" sz="11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428625" y="1185863"/>
            <a:ext cx="571500" cy="7144"/>
          </a:xfrm>
          <a:prstGeom prst="rect">
            <a:avLst/>
          </a:prstGeom>
          <a:solidFill>
            <a:srgbClr val="8C917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"/>
          <p:cNvSpPr/>
          <p:nvPr/>
        </p:nvSpPr>
        <p:spPr>
          <a:xfrm>
            <a:off x="428625" y="1662299"/>
            <a:ext cx="1610804" cy="0"/>
          </a:xfrm>
          <a:prstGeom prst="line">
            <a:avLst/>
          </a:prstGeom>
          <a:noFill/>
          <a:ln w="7144">
            <a:solidFill>
              <a:srgbClr val="8C917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28625" y="1501565"/>
            <a:ext cx="2139550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12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PROBLEM STATEMENT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428625" y="1765884"/>
            <a:ext cx="5286375" cy="325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11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Industrial equipment can develop faults due to abnormal operating conditions, component degradation and unexpected changes in sensor readings.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428625" y="2118606"/>
            <a:ext cx="5286375" cy="325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11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Traditional monitoring systems mainly rely on predefined thresholds and may fail to identify complex fault patterns or determine their root causes.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428625" y="2471329"/>
            <a:ext cx="52863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11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Manual diagnosis requires domain expertise and can increase equipment downtime and maintenance costs.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28625" y="3638848"/>
            <a:ext cx="902791" cy="0"/>
          </a:xfrm>
          <a:prstGeom prst="line">
            <a:avLst/>
          </a:prstGeom>
          <a:noFill/>
          <a:ln w="7144">
            <a:solidFill>
              <a:srgbClr val="8C917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8625" y="3478113"/>
            <a:ext cx="1199133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9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OBJECTIVES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428625" y="3728145"/>
            <a:ext cx="3857625" cy="1120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Continuously monitor industrial equipment health using sensor data.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Detect abnormal equipment behavior and potential faults.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Diagnose possible fault types and identify root causes.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Use Agentic AI to autonomously analyze equipment conditions.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Generate explainable maintenance recommendations.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Support predictive and condition-based maintenance.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4572000" y="3834408"/>
            <a:ext cx="647960" cy="0"/>
          </a:xfrm>
          <a:prstGeom prst="line">
            <a:avLst/>
          </a:prstGeom>
          <a:noFill/>
          <a:ln w="7144">
            <a:solidFill>
              <a:srgbClr val="8C917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572000" y="3673673"/>
            <a:ext cx="930633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9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DATASET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572000" y="3923705"/>
            <a:ext cx="4143375" cy="125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i="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NASA C-MAPSS / Industrial Equipment Sensor Dataset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4572000" y="4080867"/>
            <a:ext cx="4143375" cy="746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Multivariate time-series sensor data from industrial equipment.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Contains operating conditions and sensor measurements over equipment life cycles.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Used for equipment health estimation, anomaly detection and fault diagnosis.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Historical sensor data can be used to simulate real-time equipment monitoring.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428625" y="4964906"/>
            <a:ext cx="6933121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i="1" kern="0" spc="84" dirty="0">
                <a:solidFill>
                  <a:srgbClr val="7A8579"/>
                </a:solidFill>
                <a:latin typeface="Times New Roman" panose="02020603050405020304" pitchFamily="18" charset="0"/>
                <a:ea typeface="Liberation Sans Narrow" pitchFamily="34" charset="-122"/>
                <a:cs typeface="Times New Roman" panose="02020603050405020304" pitchFamily="18" charset="0"/>
              </a:rPr>
              <a:t>PROJECT 01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7376033" y="4964906"/>
            <a:ext cx="1491901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i="1" kern="0" spc="84" dirty="0">
                <a:solidFill>
                  <a:srgbClr val="7A8579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ZEROTH REVIEW · ANIKET PATIL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285750"/>
            <a:ext cx="8636000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00" i="1" kern="0" spc="113" dirty="0">
                <a:solidFill>
                  <a:srgbClr val="8C9178"/>
                </a:solidFill>
                <a:latin typeface="Times New Roman" panose="02020603050405020304" pitchFamily="18" charset="0"/>
                <a:ea typeface="Liberation Sans Narrow" pitchFamily="34" charset="-122"/>
                <a:cs typeface="Times New Roman" panose="02020603050405020304" pitchFamily="18" charset="0"/>
              </a:rPr>
              <a:t>PROJECT 01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28625" y="428625"/>
            <a:ext cx="8286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1013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Agentic AI-Based Industrial Equipment Health Monitoring and Fault Diagnosis</a:t>
            </a:r>
            <a:endParaRPr lang="en-US" sz="1013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28625" y="690910"/>
            <a:ext cx="2028800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9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TECHNOLOGY STACK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784001"/>
              </p:ext>
            </p:extLst>
          </p:nvPr>
        </p:nvGraphicFramePr>
        <p:xfrm>
          <a:off x="396181" y="868361"/>
          <a:ext cx="7638757" cy="2670340"/>
        </p:xfrm>
        <a:graphic>
          <a:graphicData uri="http://schemas.openxmlformats.org/drawingml/2006/table">
            <a:tbl>
              <a:tblPr/>
              <a:tblGrid>
                <a:gridCol w="22916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47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6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DF6EA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Technology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35719" marR="71438" marT="71438" marB="35719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9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DF6EA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Use Case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35719" marR="71438" marT="71438" marB="35719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9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Python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Core development &amp; data processing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9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Pandas / NumPy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Sensor data preprocessing &amp; analysis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89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Scikit-learn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Machine learning &amp; anomaly detection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89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PyTorch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Deep learning / health prediction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89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Time-Series Models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Equipment health &amp; degradation analysis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89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LLM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Fault reasoning &amp; explanation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89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LangGraph / LangChain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Agent orchestration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89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FastAPI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Backend / monitoring APIs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89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Streamlit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Equipment health dashboard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89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PostgreSQL / SQLite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Store sensor &amp; diagnosis results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896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Docker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Application deployment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71438" marT="71438" marB="28575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28625" y="3857255"/>
            <a:ext cx="1540036" cy="0"/>
          </a:xfrm>
          <a:prstGeom prst="line">
            <a:avLst/>
          </a:prstGeom>
          <a:noFill/>
          <a:ln w="7144">
            <a:solidFill>
              <a:srgbClr val="8C917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8625" y="3696520"/>
            <a:ext cx="2045553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9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EXPECTED OUTCOME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98523" y="3954226"/>
            <a:ext cx="3774579" cy="746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Real-time equipment health monitoring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Early anomaly and fault detection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Automated fault diagnosis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Root-cause analysis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Explainable maintenance recommendations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Reduced dependency on manual diagnosis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374654" y="4013002"/>
            <a:ext cx="1119336" cy="0"/>
          </a:xfrm>
          <a:prstGeom prst="line">
            <a:avLst/>
          </a:prstGeom>
          <a:noFill/>
          <a:ln w="7144">
            <a:solidFill>
              <a:srgbClr val="8C917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74654" y="3852267"/>
            <a:ext cx="1486758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9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PROCESS FLOW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351171" y="4116586"/>
            <a:ext cx="60456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Sensor Data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842011" y="4116586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013461" y="4116586"/>
            <a:ext cx="89173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Data Preprocessing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760876" y="4116586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932326" y="4116586"/>
            <a:ext cx="8645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Health Monitoring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6656970" y="4116586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828420" y="4116586"/>
            <a:ext cx="8814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Anomaly Detection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567240" y="4116586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7733600" y="4116586"/>
            <a:ext cx="5094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AI Agents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122444" y="4116586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374654" y="4245173"/>
            <a:ext cx="7175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Fault Diagnosis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4976068" y="4245173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5147518" y="4245173"/>
            <a:ext cx="94087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Root Cause Analysis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36121" y="4245173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6107571" y="4245173"/>
            <a:ext cx="129194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Maintenance Recommendation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428625" y="4964906"/>
            <a:ext cx="6933121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7376033" y="4964906"/>
            <a:ext cx="1491901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i="1" kern="0" spc="84" dirty="0">
                <a:solidFill>
                  <a:srgbClr val="7A8579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ZEROTH REVIEW · ANIKET PATIL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2p-fit-1788136814760-i9j2mj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-7034" y="0"/>
            <a:ext cx="257175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034" y="0"/>
            <a:ext cx="257175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207279" y="3782616"/>
            <a:ext cx="259746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i="1" dirty="0">
                <a:solidFill>
                  <a:srgbClr val="8C9178"/>
                </a:solidFill>
                <a:latin typeface="Times New Roman" panose="02020603050405020304" pitchFamily="18" charset="0"/>
                <a:ea typeface="Liberation Sans Narrow" pitchFamily="34" charset="-122"/>
                <a:cs typeface="Times New Roman" panose="02020603050405020304" pitchFamily="18" charset="0"/>
              </a:rPr>
              <a:t>Project 02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207279" y="4082653"/>
            <a:ext cx="2143125" cy="52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1013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RAG-Based Student Education Opportunity and Scholarship Eligibility Intelligence System</a:t>
            </a:r>
            <a:endParaRPr lang="en-US" sz="1013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207279" y="4650581"/>
            <a:ext cx="571500" cy="7144"/>
          </a:xfrm>
          <a:prstGeom prst="rect">
            <a:avLst/>
          </a:prstGeom>
          <a:solidFill>
            <a:srgbClr val="8C917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"/>
          <p:cNvSpPr/>
          <p:nvPr/>
        </p:nvSpPr>
        <p:spPr>
          <a:xfrm>
            <a:off x="2850466" y="446484"/>
            <a:ext cx="1610804" cy="0"/>
          </a:xfrm>
          <a:prstGeom prst="line">
            <a:avLst/>
          </a:prstGeom>
          <a:noFill/>
          <a:ln w="7144">
            <a:solidFill>
              <a:srgbClr val="8C917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850466" y="285750"/>
            <a:ext cx="2139550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9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PROBLEM STATEMENT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2850466" y="535781"/>
            <a:ext cx="6000750" cy="1560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788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Students often struggle to discover relevant scholarships, internships, fellowships, competitions, certifications and other educational opportunities.</a:t>
            </a:r>
            <a:endParaRPr lang="en-US" sz="78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2804747" y="51851"/>
            <a:ext cx="6000750" cy="1560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221"/>
              </a:lnSpc>
              <a:buNone/>
            </a:pP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2850466" y="902791"/>
            <a:ext cx="6000750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Manually checking eligibility based on academic performance, course, year, category, income requirements and other criteria is time-consuming and error-prone.</a:t>
            </a:r>
          </a:p>
          <a:p>
            <a:pPr>
              <a:lnSpc>
                <a:spcPts val="1221"/>
              </a:lnSpc>
            </a:pP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Eligibility requirements are distributed across multiple websites, notifications and documents.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buNone/>
            </a:pPr>
            <a:endParaRPr lang="en-US" sz="800" dirty="0">
              <a:solidFill>
                <a:srgbClr val="2C3932"/>
              </a:solidFill>
              <a:latin typeface="Times New Roman" panose="02020603050405020304" pitchFamily="18" charset="0"/>
              <a:ea typeface="Tinos" pitchFamily="34" charset="-122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buNone/>
            </a:pPr>
            <a:endParaRPr lang="en-US" sz="800" dirty="0">
              <a:solidFill>
                <a:srgbClr val="2C3932"/>
              </a:solidFill>
              <a:latin typeface="Times New Roman" panose="02020603050405020304" pitchFamily="18" charset="0"/>
              <a:ea typeface="Tinos" pitchFamily="34" charset="-122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buNone/>
            </a:pP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2804747" y="1746133"/>
            <a:ext cx="902791" cy="0"/>
          </a:xfrm>
          <a:prstGeom prst="line">
            <a:avLst/>
          </a:prstGeom>
          <a:noFill/>
          <a:ln w="7144">
            <a:solidFill>
              <a:srgbClr val="8C917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804747" y="1585399"/>
            <a:ext cx="1199133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9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OBJECTIVES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2804747" y="1835430"/>
            <a:ext cx="6000750" cy="9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Build a centralized knowledge system for student opportunities.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Retrieve relevant scholarships and educational opportunities using RAG.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Analyze student profiles against opportunity eligibility criteria.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Identify eligible and potentially eligible opportunities.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Provide explanations for eligibility decisions.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Provide source-based answers with supporting information.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Reduce the time required for students to discover suitable opportunities.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2850466" y="3174608"/>
            <a:ext cx="930633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9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DATASET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2850466" y="3346073"/>
            <a:ext cx="6000750" cy="115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00" b="1" i="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Scholarship, Education Opportunity &amp; Student Information Dataset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2850466" y="3603013"/>
            <a:ext cx="6000750" cy="723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Scholarship and educational opportunity notifications collected from reliable public sources like NSP and UGC.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Includes eligibility criteria, academic requirements, deadlines, benefits and application information.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Opportunity documents can include scholarships, internships, fellowships, competitions and certifications.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Student profile data used to evaluate eligibility against opportunity requirements.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421591" y="4964906"/>
            <a:ext cx="6933121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i="1" kern="0" spc="84" dirty="0">
                <a:solidFill>
                  <a:srgbClr val="7A8579"/>
                </a:solidFill>
                <a:latin typeface="Times New Roman" panose="02020603050405020304" pitchFamily="18" charset="0"/>
                <a:ea typeface="Liberation Sans Narrow" pitchFamily="34" charset="-122"/>
                <a:cs typeface="Times New Roman" panose="02020603050405020304" pitchFamily="18" charset="0"/>
              </a:rPr>
              <a:t>PROJECT 02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7368999" y="4964906"/>
            <a:ext cx="1491901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i="1" kern="0" spc="84" dirty="0">
                <a:solidFill>
                  <a:srgbClr val="7A8579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ZEROTH REVIEW · ANIKET PATIL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2p-fit-1788136815475-0lmxc1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6572250" y="0"/>
            <a:ext cx="257175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0"/>
            <a:ext cx="257175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285750" y="228600"/>
            <a:ext cx="8116764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00" i="1" kern="0" spc="113" dirty="0">
                <a:solidFill>
                  <a:srgbClr val="8C9178"/>
                </a:solidFill>
                <a:latin typeface="Times New Roman" panose="02020603050405020304" pitchFamily="18" charset="0"/>
                <a:ea typeface="Liberation Sans Narrow" pitchFamily="34" charset="-122"/>
                <a:cs typeface="Times New Roman" panose="02020603050405020304" pitchFamily="18" charset="0"/>
              </a:rPr>
              <a:t>PROJECT 02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285750" y="371475"/>
            <a:ext cx="60007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RAG-Based Student Education Opportunity and Scholarship Eligibility Intelligence System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2"/>
          <p:cNvSpPr/>
          <p:nvPr/>
        </p:nvSpPr>
        <p:spPr>
          <a:xfrm>
            <a:off x="285750" y="746522"/>
            <a:ext cx="1527423" cy="0"/>
          </a:xfrm>
          <a:prstGeom prst="line">
            <a:avLst/>
          </a:prstGeom>
          <a:noFill/>
          <a:ln w="7144">
            <a:solidFill>
              <a:srgbClr val="8C9178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85750" y="585788"/>
            <a:ext cx="2028800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9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TECHNOLOGY STACK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2104203"/>
              </p:ext>
            </p:extLst>
          </p:nvPr>
        </p:nvGraphicFramePr>
        <p:xfrm>
          <a:off x="285750" y="835819"/>
          <a:ext cx="6000750" cy="2538176"/>
        </p:xfrm>
        <a:graphic>
          <a:graphicData uri="http://schemas.openxmlformats.org/drawingml/2006/table">
            <a:tbl>
              <a:tblPr/>
              <a:tblGrid>
                <a:gridCol w="19202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0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DF6EA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Technology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64294" marT="64294" marB="28575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9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DF6EA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Use Case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8575" marR="64294" marT="64294" marB="28575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Python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Core development &amp; data processing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Pandas / NumPy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Student &amp; opportunity data processing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LLM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Natural language understanding &amp; reasoning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RAG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Retrieve relevant scholarship/opportunity information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Sentence Transformers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Generate document embeddings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FAISS / ChromaDB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Vector storage &amp; semantic retrieval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LangChain / LangGraph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RAG pipeline &amp; agent orchestration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FastAPI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Backend / recommendation APIs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Streamlit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Student-facing dashboard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PostgreSQL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Store student &amp; opportunity information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Docker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C3932"/>
                          </a:solidFill>
                          <a:latin typeface="Tinos" pitchFamily="34" charset="0"/>
                          <a:ea typeface="Tinos" pitchFamily="34" charset="-122"/>
                          <a:cs typeface="Tinos" pitchFamily="34" charset="-120"/>
                        </a:rPr>
                        <a:t>Application containerization</a:t>
                      </a:r>
                      <a:endParaRPr lang="en-US" sz="800" dirty="0">
                        <a:latin typeface="Tinos" charset="0"/>
                        <a:ea typeface="Tinos" charset="0"/>
                        <a:cs typeface="Tinos" charset="0"/>
                      </a:endParaRPr>
                    </a:p>
                  </a:txBody>
                  <a:tcPr marL="25003" marR="64294" marT="64294" marB="25003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715125" y="389334"/>
            <a:ext cx="1621408" cy="0"/>
          </a:xfrm>
          <a:prstGeom prst="line">
            <a:avLst/>
          </a:prstGeom>
          <a:noFill/>
          <a:ln w="7144">
            <a:solidFill>
              <a:srgbClr val="8C9178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715125" y="228600"/>
            <a:ext cx="2153635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9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EXPECTED OUTCOMES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6"/>
          <p:cNvSpPr/>
          <p:nvPr/>
        </p:nvSpPr>
        <p:spPr>
          <a:xfrm>
            <a:off x="6715125" y="478631"/>
            <a:ext cx="2214563" cy="1120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Personalized opportunity discovery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Scholarship eligibility analysis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Semantic retrieval of relevant opportunities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Explainable eligibility results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Source-grounded recommendations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ts val="1221"/>
              </a:lnSpc>
              <a:spcAft>
                <a:spcPts val="169"/>
              </a:spcAft>
              <a:buNone/>
            </a:pPr>
            <a:r>
              <a:rPr lang="en-US" sz="600" dirty="0">
                <a:solidFill>
                  <a:srgbClr val="8C9178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●  </a:t>
            </a:r>
            <a:r>
              <a:rPr lang="en-US" sz="800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Deadline and requirement awareness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6715125" y="4096941"/>
            <a:ext cx="1119336" cy="0"/>
          </a:xfrm>
          <a:prstGeom prst="line">
            <a:avLst/>
          </a:prstGeom>
          <a:noFill/>
          <a:ln w="7144">
            <a:solidFill>
              <a:srgbClr val="8C9178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715125" y="3936206"/>
            <a:ext cx="1486758" cy="177451"/>
          </a:xfrm>
          <a:prstGeom prst="rect">
            <a:avLst/>
          </a:prstGeom>
          <a:noFill/>
          <a:ln/>
        </p:spPr>
        <p:txBody>
          <a:bodyPr wrap="none" lIns="0" tIns="0" rIns="0" bIns="28575" rtlCol="0" anchor="t"/>
          <a:lstStyle/>
          <a:p>
            <a:pPr marL="0" indent="0" algn="l">
              <a:buNone/>
            </a:pPr>
            <a:r>
              <a:rPr lang="en-US" sz="900" b="1" kern="0" spc="141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PROCESS FLOW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6715125" y="4200525"/>
            <a:ext cx="6985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Student Profile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7300578" y="4200525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7472028" y="4200525"/>
            <a:ext cx="100626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Query Understanding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8315437" y="4200525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694781" y="4329113"/>
            <a:ext cx="730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RAG Retrieval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7292876" y="4329113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7464326" y="4329113"/>
            <a:ext cx="8725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Eligibility Analysis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8195667" y="4329113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6715125" y="4457700"/>
            <a:ext cx="100067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Opportunity Ranking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7553846" y="4457700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7697196" y="4457700"/>
            <a:ext cx="61872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Explanation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8196783" y="4457700"/>
            <a:ext cx="17145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C9178"/>
                </a:solidFill>
                <a:latin typeface="Times New Roman" panose="02020603050405020304" pitchFamily="18" charset="0"/>
                <a:ea typeface="Segoe UI Symbol" pitchFamily="34" charset="-122"/>
                <a:cs typeface="Times New Roman" panose="02020603050405020304" pitchFamily="18" charset="0"/>
              </a:rPr>
              <a:t>→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6715125" y="4586288"/>
            <a:ext cx="122286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75" b="1" kern="0" spc="17" dirty="0">
                <a:solidFill>
                  <a:srgbClr val="2C3932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Recommended Opportunities</a:t>
            </a:r>
            <a:endParaRPr lang="en-US" sz="67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428625" y="4964906"/>
            <a:ext cx="6933121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i="1" kern="0" spc="84" dirty="0">
                <a:solidFill>
                  <a:srgbClr val="7A8579"/>
                </a:solidFill>
                <a:latin typeface="Times New Roman" panose="02020603050405020304" pitchFamily="18" charset="0"/>
                <a:ea typeface="Liberation Sans Narrow" pitchFamily="34" charset="-122"/>
                <a:cs typeface="Times New Roman" panose="02020603050405020304" pitchFamily="18" charset="0"/>
              </a:rPr>
              <a:t>PROJECT 02</a:t>
            </a:r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7376033" y="4964906"/>
            <a:ext cx="1491901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i="1" kern="0" spc="84" dirty="0">
                <a:solidFill>
                  <a:srgbClr val="7A8579"/>
                </a:solidFill>
                <a:latin typeface="Times New Roman" panose="02020603050405020304" pitchFamily="18" charset="0"/>
                <a:ea typeface="Tinos" pitchFamily="34" charset="-122"/>
                <a:cs typeface="Times New Roman" panose="02020603050405020304" pitchFamily="18" charset="0"/>
              </a:rPr>
              <a:t>ZEROTH REVIEW · ANIKET PATIL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727</Words>
  <Application>Microsoft Office PowerPoint</Application>
  <PresentationFormat>On-screen Show (16:9)</PresentationFormat>
  <Paragraphs>162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Times New Roman</vt:lpstr>
      <vt:lpstr>Tinos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Aniket Patil</cp:lastModifiedBy>
  <cp:revision>4</cp:revision>
  <dcterms:created xsi:type="dcterms:W3CDTF">2026-08-31T00:40:15Z</dcterms:created>
  <dcterms:modified xsi:type="dcterms:W3CDTF">2026-08-31T01:24:04Z</dcterms:modified>
</cp:coreProperties>
</file>