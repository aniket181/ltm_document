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14747048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147470490" r:id="rId12"/>
    <p:sldId id="2147470491" r:id="rId13"/>
    <p:sldId id="2147470492" r:id="rId14"/>
    <p:sldId id="2147470493" r:id="rId15"/>
    <p:sldId id="2147470494" r:id="rId16"/>
    <p:sldId id="2147470495" r:id="rId17"/>
    <p:sldId id="2147470496" r:id="rId18"/>
    <p:sldId id="2147470497" r:id="rId19"/>
    <p:sldId id="2147470498" r:id="rId20"/>
    <p:sldId id="265" r:id="rId21"/>
    <p:sldId id="2147470499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9299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1997" y="953415"/>
            <a:ext cx="7968254" cy="33342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1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997" y="472144"/>
            <a:ext cx="7968254" cy="33342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1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578640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23452" y="22303"/>
            <a:ext cx="9190904" cy="5151292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defTabSz="685783">
              <a:defRPr/>
            </a:pPr>
            <a:endParaRPr lang="en-US" sz="1350" dirty="0">
              <a:solidFill>
                <a:prstClr val="white"/>
              </a:solidFill>
              <a:latin typeface="Frutiger LT Pro 45 Light" panose="020B0403030504020204" pitchFamily="34" charset="0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7227" y="13279"/>
            <a:ext cx="5182591" cy="793594"/>
          </a:xfrm>
        </p:spPr>
        <p:txBody>
          <a:bodyPr/>
          <a:lstStyle/>
          <a:p>
            <a:pPr marL="0" indent="0" algn="ctr">
              <a:buNone/>
            </a:pPr>
            <a:r>
              <a:rPr lang="en-US" sz="33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233013" y="840230"/>
            <a:ext cx="43996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3094464" y="883183"/>
            <a:ext cx="2274848" cy="37797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defTabSz="685800">
              <a:lnSpc>
                <a:spcPct val="90000"/>
              </a:lnSpc>
              <a:spcBef>
                <a:spcPts val="750"/>
              </a:spcBef>
              <a:defRPr/>
            </a:pPr>
            <a:r>
              <a:rPr lang="en-US" sz="900" dirty="0">
                <a:solidFill>
                  <a:srgbClr val="595959"/>
                </a:solidFill>
                <a:latin typeface="Frutiger 45 bold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35177" y="1244866"/>
            <a:ext cx="8571138" cy="4885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>
              <a:defRPr/>
            </a:pPr>
            <a:r>
              <a:rPr lang="en-US" sz="2800" b="1" kern="0" spc="28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Review III</a:t>
            </a:r>
            <a:br>
              <a:rPr lang="en-US" sz="2700" b="1" dirty="0">
                <a:solidFill>
                  <a:prstClr val="white"/>
                </a:solidFill>
                <a:cs typeface="Calibri" panose="020F0502020204030204" pitchFamily="34" charset="0"/>
              </a:rPr>
            </a:br>
            <a:br>
              <a:rPr lang="en-US" sz="2700" b="1" dirty="0">
                <a:solidFill>
                  <a:prstClr val="white"/>
                </a:solidFill>
                <a:cs typeface="Calibri" panose="020F0502020204030204" pitchFamily="34" charset="0"/>
              </a:rPr>
            </a:br>
            <a:r>
              <a:rPr lang="en-US" sz="27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algn="ctr">
              <a:defRPr/>
            </a:pPr>
            <a:r>
              <a:rPr lang="en-IN" sz="2700" b="1" dirty="0">
                <a:solidFill>
                  <a:schemeClr val="bg1"/>
                </a:solidFill>
              </a:rPr>
              <a:t>RAG-Based Student Education Opportunity and Scholarship Eligibility Intelligence System </a:t>
            </a:r>
          </a:p>
          <a:p>
            <a:pPr lvl="0" algn="ctr">
              <a:defRPr/>
            </a:pPr>
            <a:endParaRPr lang="en-US" sz="405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Aniket Patil</a:t>
            </a:r>
          </a:p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T10007</a:t>
            </a:r>
          </a:p>
          <a:p>
            <a:pPr lvl="0" algn="ctr">
              <a:defRPr/>
            </a:pPr>
            <a:endParaRPr lang="en-US" sz="405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405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314682"/>
              </p:ext>
            </p:extLst>
          </p:nvPr>
        </p:nvGraphicFramePr>
        <p:xfrm>
          <a:off x="-35468" y="4125933"/>
          <a:ext cx="9179412" cy="2494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89706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4589706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145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303020"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499" y="4389501"/>
            <a:ext cx="1490601" cy="635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EA6B6C-F49C-F24B-B055-7E1142D72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0" y="4500915"/>
            <a:ext cx="2069319" cy="55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4475336" y="75679"/>
            <a:ext cx="444006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788" i="1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RAG-Based Student Education Opportunity and Scholarship Eligibility Intelligence System — Review III</a:t>
            </a:r>
            <a:endParaRPr lang="en-US" sz="788" dirty="0"/>
          </a:p>
        </p:txBody>
      </p:sp>
      <p:sp>
        <p:nvSpPr>
          <p:cNvPr id="11" name="Text 7"/>
          <p:cNvSpPr/>
          <p:nvPr/>
        </p:nvSpPr>
        <p:spPr>
          <a:xfrm>
            <a:off x="4512729" y="4943475"/>
            <a:ext cx="189667" cy="15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28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00050" y="428625"/>
            <a:ext cx="8636000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b="1" kern="0" spc="-17" dirty="0">
                <a:solidFill>
                  <a:srgbClr val="15436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Introduction</a:t>
            </a:r>
            <a:endParaRPr lang="en-US" sz="2025" dirty="0"/>
          </a:p>
        </p:txBody>
      </p:sp>
      <p:sp>
        <p:nvSpPr>
          <p:cNvPr id="13" name="Text 9"/>
          <p:cNvSpPr/>
          <p:nvPr/>
        </p:nvSpPr>
        <p:spPr>
          <a:xfrm>
            <a:off x="400050" y="768623"/>
            <a:ext cx="1571625" cy="21431"/>
          </a:xfrm>
          <a:prstGeom prst="rect">
            <a:avLst/>
          </a:prstGeom>
          <a:solidFill>
            <a:srgbClr val="558B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0050" y="1071563"/>
            <a:ext cx="5006318" cy="390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Scholarship information is fragmented across government documents and portals.</a:t>
            </a:r>
            <a:endParaRPr lang="en-US" sz="1400" dirty="0"/>
          </a:p>
          <a:p>
            <a:pPr marL="0" indent="0" algn="l">
              <a:lnSpc>
                <a:spcPts val="1519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Manual eligibility checking is complex, time-consuming and error-prone.</a:t>
            </a:r>
            <a:endParaRPr lang="en-US" sz="1400" dirty="0"/>
          </a:p>
          <a:p>
            <a:pPr marL="0" indent="0" algn="l">
              <a:lnSpc>
                <a:spcPts val="1519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Students need personalized discovery based on academic, financial and demographic profiles.</a:t>
            </a:r>
            <a:endParaRPr lang="en-US" sz="1400" dirty="0"/>
          </a:p>
          <a:p>
            <a:pPr marL="0" indent="0" algn="l">
              <a:lnSpc>
                <a:spcPts val="1519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RAG grounds AI responses in authoritative scholarship documents.</a:t>
            </a:r>
            <a:endParaRPr lang="en-US" sz="1400" dirty="0"/>
          </a:p>
          <a:p>
            <a:pPr marL="0" indent="0" algn="l">
              <a:lnSpc>
                <a:spcPts val="1519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Eligibility decisions are handled by a deterministic rule-based engine, not the LLM.</a:t>
            </a:r>
            <a:endParaRPr lang="en-US" sz="1400" dirty="0"/>
          </a:p>
          <a:p>
            <a:pPr marL="0" indent="0" algn="l">
              <a:lnSpc>
                <a:spcPts val="1519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The system combines deterministic eligibility, recommendations and source-grounded explanations.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78587" y="1550194"/>
            <a:ext cx="1850231" cy="392906"/>
          </a:xfrm>
          <a:prstGeom prst="roundRect">
            <a:avLst>
              <a:gd name="adj" fmla="val 14545"/>
            </a:avLst>
          </a:prstGeom>
          <a:solidFill>
            <a:srgbClr val="E1F5FE"/>
          </a:solidFill>
          <a:ln w="7144">
            <a:solidFill>
              <a:srgbClr val="00ACC1"/>
            </a:solidFill>
            <a:prstDash val="solid"/>
          </a:ln>
          <a:effectLst>
            <a:outerShdw blurRad="28575" dist="9525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375016" y="1546622"/>
            <a:ext cx="1857375" cy="400050"/>
          </a:xfrm>
          <a:prstGeom prst="rect">
            <a:avLst/>
          </a:prstGeom>
          <a:noFill/>
          <a:ln/>
        </p:spPr>
        <p:txBody>
          <a:bodyPr wrap="none" lIns="100013" tIns="71438" rIns="100013" bIns="71438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12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Student Profile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210834" y="198953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378587" y="2221706"/>
            <a:ext cx="1850231" cy="392906"/>
          </a:xfrm>
          <a:prstGeom prst="roundRect">
            <a:avLst>
              <a:gd name="adj" fmla="val 14545"/>
            </a:avLst>
          </a:prstGeom>
          <a:solidFill>
            <a:srgbClr val="E1F5FE"/>
          </a:solidFill>
          <a:ln w="7144">
            <a:solidFill>
              <a:srgbClr val="00ACC1"/>
            </a:solidFill>
            <a:prstDash val="solid"/>
          </a:ln>
          <a:effectLst>
            <a:outerShdw blurRad="28575" dist="9525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375016" y="2218134"/>
            <a:ext cx="1857375" cy="400050"/>
          </a:xfrm>
          <a:prstGeom prst="rect">
            <a:avLst/>
          </a:prstGeom>
          <a:noFill/>
          <a:ln/>
        </p:spPr>
        <p:txBody>
          <a:bodyPr wrap="none" lIns="100013" tIns="71438" rIns="100013" bIns="71438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12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Scholarship Knowledge Base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210834" y="2661047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378587" y="2893219"/>
            <a:ext cx="1850231" cy="392906"/>
          </a:xfrm>
          <a:prstGeom prst="roundRect">
            <a:avLst>
              <a:gd name="adj" fmla="val 14545"/>
            </a:avLst>
          </a:prstGeom>
          <a:solidFill>
            <a:srgbClr val="E1F5FE"/>
          </a:solidFill>
          <a:ln w="7144">
            <a:solidFill>
              <a:srgbClr val="00ACC1"/>
            </a:solidFill>
            <a:prstDash val="solid"/>
          </a:ln>
          <a:effectLst>
            <a:outerShdw blurRad="28575" dist="9525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375016" y="2889647"/>
            <a:ext cx="1857375" cy="400050"/>
          </a:xfrm>
          <a:prstGeom prst="rect">
            <a:avLst/>
          </a:prstGeom>
          <a:noFill/>
          <a:ln/>
        </p:spPr>
        <p:txBody>
          <a:bodyPr wrap="none" lIns="100013" tIns="71438" rIns="100013" bIns="71438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12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Eligibility + RAG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210834" y="333255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378587" y="3564731"/>
            <a:ext cx="1850231" cy="392906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 w="7144">
            <a:solidFill>
              <a:srgbClr val="558B2F"/>
            </a:solidFill>
            <a:prstDash val="solid"/>
          </a:ln>
          <a:effectLst>
            <a:outerShdw blurRad="28575" dist="9525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375016" y="3561159"/>
            <a:ext cx="1857375" cy="400050"/>
          </a:xfrm>
          <a:prstGeom prst="rect">
            <a:avLst/>
          </a:prstGeom>
          <a:noFill/>
          <a:ln/>
        </p:spPr>
        <p:txBody>
          <a:bodyPr wrap="none" lIns="100013" tIns="71438" rIns="100013" bIns="71438" rtlCol="0" anchor="ctr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12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Personalized Opportunities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757729" y="4061222"/>
            <a:ext cx="1091949" cy="14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kern="0" spc="23" dirty="0">
                <a:solidFill>
                  <a:srgbClr val="5C6BC0"/>
                </a:solidFill>
                <a:ea typeface="Liberation Sans" pitchFamily="34" charset="-122"/>
                <a:cs typeface="Liberation Sans" pitchFamily="34" charset="-120"/>
              </a:rPr>
              <a:t>Conceptual end-to-end flow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1075134"/>
            <a:ext cx="4121944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" name="Shape 1"/>
          <p:cNvSpPr/>
          <p:nvPr/>
        </p:nvSpPr>
        <p:spPr>
          <a:xfrm>
            <a:off x="4518422" y="1071563"/>
            <a:ext cx="0" cy="1123913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4" name="Shape 2"/>
          <p:cNvSpPr/>
          <p:nvPr/>
        </p:nvSpPr>
        <p:spPr>
          <a:xfrm>
            <a:off x="400050" y="2191903"/>
            <a:ext cx="4121944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" name="Shape 3"/>
          <p:cNvSpPr/>
          <p:nvPr/>
        </p:nvSpPr>
        <p:spPr>
          <a:xfrm>
            <a:off x="414338" y="1071563"/>
            <a:ext cx="0" cy="1123913"/>
          </a:xfrm>
          <a:prstGeom prst="line">
            <a:avLst/>
          </a:prstGeom>
          <a:noFill/>
          <a:ln w="28575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" name="Shape 4"/>
          <p:cNvSpPr/>
          <p:nvPr/>
        </p:nvSpPr>
        <p:spPr>
          <a:xfrm>
            <a:off x="4622006" y="1075134"/>
            <a:ext cx="4121944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7" name="Shape 5"/>
          <p:cNvSpPr/>
          <p:nvPr/>
        </p:nvSpPr>
        <p:spPr>
          <a:xfrm>
            <a:off x="8740378" y="1071563"/>
            <a:ext cx="0" cy="1123913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8" name="Shape 6"/>
          <p:cNvSpPr/>
          <p:nvPr/>
        </p:nvSpPr>
        <p:spPr>
          <a:xfrm>
            <a:off x="4622006" y="2191903"/>
            <a:ext cx="4121944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9" name="Shape 7"/>
          <p:cNvSpPr/>
          <p:nvPr/>
        </p:nvSpPr>
        <p:spPr>
          <a:xfrm>
            <a:off x="4636294" y="1071563"/>
            <a:ext cx="0" cy="1123913"/>
          </a:xfrm>
          <a:prstGeom prst="line">
            <a:avLst/>
          </a:prstGeom>
          <a:noFill/>
          <a:ln w="28575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0" name="Shape 8"/>
          <p:cNvSpPr/>
          <p:nvPr/>
        </p:nvSpPr>
        <p:spPr>
          <a:xfrm>
            <a:off x="400050" y="2299060"/>
            <a:ext cx="4121944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1" name="Shape 9"/>
          <p:cNvSpPr/>
          <p:nvPr/>
        </p:nvSpPr>
        <p:spPr>
          <a:xfrm>
            <a:off x="4518422" y="2295488"/>
            <a:ext cx="0" cy="1123913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2" name="Shape 10"/>
          <p:cNvSpPr/>
          <p:nvPr/>
        </p:nvSpPr>
        <p:spPr>
          <a:xfrm>
            <a:off x="400050" y="3415829"/>
            <a:ext cx="4121944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3" name="Shape 11"/>
          <p:cNvSpPr/>
          <p:nvPr/>
        </p:nvSpPr>
        <p:spPr>
          <a:xfrm>
            <a:off x="414338" y="2295488"/>
            <a:ext cx="0" cy="1123913"/>
          </a:xfrm>
          <a:prstGeom prst="line">
            <a:avLst/>
          </a:prstGeom>
          <a:noFill/>
          <a:ln w="28575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4" name="Shape 12"/>
          <p:cNvSpPr/>
          <p:nvPr/>
        </p:nvSpPr>
        <p:spPr>
          <a:xfrm>
            <a:off x="4622006" y="2299060"/>
            <a:ext cx="4121944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5" name="Shape 13"/>
          <p:cNvSpPr/>
          <p:nvPr/>
        </p:nvSpPr>
        <p:spPr>
          <a:xfrm>
            <a:off x="8740378" y="2295488"/>
            <a:ext cx="0" cy="1123913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6" name="Shape 14"/>
          <p:cNvSpPr/>
          <p:nvPr/>
        </p:nvSpPr>
        <p:spPr>
          <a:xfrm>
            <a:off x="4622006" y="3415829"/>
            <a:ext cx="4121944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7" name="Shape 15"/>
          <p:cNvSpPr/>
          <p:nvPr/>
        </p:nvSpPr>
        <p:spPr>
          <a:xfrm>
            <a:off x="4636294" y="2295488"/>
            <a:ext cx="0" cy="1123913"/>
          </a:xfrm>
          <a:prstGeom prst="line">
            <a:avLst/>
          </a:prstGeom>
          <a:noFill/>
          <a:ln w="28575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8" name="Shape 16"/>
          <p:cNvSpPr/>
          <p:nvPr/>
        </p:nvSpPr>
        <p:spPr>
          <a:xfrm>
            <a:off x="400050" y="3522985"/>
            <a:ext cx="4121944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9" name="Shape 17"/>
          <p:cNvSpPr/>
          <p:nvPr/>
        </p:nvSpPr>
        <p:spPr>
          <a:xfrm>
            <a:off x="4518422" y="3519413"/>
            <a:ext cx="0" cy="1123913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0" name="Shape 18"/>
          <p:cNvSpPr/>
          <p:nvPr/>
        </p:nvSpPr>
        <p:spPr>
          <a:xfrm>
            <a:off x="400050" y="4639754"/>
            <a:ext cx="4121944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1" name="Shape 19"/>
          <p:cNvSpPr/>
          <p:nvPr/>
        </p:nvSpPr>
        <p:spPr>
          <a:xfrm>
            <a:off x="414338" y="3519413"/>
            <a:ext cx="0" cy="1123913"/>
          </a:xfrm>
          <a:prstGeom prst="line">
            <a:avLst/>
          </a:prstGeom>
          <a:noFill/>
          <a:ln w="28575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2" name="Shape 20"/>
          <p:cNvSpPr/>
          <p:nvPr/>
        </p:nvSpPr>
        <p:spPr>
          <a:xfrm>
            <a:off x="4622006" y="3522985"/>
            <a:ext cx="4121944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3" name="Shape 21"/>
          <p:cNvSpPr/>
          <p:nvPr/>
        </p:nvSpPr>
        <p:spPr>
          <a:xfrm>
            <a:off x="8740378" y="3519413"/>
            <a:ext cx="0" cy="1123913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4" name="Shape 22"/>
          <p:cNvSpPr/>
          <p:nvPr/>
        </p:nvSpPr>
        <p:spPr>
          <a:xfrm>
            <a:off x="4622006" y="4639754"/>
            <a:ext cx="4121944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5" name="Shape 23"/>
          <p:cNvSpPr/>
          <p:nvPr/>
        </p:nvSpPr>
        <p:spPr>
          <a:xfrm>
            <a:off x="4636294" y="3519413"/>
            <a:ext cx="0" cy="1123913"/>
          </a:xfrm>
          <a:prstGeom prst="line">
            <a:avLst/>
          </a:prstGeom>
          <a:noFill/>
          <a:ln w="28575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71463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475336" y="75679"/>
            <a:ext cx="444006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788" i="1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RAG-Based Student Education Opportunity and Scholarship Eligibility Intelligence System — Review III</a:t>
            </a:r>
            <a:endParaRPr lang="en-US" sz="788" dirty="0"/>
          </a:p>
        </p:txBody>
      </p:sp>
      <p:sp>
        <p:nvSpPr>
          <p:cNvPr id="35" name="Text 31"/>
          <p:cNvSpPr/>
          <p:nvPr/>
        </p:nvSpPr>
        <p:spPr>
          <a:xfrm>
            <a:off x="4512729" y="4943475"/>
            <a:ext cx="189667" cy="15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kern="0" spc="28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400050" y="428625"/>
            <a:ext cx="8636000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b="1" kern="0" spc="-17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Objective</a:t>
            </a:r>
            <a:endParaRPr lang="en-US" sz="2025" dirty="0"/>
          </a:p>
        </p:txBody>
      </p:sp>
      <p:sp>
        <p:nvSpPr>
          <p:cNvPr id="37" name="Text 33"/>
          <p:cNvSpPr/>
          <p:nvPr/>
        </p:nvSpPr>
        <p:spPr>
          <a:xfrm>
            <a:off x="400050" y="768623"/>
            <a:ext cx="1571625" cy="21431"/>
          </a:xfrm>
          <a:prstGeom prst="rect">
            <a:avLst/>
          </a:prstGeom>
          <a:solidFill>
            <a:srgbClr val="558B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00050" y="1071563"/>
            <a:ext cx="4121944" cy="1123913"/>
          </a:xfrm>
          <a:prstGeom prst="roundRect">
            <a:avLst>
              <a:gd name="adj" fmla="val 6780"/>
            </a:avLst>
          </a:prstGeom>
          <a:solidFill>
            <a:srgbClr val="F7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528638" y="1164431"/>
            <a:ext cx="171450" cy="171450"/>
          </a:xfrm>
          <a:prstGeom prst="ellipse">
            <a:avLst/>
          </a:prstGeom>
          <a:solidFill>
            <a:srgbClr val="1543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0" name="Text 36"/>
          <p:cNvSpPr/>
          <p:nvPr/>
        </p:nvSpPr>
        <p:spPr>
          <a:xfrm>
            <a:off x="542925" y="1164431"/>
            <a:ext cx="1571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814388" y="1193006"/>
            <a:ext cx="3695891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Centralized Intelligence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814388" y="1372939"/>
            <a:ext cx="3586163" cy="29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Build a centralized scholarship intelligence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 system using official, authoritative data sources.</a:t>
            </a:r>
            <a:endParaRPr lang="en-US" sz="1400" dirty="0"/>
          </a:p>
        </p:txBody>
      </p:sp>
      <p:sp>
        <p:nvSpPr>
          <p:cNvPr id="43" name="Text 39"/>
          <p:cNvSpPr/>
          <p:nvPr/>
        </p:nvSpPr>
        <p:spPr>
          <a:xfrm>
            <a:off x="4622006" y="1071563"/>
            <a:ext cx="4121944" cy="1123913"/>
          </a:xfrm>
          <a:prstGeom prst="roundRect">
            <a:avLst>
              <a:gd name="adj" fmla="val 6780"/>
            </a:avLst>
          </a:prstGeom>
          <a:solidFill>
            <a:srgbClr val="F7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4750594" y="1164431"/>
            <a:ext cx="171450" cy="171450"/>
          </a:xfrm>
          <a:prstGeom prst="ellipse">
            <a:avLst/>
          </a:prstGeom>
          <a:solidFill>
            <a:srgbClr val="1543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4764881" y="1164431"/>
            <a:ext cx="1571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5036344" y="1193006"/>
            <a:ext cx="3586163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Profile Modeling</a:t>
            </a:r>
            <a:endParaRPr lang="en-US" sz="1400" dirty="0"/>
          </a:p>
        </p:txBody>
      </p:sp>
      <p:sp>
        <p:nvSpPr>
          <p:cNvPr id="47" name="Text 43"/>
          <p:cNvSpPr/>
          <p:nvPr/>
        </p:nvSpPr>
        <p:spPr>
          <a:xfrm>
            <a:off x="5036344" y="1372939"/>
            <a:ext cx="3586163" cy="14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Accurately model student profiles and evaluate multi-dimensional eligibility criteria.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400050" y="2295488"/>
            <a:ext cx="4121944" cy="1123913"/>
          </a:xfrm>
          <a:prstGeom prst="roundRect">
            <a:avLst>
              <a:gd name="adj" fmla="val 6780"/>
            </a:avLst>
          </a:prstGeom>
          <a:solidFill>
            <a:srgbClr val="F7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9" name="Text 45"/>
          <p:cNvSpPr/>
          <p:nvPr/>
        </p:nvSpPr>
        <p:spPr>
          <a:xfrm>
            <a:off x="528638" y="2388357"/>
            <a:ext cx="171450" cy="171450"/>
          </a:xfrm>
          <a:prstGeom prst="ellipse">
            <a:avLst/>
          </a:prstGeom>
          <a:solidFill>
            <a:srgbClr val="1543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0" name="Text 46"/>
          <p:cNvSpPr/>
          <p:nvPr/>
        </p:nvSpPr>
        <p:spPr>
          <a:xfrm>
            <a:off x="542925" y="2388357"/>
            <a:ext cx="1571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814388" y="2416932"/>
            <a:ext cx="3695891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Deterministic Eligibility</a:t>
            </a:r>
            <a:endParaRPr lang="en-US" sz="1400" dirty="0"/>
          </a:p>
        </p:txBody>
      </p:sp>
      <p:sp>
        <p:nvSpPr>
          <p:cNvPr id="52" name="Text 48"/>
          <p:cNvSpPr/>
          <p:nvPr/>
        </p:nvSpPr>
        <p:spPr>
          <a:xfrm>
            <a:off x="814388" y="2596865"/>
            <a:ext cx="3586163" cy="14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Apply a deterministic rule-based evaluation engine to guarantee accurate matching.</a:t>
            </a:r>
            <a:endParaRPr lang="en-US" sz="1400" dirty="0"/>
          </a:p>
        </p:txBody>
      </p:sp>
      <p:sp>
        <p:nvSpPr>
          <p:cNvPr id="53" name="Text 49"/>
          <p:cNvSpPr/>
          <p:nvPr/>
        </p:nvSpPr>
        <p:spPr>
          <a:xfrm>
            <a:off x="4622006" y="2295488"/>
            <a:ext cx="4121944" cy="1123913"/>
          </a:xfrm>
          <a:prstGeom prst="roundRect">
            <a:avLst>
              <a:gd name="adj" fmla="val 6780"/>
            </a:avLst>
          </a:prstGeom>
          <a:solidFill>
            <a:srgbClr val="F7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4" name="Text 50"/>
          <p:cNvSpPr/>
          <p:nvPr/>
        </p:nvSpPr>
        <p:spPr>
          <a:xfrm>
            <a:off x="4750594" y="2388357"/>
            <a:ext cx="171450" cy="171450"/>
          </a:xfrm>
          <a:prstGeom prst="ellipse">
            <a:avLst/>
          </a:prstGeom>
          <a:solidFill>
            <a:srgbClr val="1543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4764881" y="2388357"/>
            <a:ext cx="1571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400" dirty="0"/>
          </a:p>
        </p:txBody>
      </p:sp>
      <p:sp>
        <p:nvSpPr>
          <p:cNvPr id="56" name="Text 52"/>
          <p:cNvSpPr/>
          <p:nvPr/>
        </p:nvSpPr>
        <p:spPr>
          <a:xfrm>
            <a:off x="5036344" y="2416932"/>
            <a:ext cx="3586163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Hybrid Retrieval + RAG</a:t>
            </a:r>
            <a:endParaRPr lang="en-US" sz="1400" dirty="0"/>
          </a:p>
        </p:txBody>
      </p:sp>
      <p:sp>
        <p:nvSpPr>
          <p:cNvPr id="57" name="Text 53"/>
          <p:cNvSpPr/>
          <p:nvPr/>
        </p:nvSpPr>
        <p:spPr>
          <a:xfrm>
            <a:off x="5036344" y="2596865"/>
            <a:ext cx="3586163" cy="29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Implement hybrid retrieval (Semantic + BM25 with RRF) for precise context retrieval from official documents.</a:t>
            </a:r>
            <a:endParaRPr lang="en-US" sz="1400" dirty="0"/>
          </a:p>
        </p:txBody>
      </p:sp>
      <p:sp>
        <p:nvSpPr>
          <p:cNvPr id="58" name="Text 54"/>
          <p:cNvSpPr/>
          <p:nvPr/>
        </p:nvSpPr>
        <p:spPr>
          <a:xfrm>
            <a:off x="400050" y="3519413"/>
            <a:ext cx="4121944" cy="1123913"/>
          </a:xfrm>
          <a:prstGeom prst="roundRect">
            <a:avLst>
              <a:gd name="adj" fmla="val 6780"/>
            </a:avLst>
          </a:prstGeom>
          <a:solidFill>
            <a:srgbClr val="F7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9" name="Text 55"/>
          <p:cNvSpPr/>
          <p:nvPr/>
        </p:nvSpPr>
        <p:spPr>
          <a:xfrm>
            <a:off x="528638" y="3612282"/>
            <a:ext cx="171450" cy="171450"/>
          </a:xfrm>
          <a:prstGeom prst="ellipse">
            <a:avLst/>
          </a:prstGeom>
          <a:solidFill>
            <a:srgbClr val="1543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0" name="Text 56"/>
          <p:cNvSpPr/>
          <p:nvPr/>
        </p:nvSpPr>
        <p:spPr>
          <a:xfrm>
            <a:off x="542925" y="3612282"/>
            <a:ext cx="1571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400" dirty="0"/>
          </a:p>
        </p:txBody>
      </p:sp>
      <p:sp>
        <p:nvSpPr>
          <p:cNvPr id="61" name="Text 57"/>
          <p:cNvSpPr/>
          <p:nvPr/>
        </p:nvSpPr>
        <p:spPr>
          <a:xfrm>
            <a:off x="814388" y="3640857"/>
            <a:ext cx="3695891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Personalized Recommendations</a:t>
            </a:r>
            <a:endParaRPr lang="en-US" sz="1400" dirty="0"/>
          </a:p>
        </p:txBody>
      </p:sp>
      <p:sp>
        <p:nvSpPr>
          <p:cNvPr id="62" name="Text 58"/>
          <p:cNvSpPr/>
          <p:nvPr/>
        </p:nvSpPr>
        <p:spPr>
          <a:xfrm>
            <a:off x="814388" y="3820790"/>
            <a:ext cx="3586163" cy="29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Generate personalized scholarship recommendations using a multi-factor ranking engine.</a:t>
            </a:r>
            <a:endParaRPr lang="en-US" sz="1400" dirty="0"/>
          </a:p>
        </p:txBody>
      </p:sp>
      <p:sp>
        <p:nvSpPr>
          <p:cNvPr id="63" name="Text 59"/>
          <p:cNvSpPr/>
          <p:nvPr/>
        </p:nvSpPr>
        <p:spPr>
          <a:xfrm>
            <a:off x="4622006" y="3519413"/>
            <a:ext cx="4121944" cy="1123913"/>
          </a:xfrm>
          <a:prstGeom prst="roundRect">
            <a:avLst>
              <a:gd name="adj" fmla="val 6780"/>
            </a:avLst>
          </a:prstGeom>
          <a:solidFill>
            <a:srgbClr val="F7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4" name="Text 60"/>
          <p:cNvSpPr/>
          <p:nvPr/>
        </p:nvSpPr>
        <p:spPr>
          <a:xfrm>
            <a:off x="4750594" y="3612282"/>
            <a:ext cx="171450" cy="171450"/>
          </a:xfrm>
          <a:prstGeom prst="ellipse">
            <a:avLst/>
          </a:prstGeom>
          <a:solidFill>
            <a:srgbClr val="1543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4764881" y="3612282"/>
            <a:ext cx="1571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400" dirty="0"/>
          </a:p>
        </p:txBody>
      </p:sp>
      <p:sp>
        <p:nvSpPr>
          <p:cNvPr id="66" name="Text 62"/>
          <p:cNvSpPr/>
          <p:nvPr/>
        </p:nvSpPr>
        <p:spPr>
          <a:xfrm>
            <a:off x="5036344" y="3640857"/>
            <a:ext cx="3586163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Grounded Explanations</a:t>
            </a:r>
            <a:endParaRPr lang="en-US" sz="1400" dirty="0"/>
          </a:p>
        </p:txBody>
      </p:sp>
      <p:sp>
        <p:nvSpPr>
          <p:cNvPr id="67" name="Text 63"/>
          <p:cNvSpPr/>
          <p:nvPr/>
        </p:nvSpPr>
        <p:spPr>
          <a:xfrm>
            <a:off x="5036344" y="3820790"/>
            <a:ext cx="3586163" cy="29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Provide grounded natural-language explanations with strict source attribution via a conversational AI Assistant.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1075134"/>
            <a:ext cx="201096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" name="Shape 1"/>
          <p:cNvSpPr/>
          <p:nvPr/>
        </p:nvSpPr>
        <p:spPr>
          <a:xfrm>
            <a:off x="2407444" y="1071563"/>
            <a:ext cx="0" cy="1601651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4" name="Shape 2"/>
          <p:cNvSpPr/>
          <p:nvPr/>
        </p:nvSpPr>
        <p:spPr>
          <a:xfrm>
            <a:off x="400050" y="2669642"/>
            <a:ext cx="201096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5" name="Shape 3"/>
          <p:cNvSpPr/>
          <p:nvPr/>
        </p:nvSpPr>
        <p:spPr>
          <a:xfrm>
            <a:off x="410766" y="1071563"/>
            <a:ext cx="0" cy="1601651"/>
          </a:xfrm>
          <a:prstGeom prst="line">
            <a:avLst/>
          </a:prstGeom>
          <a:noFill/>
          <a:ln w="21431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6" name="Shape 4"/>
          <p:cNvSpPr/>
          <p:nvPr/>
        </p:nvSpPr>
        <p:spPr>
          <a:xfrm>
            <a:off x="2511028" y="1075134"/>
            <a:ext cx="201096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7" name="Shape 5"/>
          <p:cNvSpPr/>
          <p:nvPr/>
        </p:nvSpPr>
        <p:spPr>
          <a:xfrm>
            <a:off x="4518422" y="1071563"/>
            <a:ext cx="0" cy="1601651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8" name="Shape 6"/>
          <p:cNvSpPr/>
          <p:nvPr/>
        </p:nvSpPr>
        <p:spPr>
          <a:xfrm>
            <a:off x="2511028" y="2669642"/>
            <a:ext cx="201096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9" name="Shape 7"/>
          <p:cNvSpPr/>
          <p:nvPr/>
        </p:nvSpPr>
        <p:spPr>
          <a:xfrm>
            <a:off x="2521744" y="1071563"/>
            <a:ext cx="0" cy="1601651"/>
          </a:xfrm>
          <a:prstGeom prst="line">
            <a:avLst/>
          </a:prstGeom>
          <a:noFill/>
          <a:ln w="21431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0" name="Shape 8"/>
          <p:cNvSpPr/>
          <p:nvPr/>
        </p:nvSpPr>
        <p:spPr>
          <a:xfrm>
            <a:off x="4622006" y="1075134"/>
            <a:ext cx="201096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1" name="Shape 9"/>
          <p:cNvSpPr/>
          <p:nvPr/>
        </p:nvSpPr>
        <p:spPr>
          <a:xfrm>
            <a:off x="6629400" y="1071563"/>
            <a:ext cx="0" cy="1601651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2" name="Shape 10"/>
          <p:cNvSpPr/>
          <p:nvPr/>
        </p:nvSpPr>
        <p:spPr>
          <a:xfrm>
            <a:off x="4622006" y="2669642"/>
            <a:ext cx="201096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3" name="Shape 11"/>
          <p:cNvSpPr/>
          <p:nvPr/>
        </p:nvSpPr>
        <p:spPr>
          <a:xfrm>
            <a:off x="4632722" y="1071563"/>
            <a:ext cx="0" cy="1601651"/>
          </a:xfrm>
          <a:prstGeom prst="line">
            <a:avLst/>
          </a:prstGeom>
          <a:noFill/>
          <a:ln w="21431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4" name="Shape 12"/>
          <p:cNvSpPr/>
          <p:nvPr/>
        </p:nvSpPr>
        <p:spPr>
          <a:xfrm>
            <a:off x="6732984" y="1075134"/>
            <a:ext cx="201096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5" name="Shape 13"/>
          <p:cNvSpPr/>
          <p:nvPr/>
        </p:nvSpPr>
        <p:spPr>
          <a:xfrm>
            <a:off x="8740378" y="1071563"/>
            <a:ext cx="0" cy="1601651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6" name="Shape 14"/>
          <p:cNvSpPr/>
          <p:nvPr/>
        </p:nvSpPr>
        <p:spPr>
          <a:xfrm>
            <a:off x="6732984" y="2669642"/>
            <a:ext cx="201096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7" name="Shape 15"/>
          <p:cNvSpPr/>
          <p:nvPr/>
        </p:nvSpPr>
        <p:spPr>
          <a:xfrm>
            <a:off x="6743700" y="1071563"/>
            <a:ext cx="0" cy="1601651"/>
          </a:xfrm>
          <a:prstGeom prst="line">
            <a:avLst/>
          </a:prstGeom>
          <a:noFill/>
          <a:ln w="21431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8" name="Shape 16"/>
          <p:cNvSpPr/>
          <p:nvPr/>
        </p:nvSpPr>
        <p:spPr>
          <a:xfrm>
            <a:off x="400050" y="2776798"/>
            <a:ext cx="201096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9" name="Shape 17"/>
          <p:cNvSpPr/>
          <p:nvPr/>
        </p:nvSpPr>
        <p:spPr>
          <a:xfrm>
            <a:off x="2407444" y="2773226"/>
            <a:ext cx="0" cy="1601651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0" name="Shape 18"/>
          <p:cNvSpPr/>
          <p:nvPr/>
        </p:nvSpPr>
        <p:spPr>
          <a:xfrm>
            <a:off x="400050" y="4371305"/>
            <a:ext cx="201096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1" name="Shape 19"/>
          <p:cNvSpPr/>
          <p:nvPr/>
        </p:nvSpPr>
        <p:spPr>
          <a:xfrm>
            <a:off x="410766" y="2773226"/>
            <a:ext cx="0" cy="1601651"/>
          </a:xfrm>
          <a:prstGeom prst="line">
            <a:avLst/>
          </a:prstGeom>
          <a:noFill/>
          <a:ln w="21431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2" name="Shape 20"/>
          <p:cNvSpPr/>
          <p:nvPr/>
        </p:nvSpPr>
        <p:spPr>
          <a:xfrm>
            <a:off x="2511028" y="2776798"/>
            <a:ext cx="201096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3" name="Shape 21"/>
          <p:cNvSpPr/>
          <p:nvPr/>
        </p:nvSpPr>
        <p:spPr>
          <a:xfrm>
            <a:off x="4518422" y="2773226"/>
            <a:ext cx="0" cy="1601651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4" name="Shape 22"/>
          <p:cNvSpPr/>
          <p:nvPr/>
        </p:nvSpPr>
        <p:spPr>
          <a:xfrm>
            <a:off x="2511028" y="4371305"/>
            <a:ext cx="201096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5" name="Shape 23"/>
          <p:cNvSpPr/>
          <p:nvPr/>
        </p:nvSpPr>
        <p:spPr>
          <a:xfrm>
            <a:off x="2521744" y="2773226"/>
            <a:ext cx="0" cy="1601651"/>
          </a:xfrm>
          <a:prstGeom prst="line">
            <a:avLst/>
          </a:prstGeom>
          <a:noFill/>
          <a:ln w="21431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6" name="Shape 24"/>
          <p:cNvSpPr/>
          <p:nvPr/>
        </p:nvSpPr>
        <p:spPr>
          <a:xfrm>
            <a:off x="4622006" y="2776798"/>
            <a:ext cx="201096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7" name="Shape 25"/>
          <p:cNvSpPr/>
          <p:nvPr/>
        </p:nvSpPr>
        <p:spPr>
          <a:xfrm>
            <a:off x="6629400" y="2773226"/>
            <a:ext cx="0" cy="1601651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8" name="Shape 26"/>
          <p:cNvSpPr/>
          <p:nvPr/>
        </p:nvSpPr>
        <p:spPr>
          <a:xfrm>
            <a:off x="4622006" y="4371305"/>
            <a:ext cx="201096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9" name="Shape 27"/>
          <p:cNvSpPr/>
          <p:nvPr/>
        </p:nvSpPr>
        <p:spPr>
          <a:xfrm>
            <a:off x="4632722" y="2773226"/>
            <a:ext cx="0" cy="1601651"/>
          </a:xfrm>
          <a:prstGeom prst="line">
            <a:avLst/>
          </a:prstGeom>
          <a:noFill/>
          <a:ln w="21431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0" name="Shape 28"/>
          <p:cNvSpPr/>
          <p:nvPr/>
        </p:nvSpPr>
        <p:spPr>
          <a:xfrm>
            <a:off x="6732984" y="2776798"/>
            <a:ext cx="201096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1" name="Shape 29"/>
          <p:cNvSpPr/>
          <p:nvPr/>
        </p:nvSpPr>
        <p:spPr>
          <a:xfrm>
            <a:off x="8740378" y="2773226"/>
            <a:ext cx="0" cy="1601651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2" name="Shape 30"/>
          <p:cNvSpPr/>
          <p:nvPr/>
        </p:nvSpPr>
        <p:spPr>
          <a:xfrm>
            <a:off x="6732984" y="4371305"/>
            <a:ext cx="201096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3" name="Shape 31"/>
          <p:cNvSpPr/>
          <p:nvPr/>
        </p:nvSpPr>
        <p:spPr>
          <a:xfrm>
            <a:off x="6743700" y="2773226"/>
            <a:ext cx="0" cy="1601651"/>
          </a:xfrm>
          <a:prstGeom prst="line">
            <a:avLst/>
          </a:prstGeom>
          <a:noFill/>
          <a:ln w="21431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7" name="Text 33"/>
          <p:cNvSpPr/>
          <p:nvPr/>
        </p:nvSpPr>
        <p:spPr>
          <a:xfrm>
            <a:off x="4475336" y="75679"/>
            <a:ext cx="444006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788" i="1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RAG-Based Student Education Opportunity and Scholarship Eligibility Intelligence System — Review III</a:t>
            </a:r>
            <a:endParaRPr lang="en-US" sz="788" dirty="0"/>
          </a:p>
        </p:txBody>
      </p:sp>
      <p:sp>
        <p:nvSpPr>
          <p:cNvPr id="42" name="Text 38"/>
          <p:cNvSpPr/>
          <p:nvPr/>
        </p:nvSpPr>
        <p:spPr>
          <a:xfrm>
            <a:off x="8224477" y="4914900"/>
            <a:ext cx="919523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56" dirty="0"/>
          </a:p>
        </p:txBody>
      </p:sp>
      <p:sp>
        <p:nvSpPr>
          <p:cNvPr id="43" name="Text 39"/>
          <p:cNvSpPr/>
          <p:nvPr/>
        </p:nvSpPr>
        <p:spPr>
          <a:xfrm>
            <a:off x="4512729" y="4943475"/>
            <a:ext cx="189667" cy="15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00050" y="428625"/>
            <a:ext cx="8636000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b="1" kern="0" spc="-17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Modules</a:t>
            </a:r>
            <a:endParaRPr lang="en-US" sz="2025" dirty="0"/>
          </a:p>
        </p:txBody>
      </p:sp>
      <p:sp>
        <p:nvSpPr>
          <p:cNvPr id="45" name="Text 41"/>
          <p:cNvSpPr/>
          <p:nvPr/>
        </p:nvSpPr>
        <p:spPr>
          <a:xfrm>
            <a:off x="400050" y="768623"/>
            <a:ext cx="1571625" cy="21431"/>
          </a:xfrm>
          <a:prstGeom prst="rect">
            <a:avLst/>
          </a:prstGeom>
          <a:solidFill>
            <a:srgbClr val="558B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400050" y="1071563"/>
            <a:ext cx="2010966" cy="1601651"/>
          </a:xfrm>
          <a:prstGeom prst="roundRect">
            <a:avLst>
              <a:gd name="adj" fmla="val 3568"/>
            </a:avLst>
          </a:prstGeom>
          <a:solidFill>
            <a:srgbClr val="F7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7" name="Text 43"/>
          <p:cNvSpPr/>
          <p:nvPr/>
        </p:nvSpPr>
        <p:spPr>
          <a:xfrm>
            <a:off x="507206" y="1164431"/>
            <a:ext cx="185738" cy="185738"/>
          </a:xfrm>
          <a:prstGeom prst="roundRect">
            <a:avLst>
              <a:gd name="adj" fmla="val 25641"/>
            </a:avLst>
          </a:prstGeom>
          <a:solidFill>
            <a:srgbClr val="1543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8" name="Text 44"/>
          <p:cNvSpPr/>
          <p:nvPr/>
        </p:nvSpPr>
        <p:spPr>
          <a:xfrm>
            <a:off x="507206" y="1164431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600" dirty="0"/>
          </a:p>
        </p:txBody>
      </p:sp>
      <p:sp>
        <p:nvSpPr>
          <p:cNvPr id="49" name="Text 45"/>
          <p:cNvSpPr/>
          <p:nvPr/>
        </p:nvSpPr>
        <p:spPr>
          <a:xfrm>
            <a:off x="507206" y="1421606"/>
            <a:ext cx="1919597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Student Profile Management</a:t>
            </a:r>
            <a:endParaRPr lang="en-US" sz="1600" dirty="0"/>
          </a:p>
        </p:txBody>
      </p:sp>
      <p:sp>
        <p:nvSpPr>
          <p:cNvPr id="50" name="Text 46"/>
          <p:cNvSpPr/>
          <p:nvPr/>
        </p:nvSpPr>
        <p:spPr>
          <a:xfrm>
            <a:off x="494991" y="1993395"/>
            <a:ext cx="1919597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838F"/>
                </a:solidFill>
                <a:ea typeface="Liberation Sans" pitchFamily="34" charset="-122"/>
                <a:cs typeface="Liberation Sans" pitchFamily="34" charset="-120"/>
              </a:rPr>
              <a:t>localStorage · Local Demo Mode</a:t>
            </a:r>
            <a:endParaRPr lang="en-US" sz="1600" dirty="0"/>
          </a:p>
        </p:txBody>
      </p:sp>
      <p:sp>
        <p:nvSpPr>
          <p:cNvPr id="51" name="Text 47"/>
          <p:cNvSpPr/>
          <p:nvPr/>
        </p:nvSpPr>
        <p:spPr>
          <a:xfrm>
            <a:off x="2511028" y="1071563"/>
            <a:ext cx="2010966" cy="1601651"/>
          </a:xfrm>
          <a:prstGeom prst="roundRect">
            <a:avLst>
              <a:gd name="adj" fmla="val 3568"/>
            </a:avLst>
          </a:prstGeom>
          <a:solidFill>
            <a:srgbClr val="F7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2" name="Text 48"/>
          <p:cNvSpPr/>
          <p:nvPr/>
        </p:nvSpPr>
        <p:spPr>
          <a:xfrm>
            <a:off x="2618184" y="1164431"/>
            <a:ext cx="185738" cy="185738"/>
          </a:xfrm>
          <a:prstGeom prst="roundRect">
            <a:avLst>
              <a:gd name="adj" fmla="val 25641"/>
            </a:avLst>
          </a:prstGeom>
          <a:solidFill>
            <a:srgbClr val="1543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3" name="Text 49"/>
          <p:cNvSpPr/>
          <p:nvPr/>
        </p:nvSpPr>
        <p:spPr>
          <a:xfrm>
            <a:off x="2618184" y="1164431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Text 50"/>
          <p:cNvSpPr/>
          <p:nvPr/>
        </p:nvSpPr>
        <p:spPr>
          <a:xfrm>
            <a:off x="2618184" y="1421606"/>
            <a:ext cx="181094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Opportunity Management</a:t>
            </a:r>
            <a:endParaRPr lang="en-US" sz="1600" dirty="0"/>
          </a:p>
        </p:txBody>
      </p:sp>
      <p:sp>
        <p:nvSpPr>
          <p:cNvPr id="55" name="Text 51"/>
          <p:cNvSpPr/>
          <p:nvPr/>
        </p:nvSpPr>
        <p:spPr>
          <a:xfrm>
            <a:off x="2628901" y="1943597"/>
            <a:ext cx="1919597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PostgreSQL relational storage</a:t>
            </a:r>
            <a:endParaRPr lang="en-US" sz="1600" dirty="0"/>
          </a:p>
        </p:txBody>
      </p:sp>
      <p:sp>
        <p:nvSpPr>
          <p:cNvPr id="56" name="Text 52"/>
          <p:cNvSpPr/>
          <p:nvPr/>
        </p:nvSpPr>
        <p:spPr>
          <a:xfrm>
            <a:off x="4622006" y="1071563"/>
            <a:ext cx="2010966" cy="1601651"/>
          </a:xfrm>
          <a:prstGeom prst="roundRect">
            <a:avLst>
              <a:gd name="adj" fmla="val 3568"/>
            </a:avLst>
          </a:prstGeom>
          <a:solidFill>
            <a:srgbClr val="F7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7" name="Text 53"/>
          <p:cNvSpPr/>
          <p:nvPr/>
        </p:nvSpPr>
        <p:spPr>
          <a:xfrm>
            <a:off x="4729163" y="1164431"/>
            <a:ext cx="185738" cy="185738"/>
          </a:xfrm>
          <a:prstGeom prst="roundRect">
            <a:avLst>
              <a:gd name="adj" fmla="val 25641"/>
            </a:avLst>
          </a:prstGeom>
          <a:solidFill>
            <a:srgbClr val="1543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8" name="Text 54"/>
          <p:cNvSpPr/>
          <p:nvPr/>
        </p:nvSpPr>
        <p:spPr>
          <a:xfrm>
            <a:off x="4729163" y="1164431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Text 55"/>
          <p:cNvSpPr/>
          <p:nvPr/>
        </p:nvSpPr>
        <p:spPr>
          <a:xfrm>
            <a:off x="4729163" y="1421606"/>
            <a:ext cx="1919597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Document Ingestion &amp; Provenance</a:t>
            </a:r>
            <a:endParaRPr lang="en-US" sz="1600" dirty="0"/>
          </a:p>
        </p:txBody>
      </p:sp>
      <p:sp>
        <p:nvSpPr>
          <p:cNvPr id="60" name="Text 56"/>
          <p:cNvSpPr/>
          <p:nvPr/>
        </p:nvSpPr>
        <p:spPr>
          <a:xfrm>
            <a:off x="4716947" y="1952086"/>
            <a:ext cx="1919597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838F"/>
                </a:solidFill>
                <a:ea typeface="Liberation Sans" pitchFamily="34" charset="-122"/>
                <a:cs typeface="Liberation Sans" pitchFamily="34" charset="-120"/>
              </a:rPr>
              <a:t>Validation · Chunking · Metadata</a:t>
            </a:r>
            <a:endParaRPr lang="en-US" sz="1600" dirty="0"/>
          </a:p>
        </p:txBody>
      </p:sp>
      <p:sp>
        <p:nvSpPr>
          <p:cNvPr id="61" name="Text 57"/>
          <p:cNvSpPr/>
          <p:nvPr/>
        </p:nvSpPr>
        <p:spPr>
          <a:xfrm>
            <a:off x="6732984" y="1071563"/>
            <a:ext cx="2010966" cy="1601651"/>
          </a:xfrm>
          <a:prstGeom prst="roundRect">
            <a:avLst>
              <a:gd name="adj" fmla="val 3568"/>
            </a:avLst>
          </a:prstGeom>
          <a:solidFill>
            <a:srgbClr val="F7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2" name="Text 58"/>
          <p:cNvSpPr/>
          <p:nvPr/>
        </p:nvSpPr>
        <p:spPr>
          <a:xfrm>
            <a:off x="6840141" y="1164431"/>
            <a:ext cx="185738" cy="185738"/>
          </a:xfrm>
          <a:prstGeom prst="roundRect">
            <a:avLst>
              <a:gd name="adj" fmla="val 25641"/>
            </a:avLst>
          </a:prstGeom>
          <a:solidFill>
            <a:srgbClr val="1543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3" name="Text 59"/>
          <p:cNvSpPr/>
          <p:nvPr/>
        </p:nvSpPr>
        <p:spPr>
          <a:xfrm>
            <a:off x="6840141" y="1164431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600" dirty="0"/>
          </a:p>
        </p:txBody>
      </p:sp>
      <p:sp>
        <p:nvSpPr>
          <p:cNvPr id="64" name="Text 60"/>
          <p:cNvSpPr/>
          <p:nvPr/>
        </p:nvSpPr>
        <p:spPr>
          <a:xfrm>
            <a:off x="6840141" y="1421606"/>
            <a:ext cx="1919597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Hybrid Retrieval &amp; Vector Search</a:t>
            </a:r>
            <a:endParaRPr lang="en-US" sz="1600" dirty="0"/>
          </a:p>
        </p:txBody>
      </p:sp>
      <p:sp>
        <p:nvSpPr>
          <p:cNvPr id="65" name="Text 61"/>
          <p:cNvSpPr/>
          <p:nvPr/>
        </p:nvSpPr>
        <p:spPr>
          <a:xfrm>
            <a:off x="6815137" y="2016959"/>
            <a:ext cx="1810941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58B2F"/>
                </a:solidFill>
                <a:ea typeface="Liberation Sans Narrow" pitchFamily="34" charset="-122"/>
                <a:cs typeface="Liberation Sans Narrow" pitchFamily="34" charset="-120"/>
              </a:rPr>
              <a:t>pgvector · BGE ·</a:t>
            </a:r>
            <a:br>
              <a:rPr lang="en-US" sz="1600" dirty="0">
                <a:solidFill>
                  <a:srgbClr val="558B2F"/>
                </a:solidFill>
                <a:ea typeface="Liberation Sans Narrow" pitchFamily="34" charset="-122"/>
                <a:cs typeface="Liberation Sans Narrow" pitchFamily="34" charset="-120"/>
              </a:rPr>
            </a:br>
            <a:r>
              <a:rPr lang="en-US" sz="1600" dirty="0">
                <a:solidFill>
                  <a:srgbClr val="558B2F"/>
                </a:solidFill>
                <a:ea typeface="Liberation Sans Narrow" pitchFamily="34" charset="-122"/>
                <a:cs typeface="Liberation Sans Narrow" pitchFamily="34" charset="-120"/>
              </a:rPr>
              <a:t> BM25 · RRF</a:t>
            </a:r>
            <a:endParaRPr lang="en-US" sz="1600" dirty="0"/>
          </a:p>
        </p:txBody>
      </p:sp>
      <p:sp>
        <p:nvSpPr>
          <p:cNvPr id="66" name="Text 62"/>
          <p:cNvSpPr/>
          <p:nvPr/>
        </p:nvSpPr>
        <p:spPr>
          <a:xfrm>
            <a:off x="400050" y="2773226"/>
            <a:ext cx="2010966" cy="1601651"/>
          </a:xfrm>
          <a:prstGeom prst="roundRect">
            <a:avLst>
              <a:gd name="adj" fmla="val 3568"/>
            </a:avLst>
          </a:prstGeom>
          <a:solidFill>
            <a:srgbClr val="F7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7" name="Text 63"/>
          <p:cNvSpPr/>
          <p:nvPr/>
        </p:nvSpPr>
        <p:spPr>
          <a:xfrm>
            <a:off x="507206" y="2866095"/>
            <a:ext cx="185738" cy="185738"/>
          </a:xfrm>
          <a:prstGeom prst="roundRect">
            <a:avLst>
              <a:gd name="adj" fmla="val 25641"/>
            </a:avLst>
          </a:prstGeom>
          <a:solidFill>
            <a:srgbClr val="1543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8" name="Text 64"/>
          <p:cNvSpPr/>
          <p:nvPr/>
        </p:nvSpPr>
        <p:spPr>
          <a:xfrm>
            <a:off x="507206" y="286609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600" dirty="0"/>
          </a:p>
        </p:txBody>
      </p:sp>
      <p:sp>
        <p:nvSpPr>
          <p:cNvPr id="69" name="Text 65"/>
          <p:cNvSpPr/>
          <p:nvPr/>
        </p:nvSpPr>
        <p:spPr>
          <a:xfrm>
            <a:off x="507206" y="3123270"/>
            <a:ext cx="1919597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Deterministic Eligibility Engine</a:t>
            </a:r>
            <a:endParaRPr lang="en-US" sz="1600" dirty="0"/>
          </a:p>
        </p:txBody>
      </p:sp>
      <p:sp>
        <p:nvSpPr>
          <p:cNvPr id="70" name="Text 66"/>
          <p:cNvSpPr/>
          <p:nvPr/>
        </p:nvSpPr>
        <p:spPr>
          <a:xfrm>
            <a:off x="494991" y="3739563"/>
            <a:ext cx="1919597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838F"/>
                </a:solidFill>
                <a:ea typeface="Liberation Sans" pitchFamily="34" charset="-122"/>
                <a:cs typeface="Liberation Sans" pitchFamily="34" charset="-120"/>
              </a:rPr>
              <a:t>Rule-based criteria evaluation</a:t>
            </a:r>
            <a:endParaRPr lang="en-US" sz="1600" dirty="0"/>
          </a:p>
        </p:txBody>
      </p:sp>
      <p:sp>
        <p:nvSpPr>
          <p:cNvPr id="71" name="Text 67"/>
          <p:cNvSpPr/>
          <p:nvPr/>
        </p:nvSpPr>
        <p:spPr>
          <a:xfrm>
            <a:off x="2511028" y="2773226"/>
            <a:ext cx="2010966" cy="1601651"/>
          </a:xfrm>
          <a:prstGeom prst="roundRect">
            <a:avLst>
              <a:gd name="adj" fmla="val 3568"/>
            </a:avLst>
          </a:prstGeom>
          <a:solidFill>
            <a:srgbClr val="F7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2" name="Text 68"/>
          <p:cNvSpPr/>
          <p:nvPr/>
        </p:nvSpPr>
        <p:spPr>
          <a:xfrm>
            <a:off x="2618184" y="2866095"/>
            <a:ext cx="185738" cy="185738"/>
          </a:xfrm>
          <a:prstGeom prst="roundRect">
            <a:avLst>
              <a:gd name="adj" fmla="val 25641"/>
            </a:avLst>
          </a:prstGeom>
          <a:solidFill>
            <a:srgbClr val="1543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3" name="Text 69"/>
          <p:cNvSpPr/>
          <p:nvPr/>
        </p:nvSpPr>
        <p:spPr>
          <a:xfrm>
            <a:off x="2618184" y="286609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600" dirty="0"/>
          </a:p>
        </p:txBody>
      </p:sp>
      <p:sp>
        <p:nvSpPr>
          <p:cNvPr id="74" name="Text 70"/>
          <p:cNvSpPr/>
          <p:nvPr/>
        </p:nvSpPr>
        <p:spPr>
          <a:xfrm>
            <a:off x="2618184" y="3123270"/>
            <a:ext cx="181094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Recommendation </a:t>
            </a:r>
            <a:br>
              <a:rPr lang="en-US" sz="1600" b="1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</a:br>
            <a:r>
              <a:rPr lang="en-US" sz="1600" b="1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Engine</a:t>
            </a:r>
            <a:endParaRPr lang="en-US" sz="1600" dirty="0"/>
          </a:p>
        </p:txBody>
      </p:sp>
      <p:sp>
        <p:nvSpPr>
          <p:cNvPr id="75" name="Text 71"/>
          <p:cNvSpPr/>
          <p:nvPr/>
        </p:nvSpPr>
        <p:spPr>
          <a:xfrm>
            <a:off x="2593181" y="3585445"/>
            <a:ext cx="1810941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Multi-factor scoring (deadline, academic, financial, demographic)</a:t>
            </a:r>
            <a:endParaRPr lang="en-US" sz="1600" dirty="0"/>
          </a:p>
        </p:txBody>
      </p:sp>
      <p:sp>
        <p:nvSpPr>
          <p:cNvPr id="76" name="Text 72"/>
          <p:cNvSpPr/>
          <p:nvPr/>
        </p:nvSpPr>
        <p:spPr>
          <a:xfrm>
            <a:off x="4622006" y="2773226"/>
            <a:ext cx="2010966" cy="1601651"/>
          </a:xfrm>
          <a:prstGeom prst="roundRect">
            <a:avLst>
              <a:gd name="adj" fmla="val 3568"/>
            </a:avLst>
          </a:prstGeom>
          <a:solidFill>
            <a:srgbClr val="F7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7" name="Text 73"/>
          <p:cNvSpPr/>
          <p:nvPr/>
        </p:nvSpPr>
        <p:spPr>
          <a:xfrm>
            <a:off x="4729163" y="2866095"/>
            <a:ext cx="185738" cy="185738"/>
          </a:xfrm>
          <a:prstGeom prst="roundRect">
            <a:avLst>
              <a:gd name="adj" fmla="val 25641"/>
            </a:avLst>
          </a:prstGeom>
          <a:solidFill>
            <a:srgbClr val="1543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8" name="Text 74"/>
          <p:cNvSpPr/>
          <p:nvPr/>
        </p:nvSpPr>
        <p:spPr>
          <a:xfrm>
            <a:off x="4729163" y="286609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1600" dirty="0"/>
          </a:p>
        </p:txBody>
      </p:sp>
      <p:sp>
        <p:nvSpPr>
          <p:cNvPr id="79" name="Text 75"/>
          <p:cNvSpPr/>
          <p:nvPr/>
        </p:nvSpPr>
        <p:spPr>
          <a:xfrm>
            <a:off x="4729163" y="3123270"/>
            <a:ext cx="181094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RAG-based AI Assistant</a:t>
            </a:r>
            <a:endParaRPr lang="en-US" sz="1600" dirty="0"/>
          </a:p>
        </p:txBody>
      </p:sp>
      <p:sp>
        <p:nvSpPr>
          <p:cNvPr id="80" name="Text 76"/>
          <p:cNvSpPr/>
          <p:nvPr/>
        </p:nvSpPr>
        <p:spPr>
          <a:xfrm>
            <a:off x="4736307" y="3455300"/>
            <a:ext cx="1919597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838F"/>
                </a:solidFill>
                <a:ea typeface="Liberation Sans Narrow" pitchFamily="34" charset="-122"/>
                <a:cs typeface="Liberation Sans Narrow" pitchFamily="34" charset="-120"/>
              </a:rPr>
              <a:t>Llama 3.2 conversational generation</a:t>
            </a:r>
            <a:endParaRPr lang="en-US" sz="1600" dirty="0"/>
          </a:p>
        </p:txBody>
      </p:sp>
      <p:sp>
        <p:nvSpPr>
          <p:cNvPr id="81" name="Text 77"/>
          <p:cNvSpPr/>
          <p:nvPr/>
        </p:nvSpPr>
        <p:spPr>
          <a:xfrm>
            <a:off x="6732984" y="2773226"/>
            <a:ext cx="2010966" cy="1601651"/>
          </a:xfrm>
          <a:prstGeom prst="roundRect">
            <a:avLst>
              <a:gd name="adj" fmla="val 3568"/>
            </a:avLst>
          </a:prstGeom>
          <a:solidFill>
            <a:srgbClr val="F7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2" name="Text 78"/>
          <p:cNvSpPr/>
          <p:nvPr/>
        </p:nvSpPr>
        <p:spPr>
          <a:xfrm>
            <a:off x="6840141" y="2866095"/>
            <a:ext cx="185738" cy="185738"/>
          </a:xfrm>
          <a:prstGeom prst="roundRect">
            <a:avLst>
              <a:gd name="adj" fmla="val 25641"/>
            </a:avLst>
          </a:prstGeom>
          <a:solidFill>
            <a:srgbClr val="1543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3" name="Text 79"/>
          <p:cNvSpPr/>
          <p:nvPr/>
        </p:nvSpPr>
        <p:spPr>
          <a:xfrm>
            <a:off x="6840141" y="2866095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600" dirty="0"/>
          </a:p>
        </p:txBody>
      </p:sp>
      <p:sp>
        <p:nvSpPr>
          <p:cNvPr id="84" name="Text 80"/>
          <p:cNvSpPr/>
          <p:nvPr/>
        </p:nvSpPr>
        <p:spPr>
          <a:xfrm>
            <a:off x="6840141" y="3123270"/>
            <a:ext cx="1919597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Source Attribution &amp; Dashboard</a:t>
            </a:r>
            <a:endParaRPr lang="en-US" sz="1600" dirty="0"/>
          </a:p>
        </p:txBody>
      </p:sp>
      <p:sp>
        <p:nvSpPr>
          <p:cNvPr id="85" name="Text 81"/>
          <p:cNvSpPr/>
          <p:nvPr/>
        </p:nvSpPr>
        <p:spPr>
          <a:xfrm>
            <a:off x="6820781" y="3745330"/>
            <a:ext cx="1919597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Next.js personalized interface</a:t>
            </a:r>
            <a:endParaRPr lang="en-US" sz="1600" dirty="0"/>
          </a:p>
        </p:txBody>
      </p:sp>
      <p:sp>
        <p:nvSpPr>
          <p:cNvPr id="86" name="Text 82"/>
          <p:cNvSpPr/>
          <p:nvPr/>
        </p:nvSpPr>
        <p:spPr>
          <a:xfrm>
            <a:off x="400050" y="4474890"/>
            <a:ext cx="8343900" cy="215741"/>
          </a:xfrm>
          <a:prstGeom prst="rect">
            <a:avLst/>
          </a:prstGeom>
          <a:noFill/>
          <a:ln/>
        </p:spPr>
        <p:txBody>
          <a:bodyPr wrap="square" lIns="57150" tIns="28575" rIns="57150" bIns="28575" rtlCol="0" anchor="t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273449" y="1719553"/>
            <a:ext cx="3569084" cy="0"/>
          </a:xfrm>
          <a:prstGeom prst="line">
            <a:avLst/>
          </a:prstGeom>
          <a:noFill/>
          <a:ln w="7144">
            <a:solidFill>
              <a:srgbClr val="B0BEC5"/>
            </a:solidFill>
            <a:prstDash val="dash"/>
          </a:ln>
        </p:spPr>
        <p:txBody>
          <a:bodyPr/>
          <a:lstStyle/>
          <a:p>
            <a:endParaRPr lang="en-IN" sz="1400"/>
          </a:p>
        </p:txBody>
      </p:sp>
      <p:sp>
        <p:nvSpPr>
          <p:cNvPr id="7" name="Shape 5"/>
          <p:cNvSpPr/>
          <p:nvPr/>
        </p:nvSpPr>
        <p:spPr>
          <a:xfrm>
            <a:off x="5273449" y="1823137"/>
            <a:ext cx="3569084" cy="0"/>
          </a:xfrm>
          <a:prstGeom prst="line">
            <a:avLst/>
          </a:prstGeom>
          <a:noFill/>
          <a:ln w="28575">
            <a:solidFill>
              <a:srgbClr val="558B2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8" name="Shape 6"/>
          <p:cNvSpPr/>
          <p:nvPr/>
        </p:nvSpPr>
        <p:spPr>
          <a:xfrm>
            <a:off x="8838961" y="1808850"/>
            <a:ext cx="0" cy="185291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9" name="Shape 7"/>
          <p:cNvSpPr/>
          <p:nvPr/>
        </p:nvSpPr>
        <p:spPr>
          <a:xfrm>
            <a:off x="5273449" y="3658188"/>
            <a:ext cx="3569084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0" name="Shape 8"/>
          <p:cNvSpPr/>
          <p:nvPr/>
        </p:nvSpPr>
        <p:spPr>
          <a:xfrm>
            <a:off x="5277020" y="1808850"/>
            <a:ext cx="0" cy="185291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4" name="Text 10"/>
          <p:cNvSpPr/>
          <p:nvPr/>
        </p:nvSpPr>
        <p:spPr>
          <a:xfrm>
            <a:off x="4475336" y="75679"/>
            <a:ext cx="444006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788" i="1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RAG-Based Student Education Opportunity and Scholarship Eligibility Intelligence System — Review III</a:t>
            </a:r>
            <a:endParaRPr lang="en-US" sz="788" dirty="0"/>
          </a:p>
        </p:txBody>
      </p:sp>
      <p:sp>
        <p:nvSpPr>
          <p:cNvPr id="21" name="Text 17"/>
          <p:cNvSpPr/>
          <p:nvPr/>
        </p:nvSpPr>
        <p:spPr>
          <a:xfrm>
            <a:off x="400050" y="428625"/>
            <a:ext cx="8636000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b="1" kern="0" spc="-17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Problem Statement</a:t>
            </a:r>
            <a:endParaRPr lang="en-US" sz="2025" dirty="0"/>
          </a:p>
        </p:txBody>
      </p:sp>
      <p:sp>
        <p:nvSpPr>
          <p:cNvPr id="22" name="Text 18"/>
          <p:cNvSpPr/>
          <p:nvPr/>
        </p:nvSpPr>
        <p:spPr>
          <a:xfrm>
            <a:off x="400050" y="768623"/>
            <a:ext cx="1571625" cy="21431"/>
          </a:xfrm>
          <a:prstGeom prst="rect">
            <a:avLst/>
          </a:prstGeom>
          <a:solidFill>
            <a:srgbClr val="558B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01467" y="865375"/>
            <a:ext cx="4531928" cy="2129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31"/>
              </a:spcAft>
              <a:buNone/>
            </a:pPr>
            <a:r>
              <a:rPr lang="en-US" sz="16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6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Scholarship information is distributed across multiple official documents and portals.</a:t>
            </a:r>
            <a:endParaRPr lang="en-US" sz="1600" dirty="0"/>
          </a:p>
          <a:p>
            <a:pPr marL="0" indent="0" algn="l">
              <a:spcAft>
                <a:spcPts val="731"/>
              </a:spcAft>
              <a:buNone/>
            </a:pPr>
            <a:r>
              <a:rPr lang="en-US" sz="16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6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Eligibility conditions involve multiple academic, financial and demographic criteria.</a:t>
            </a:r>
            <a:endParaRPr lang="en-US" sz="1600" dirty="0"/>
          </a:p>
          <a:p>
            <a:pPr marL="0" indent="0" algn="l">
              <a:spcAft>
                <a:spcPts val="731"/>
              </a:spcAft>
              <a:buNone/>
            </a:pPr>
            <a:r>
              <a:rPr lang="en-US" sz="16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6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Manual comparison of these conditions is difficult for students.</a:t>
            </a:r>
            <a:endParaRPr lang="en-US" sz="1600" dirty="0"/>
          </a:p>
          <a:p>
            <a:pPr marL="0" indent="0" algn="l">
              <a:spcAft>
                <a:spcPts val="731"/>
              </a:spcAft>
              <a:buNone/>
            </a:pPr>
            <a:r>
              <a:rPr lang="en-US" sz="16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6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Generic keyword search does not provide personalized eligibility reasoning.</a:t>
            </a:r>
            <a:endParaRPr lang="en-US" sz="1600" dirty="0"/>
          </a:p>
          <a:p>
            <a:pPr marL="0" indent="0" algn="l">
              <a:spcAft>
                <a:spcPts val="731"/>
              </a:spcAft>
              <a:buNone/>
            </a:pPr>
            <a:r>
              <a:rPr lang="en-US" sz="16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6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LLM-only eligibility decisions may produce unreliable or hallucinated rules.</a:t>
            </a:r>
            <a:endParaRPr lang="en-US" sz="1600" dirty="0"/>
          </a:p>
          <a:p>
            <a:pPr marL="0" indent="0" algn="l">
              <a:spcAft>
                <a:spcPts val="731"/>
              </a:spcAft>
              <a:buNone/>
            </a:pPr>
            <a:r>
              <a:rPr lang="en-US" sz="16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6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A trustworthy system must combine deterministic eligibility with source-grounded AI explanations.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5273449" y="1808850"/>
            <a:ext cx="3569084" cy="1852910"/>
          </a:xfrm>
          <a:prstGeom prst="roundRect">
            <a:avLst>
              <a:gd name="adj" fmla="val 4112"/>
            </a:avLst>
          </a:prstGeom>
          <a:solidFill>
            <a:srgbClr val="F8F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5377874" y="1930294"/>
            <a:ext cx="63020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5398464" y="2155322"/>
            <a:ext cx="3319053" cy="204267"/>
          </a:xfrm>
          <a:prstGeom prst="roundRect">
            <a:avLst>
              <a:gd name="adj" fmla="val 23315"/>
            </a:avLst>
          </a:prstGeom>
          <a:solidFill>
            <a:srgbClr val="E8F5E9"/>
          </a:solidFill>
          <a:ln w="7144">
            <a:solidFill>
              <a:srgbClr val="558B2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5394892" y="2183661"/>
            <a:ext cx="3326197" cy="1982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877"/>
              </a:lnSpc>
              <a:buNone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Student Profile</a:t>
            </a:r>
            <a:endParaRPr lang="en-US" sz="1400" dirty="0"/>
          </a:p>
        </p:txBody>
      </p:sp>
      <p:sp>
        <p:nvSpPr>
          <p:cNvPr id="40" name="Text 36"/>
          <p:cNvSpPr/>
          <p:nvPr/>
        </p:nvSpPr>
        <p:spPr>
          <a:xfrm>
            <a:off x="5394892" y="2377448"/>
            <a:ext cx="332619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5398464" y="2552470"/>
            <a:ext cx="3319053" cy="204267"/>
          </a:xfrm>
          <a:prstGeom prst="roundRect">
            <a:avLst>
              <a:gd name="adj" fmla="val 23315"/>
            </a:avLst>
          </a:prstGeom>
          <a:solidFill>
            <a:srgbClr val="E8F5E9"/>
          </a:solidFill>
          <a:ln w="7144">
            <a:solidFill>
              <a:srgbClr val="558B2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5398464" y="2560162"/>
            <a:ext cx="3326197" cy="198266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>
            <a:noAutofit/>
          </a:bodyPr>
          <a:lstStyle/>
          <a:p>
            <a:pPr marL="0" indent="0" algn="ctr">
              <a:lnSpc>
                <a:spcPts val="877"/>
              </a:lnSpc>
              <a:buNone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Deterministic Eligibility</a:t>
            </a:r>
            <a:endParaRPr lang="en-US" sz="1400" dirty="0"/>
          </a:p>
        </p:txBody>
      </p:sp>
      <p:sp>
        <p:nvSpPr>
          <p:cNvPr id="43" name="Text 39"/>
          <p:cNvSpPr/>
          <p:nvPr/>
        </p:nvSpPr>
        <p:spPr>
          <a:xfrm>
            <a:off x="5394892" y="2774596"/>
            <a:ext cx="332619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5398464" y="2949618"/>
            <a:ext cx="3319053" cy="204267"/>
          </a:xfrm>
          <a:prstGeom prst="roundRect">
            <a:avLst>
              <a:gd name="adj" fmla="val 23315"/>
            </a:avLst>
          </a:prstGeom>
          <a:solidFill>
            <a:srgbClr val="E8F5E9"/>
          </a:solidFill>
          <a:ln w="7144">
            <a:solidFill>
              <a:srgbClr val="558B2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5394892" y="2988314"/>
            <a:ext cx="3326197" cy="1982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877"/>
              </a:lnSpc>
              <a:buNone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RAG Explanation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5394892" y="3171744"/>
            <a:ext cx="332619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400" dirty="0"/>
          </a:p>
        </p:txBody>
      </p:sp>
      <p:sp>
        <p:nvSpPr>
          <p:cNvPr id="47" name="Text 43"/>
          <p:cNvSpPr/>
          <p:nvPr/>
        </p:nvSpPr>
        <p:spPr>
          <a:xfrm>
            <a:off x="5398464" y="3346765"/>
            <a:ext cx="3319053" cy="204267"/>
          </a:xfrm>
          <a:prstGeom prst="roundRect">
            <a:avLst>
              <a:gd name="adj" fmla="val 23315"/>
            </a:avLst>
          </a:prstGeom>
          <a:solidFill>
            <a:srgbClr val="E8F5E9"/>
          </a:solidFill>
          <a:ln w="7144">
            <a:solidFill>
              <a:srgbClr val="558B2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5394892" y="3373131"/>
            <a:ext cx="3326197" cy="211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77"/>
              </a:lnSpc>
              <a:buNone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Official Evidence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4475336" y="75679"/>
            <a:ext cx="444006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788" i="1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RAG-Based Student Education Opportunity and Scholarship Eligibility Intelligence System — Review III</a:t>
            </a:r>
            <a:endParaRPr lang="en-US" sz="788" dirty="0"/>
          </a:p>
        </p:txBody>
      </p:sp>
      <p:sp>
        <p:nvSpPr>
          <p:cNvPr id="13" name="Text 9"/>
          <p:cNvSpPr/>
          <p:nvPr/>
        </p:nvSpPr>
        <p:spPr>
          <a:xfrm>
            <a:off x="400050" y="428625"/>
            <a:ext cx="8636000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b="1" kern="0" spc="-17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Methodology</a:t>
            </a:r>
            <a:endParaRPr lang="en-US" sz="2025" dirty="0"/>
          </a:p>
        </p:txBody>
      </p:sp>
      <p:sp>
        <p:nvSpPr>
          <p:cNvPr id="14" name="Text 10"/>
          <p:cNvSpPr/>
          <p:nvPr/>
        </p:nvSpPr>
        <p:spPr>
          <a:xfrm>
            <a:off x="400050" y="768623"/>
            <a:ext cx="1571625" cy="21431"/>
          </a:xfrm>
          <a:prstGeom prst="rect">
            <a:avLst/>
          </a:prstGeom>
          <a:solidFill>
            <a:srgbClr val="558B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77738" y="1182884"/>
            <a:ext cx="954546" cy="529892"/>
          </a:xfrm>
          <a:prstGeom prst="roundRect">
            <a:avLst>
              <a:gd name="adj" fmla="val 10458"/>
            </a:avLst>
          </a:prstGeom>
          <a:solidFill>
            <a:srgbClr val="E3EAF1"/>
          </a:solidFill>
          <a:ln w="7144">
            <a:solidFill>
              <a:srgbClr val="B0BEC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32172" y="1284594"/>
            <a:ext cx="853678" cy="371475"/>
          </a:xfrm>
          <a:prstGeom prst="rect">
            <a:avLst/>
          </a:prstGeom>
          <a:noFill/>
          <a:ln/>
        </p:spPr>
        <p:txBody>
          <a:bodyPr wrap="none" lIns="28575" tIns="42863" rIns="28575" bIns="42863" rtlCol="0" anchor="ctr"/>
          <a:lstStyle/>
          <a:p>
            <a:pPr marL="0" indent="0" algn="ctr">
              <a:buNone/>
            </a:pPr>
            <a:r>
              <a:rPr lang="en-US" sz="1400" b="1" kern="0" spc="28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DATA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kern="0" spc="28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PIPELINE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259727" y="1203722"/>
            <a:ext cx="1044132" cy="542512"/>
          </a:xfrm>
          <a:prstGeom prst="roundRect">
            <a:avLst>
              <a:gd name="adj" fmla="val 15686"/>
            </a:avLst>
          </a:prstGeom>
          <a:solidFill>
            <a:srgbClr val="E1F5FE"/>
          </a:solidFill>
          <a:ln w="7144">
            <a:solidFill>
              <a:srgbClr val="00ACC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297442" y="1284594"/>
            <a:ext cx="991277" cy="168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Official Sources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328863" y="133588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453879" y="1203722"/>
            <a:ext cx="1043256" cy="509054"/>
          </a:xfrm>
          <a:prstGeom prst="roundRect">
            <a:avLst>
              <a:gd name="adj" fmla="val 15686"/>
            </a:avLst>
          </a:prstGeom>
          <a:solidFill>
            <a:srgbClr val="E1F5FE"/>
          </a:solidFill>
          <a:ln w="7144">
            <a:solidFill>
              <a:srgbClr val="00ACC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496574" y="1223328"/>
            <a:ext cx="1000560" cy="181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PDF Collection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545476" y="136613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648706" y="1182884"/>
            <a:ext cx="1171575" cy="542512"/>
          </a:xfrm>
          <a:prstGeom prst="roundRect">
            <a:avLst>
              <a:gd name="adj" fmla="val 15686"/>
            </a:avLst>
          </a:prstGeom>
          <a:solidFill>
            <a:srgbClr val="E1F5FE"/>
          </a:solidFill>
          <a:ln w="7144">
            <a:solidFill>
              <a:srgbClr val="00ACC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3773721" y="1263756"/>
            <a:ext cx="916577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Validation &amp;</a:t>
            </a:r>
            <a:b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</a:b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 Provenance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845284" y="131504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013368" y="1203722"/>
            <a:ext cx="1255273" cy="491458"/>
          </a:xfrm>
          <a:prstGeom prst="roundRect">
            <a:avLst>
              <a:gd name="adj" fmla="val 15686"/>
            </a:avLst>
          </a:prstGeom>
          <a:solidFill>
            <a:srgbClr val="E1F5FE"/>
          </a:solidFill>
          <a:ln w="7144">
            <a:solidFill>
              <a:srgbClr val="00ACC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115352" y="1274236"/>
            <a:ext cx="1092394" cy="97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Text Extraction </a:t>
            </a:r>
            <a:b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</a:b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&amp; Chunking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293644" y="133588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6418659" y="1203722"/>
            <a:ext cx="1171575" cy="483398"/>
          </a:xfrm>
          <a:prstGeom prst="roundRect">
            <a:avLst>
              <a:gd name="adj" fmla="val 15686"/>
            </a:avLst>
          </a:prstGeom>
          <a:solidFill>
            <a:srgbClr val="E1F5FE"/>
          </a:solidFill>
          <a:ln w="7144">
            <a:solidFill>
              <a:srgbClr val="00ACC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660390" y="1233457"/>
            <a:ext cx="688113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BGE </a:t>
            </a:r>
            <a:b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</a:b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7615238" y="133588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7740253" y="1203722"/>
            <a:ext cx="1171575" cy="559407"/>
          </a:xfrm>
          <a:prstGeom prst="roundRect">
            <a:avLst>
              <a:gd name="adj" fmla="val 15686"/>
            </a:avLst>
          </a:prstGeom>
          <a:solidFill>
            <a:srgbClr val="E1F5FE"/>
          </a:solidFill>
          <a:ln w="7144">
            <a:solidFill>
              <a:srgbClr val="00ACC1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7880859" y="1286346"/>
            <a:ext cx="916263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PostgreSQL </a:t>
            </a:r>
            <a:b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</a:b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+ pgvector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158320" y="2148314"/>
            <a:ext cx="1097777" cy="684671"/>
          </a:xfrm>
          <a:prstGeom prst="roundRect">
            <a:avLst>
              <a:gd name="adj" fmla="val 11348"/>
            </a:avLst>
          </a:prstGeom>
          <a:solidFill>
            <a:srgbClr val="E3EAF1"/>
          </a:solidFill>
          <a:ln w="7144">
            <a:solidFill>
              <a:srgbClr val="B0BEC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378687" y="2319199"/>
            <a:ext cx="685800" cy="342900"/>
          </a:xfrm>
          <a:prstGeom prst="rect">
            <a:avLst/>
          </a:prstGeom>
          <a:noFill/>
          <a:ln/>
        </p:spPr>
        <p:txBody>
          <a:bodyPr wrap="none" lIns="28575" tIns="42863" rIns="28575" bIns="42863" rtlCol="0" anchor="ctr"/>
          <a:lstStyle/>
          <a:p>
            <a:pPr marL="0" indent="0" algn="ctr">
              <a:buNone/>
            </a:pPr>
            <a:r>
              <a:rPr lang="en-US" sz="1400" b="1" kern="0" spc="28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INTELLIGENCE</a:t>
            </a:r>
            <a:br>
              <a:rPr lang="en-US" sz="1400" b="1" kern="0" spc="28" dirty="0">
                <a:solidFill>
                  <a:srgbClr val="154360"/>
                </a:solidFill>
                <a:ea typeface="Liberation Sans Narrow" pitchFamily="34" charset="-122"/>
                <a:cs typeface="Liberation Sans Narrow" pitchFamily="34" charset="-120"/>
              </a:rPr>
            </a:br>
            <a:r>
              <a:rPr lang="en-US" sz="1400" b="1" kern="0" spc="28" dirty="0">
                <a:solidFill>
                  <a:srgbClr val="154360"/>
                </a:solidFill>
                <a:ea typeface="Liberation Sans Narrow" pitchFamily="34" charset="-122"/>
                <a:cs typeface="Liberation Sans Narrow" pitchFamily="34" charset="-120"/>
              </a:rPr>
              <a:t>PIPELINE (1/2)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1402544" y="2221953"/>
            <a:ext cx="1535566" cy="559408"/>
          </a:xfrm>
          <a:prstGeom prst="roundRect">
            <a:avLst>
              <a:gd name="adj" fmla="val 15509"/>
            </a:avLst>
          </a:prstGeom>
          <a:solidFill>
            <a:srgbClr val="E8F5E9"/>
          </a:solidFill>
          <a:ln w="7144">
            <a:solidFill>
              <a:srgbClr val="558B2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1834823" y="2293515"/>
            <a:ext cx="594053" cy="13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Student Profile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2959540" y="246330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3084556" y="2238327"/>
            <a:ext cx="1643120" cy="559408"/>
          </a:xfrm>
          <a:prstGeom prst="roundRect">
            <a:avLst>
              <a:gd name="adj" fmla="val 17021"/>
            </a:avLst>
          </a:prstGeom>
          <a:solidFill>
            <a:srgbClr val="E8F5E9"/>
          </a:solidFill>
          <a:ln w="7144">
            <a:solidFill>
              <a:srgbClr val="558B2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0" name="Text 36"/>
          <p:cNvSpPr/>
          <p:nvPr/>
        </p:nvSpPr>
        <p:spPr>
          <a:xfrm>
            <a:off x="3265048" y="2296594"/>
            <a:ext cx="1358661" cy="15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Deterministic</a:t>
            </a:r>
            <a:b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</a:b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 Eligibility Engine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4796901" y="249065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4921917" y="2221953"/>
            <a:ext cx="1669483" cy="559408"/>
          </a:xfrm>
          <a:prstGeom prst="roundRect">
            <a:avLst>
              <a:gd name="adj" fmla="val 15509"/>
            </a:avLst>
          </a:prstGeom>
          <a:solidFill>
            <a:srgbClr val="E8F5E9"/>
          </a:solidFill>
          <a:ln w="7144">
            <a:solidFill>
              <a:srgbClr val="558B2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3" name="Text 39"/>
          <p:cNvSpPr/>
          <p:nvPr/>
        </p:nvSpPr>
        <p:spPr>
          <a:xfrm>
            <a:off x="5332404" y="2259687"/>
            <a:ext cx="913016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Candidate</a:t>
            </a:r>
            <a:b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</a:b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 Opportunities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6725568" y="244836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6917178" y="2213893"/>
            <a:ext cx="1927362" cy="559407"/>
          </a:xfrm>
          <a:prstGeom prst="roundRect">
            <a:avLst>
              <a:gd name="adj" fmla="val 17021"/>
            </a:avLst>
          </a:prstGeom>
          <a:solidFill>
            <a:srgbClr val="E8F5E9"/>
          </a:solidFill>
          <a:ln w="7144">
            <a:solidFill>
              <a:srgbClr val="558B2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7091394" y="2272676"/>
            <a:ext cx="1553029" cy="22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4360"/>
                </a:solidFill>
                <a:ea typeface="Liberation Sans Narrow" pitchFamily="34" charset="-122"/>
                <a:cs typeface="Liberation Sans Narrow" pitchFamily="34" charset="-120"/>
              </a:rPr>
              <a:t>Hybrid Retrieval</a:t>
            </a:r>
            <a:br>
              <a:rPr lang="en-US" sz="1400" dirty="0">
                <a:solidFill>
                  <a:srgbClr val="154360"/>
                </a:solidFill>
                <a:ea typeface="Liberation Sans Narrow" pitchFamily="34" charset="-122"/>
                <a:cs typeface="Liberation Sans Narrow" pitchFamily="34" charset="-120"/>
              </a:rPr>
            </a:br>
            <a:r>
              <a:rPr lang="en-US" sz="1400" dirty="0">
                <a:solidFill>
                  <a:srgbClr val="154360"/>
                </a:solidFill>
                <a:ea typeface="Liberation Sans Narrow" pitchFamily="34" charset="-122"/>
                <a:cs typeface="Liberation Sans Narrow" pitchFamily="34" charset="-120"/>
              </a:rPr>
              <a:t> (Semantic + BM25)</a:t>
            </a:r>
            <a:endParaRPr lang="en-US" sz="1400" dirty="0"/>
          </a:p>
        </p:txBody>
      </p:sp>
      <p:sp>
        <p:nvSpPr>
          <p:cNvPr id="50" name="Text 46"/>
          <p:cNvSpPr/>
          <p:nvPr/>
        </p:nvSpPr>
        <p:spPr>
          <a:xfrm rot="5400000">
            <a:off x="5289307" y="297069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5600760" y="2912714"/>
            <a:ext cx="817899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i="1" kern="0" spc="23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pipeline continues</a:t>
            </a:r>
            <a:endParaRPr lang="en-US" sz="1400" dirty="0"/>
          </a:p>
        </p:txBody>
      </p:sp>
      <p:sp>
        <p:nvSpPr>
          <p:cNvPr id="52" name="Text 48"/>
          <p:cNvSpPr/>
          <p:nvPr/>
        </p:nvSpPr>
        <p:spPr>
          <a:xfrm>
            <a:off x="1894668" y="32331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400" dirty="0"/>
          </a:p>
        </p:txBody>
      </p:sp>
      <p:sp>
        <p:nvSpPr>
          <p:cNvPr id="53" name="Text 49"/>
          <p:cNvSpPr/>
          <p:nvPr/>
        </p:nvSpPr>
        <p:spPr>
          <a:xfrm>
            <a:off x="102977" y="3397266"/>
            <a:ext cx="1195584" cy="439520"/>
          </a:xfrm>
          <a:prstGeom prst="roundRect">
            <a:avLst>
              <a:gd name="adj" fmla="val 11348"/>
            </a:avLst>
          </a:prstGeom>
          <a:solidFill>
            <a:srgbClr val="E3EAF1"/>
          </a:solidFill>
          <a:ln w="7144">
            <a:solidFill>
              <a:srgbClr val="B0BEC5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4" name="Text 50"/>
          <p:cNvSpPr/>
          <p:nvPr/>
        </p:nvSpPr>
        <p:spPr>
          <a:xfrm>
            <a:off x="373056" y="3493886"/>
            <a:ext cx="685800" cy="342900"/>
          </a:xfrm>
          <a:prstGeom prst="rect">
            <a:avLst/>
          </a:prstGeom>
          <a:noFill/>
          <a:ln/>
        </p:spPr>
        <p:txBody>
          <a:bodyPr wrap="none" lIns="28575" tIns="42863" rIns="28575" bIns="42863" rtlCol="0" anchor="ctr"/>
          <a:lstStyle/>
          <a:p>
            <a:pPr marL="0" indent="0" algn="ctr">
              <a:lnSpc>
                <a:spcPts val="675"/>
              </a:lnSpc>
              <a:buNone/>
            </a:pPr>
            <a:r>
              <a:rPr lang="en-US" sz="1400" b="1" kern="0" spc="28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INTELLIGENCE</a:t>
            </a:r>
            <a:endParaRPr lang="en-US" sz="1400" dirty="0"/>
          </a:p>
          <a:p>
            <a:pPr marL="0" indent="0" algn="ctr">
              <a:lnSpc>
                <a:spcPts val="675"/>
              </a:lnSpc>
              <a:buNone/>
            </a:pPr>
            <a:br>
              <a:rPr lang="en-US" sz="1400" b="1" kern="0" spc="28" dirty="0">
                <a:solidFill>
                  <a:srgbClr val="154360"/>
                </a:solidFill>
                <a:ea typeface="Liberation Sans Narrow" pitchFamily="34" charset="-122"/>
                <a:cs typeface="Liberation Sans Narrow" pitchFamily="34" charset="-120"/>
              </a:rPr>
            </a:br>
            <a:r>
              <a:rPr lang="en-US" sz="1400" b="1" kern="0" spc="28" dirty="0">
                <a:solidFill>
                  <a:srgbClr val="154360"/>
                </a:solidFill>
                <a:ea typeface="Liberation Sans Narrow" pitchFamily="34" charset="-122"/>
                <a:cs typeface="Liberation Sans Narrow" pitchFamily="34" charset="-120"/>
              </a:rPr>
              <a:t>PIPELINE (2/2)</a:t>
            </a: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1441436" y="3397266"/>
            <a:ext cx="1643120" cy="368503"/>
          </a:xfrm>
          <a:prstGeom prst="roundRect">
            <a:avLst>
              <a:gd name="adj" fmla="val 15509"/>
            </a:avLst>
          </a:prstGeom>
          <a:solidFill>
            <a:srgbClr val="E8F5E9"/>
          </a:solidFill>
          <a:ln w="7144">
            <a:solidFill>
              <a:srgbClr val="558B2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6" name="Text 52"/>
          <p:cNvSpPr/>
          <p:nvPr/>
        </p:nvSpPr>
        <p:spPr>
          <a:xfrm>
            <a:off x="1905220" y="3534414"/>
            <a:ext cx="572732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42"/>
              </a:lnSpc>
              <a:buNone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RRF Ranking</a:t>
            </a:r>
            <a:endParaRPr lang="en-US" sz="1400" dirty="0"/>
          </a:p>
        </p:txBody>
      </p:sp>
      <p:sp>
        <p:nvSpPr>
          <p:cNvPr id="57" name="Text 53"/>
          <p:cNvSpPr/>
          <p:nvPr/>
        </p:nvSpPr>
        <p:spPr>
          <a:xfrm>
            <a:off x="3105986" y="353151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0" dirty="0"/>
          </a:p>
        </p:txBody>
      </p:sp>
      <p:sp>
        <p:nvSpPr>
          <p:cNvPr id="58" name="Text 54"/>
          <p:cNvSpPr/>
          <p:nvPr/>
        </p:nvSpPr>
        <p:spPr>
          <a:xfrm>
            <a:off x="3227430" y="3397266"/>
            <a:ext cx="1785938" cy="368503"/>
          </a:xfrm>
          <a:prstGeom prst="roundRect">
            <a:avLst>
              <a:gd name="adj" fmla="val 15509"/>
            </a:avLst>
          </a:prstGeom>
          <a:solidFill>
            <a:srgbClr val="E8F5E9"/>
          </a:solidFill>
          <a:ln w="7144">
            <a:solidFill>
              <a:srgbClr val="558B2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9" name="Text 55"/>
          <p:cNvSpPr/>
          <p:nvPr/>
        </p:nvSpPr>
        <p:spPr>
          <a:xfrm>
            <a:off x="3833977" y="3534414"/>
            <a:ext cx="572732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42"/>
              </a:lnSpc>
              <a:buNone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RAG Context</a:t>
            </a:r>
            <a:endParaRPr lang="en-US" sz="1400" dirty="0"/>
          </a:p>
        </p:txBody>
      </p:sp>
      <p:sp>
        <p:nvSpPr>
          <p:cNvPr id="60" name="Text 56"/>
          <p:cNvSpPr/>
          <p:nvPr/>
        </p:nvSpPr>
        <p:spPr>
          <a:xfrm>
            <a:off x="5034799" y="353151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0" dirty="0"/>
          </a:p>
        </p:txBody>
      </p:sp>
      <p:sp>
        <p:nvSpPr>
          <p:cNvPr id="61" name="Text 57"/>
          <p:cNvSpPr/>
          <p:nvPr/>
        </p:nvSpPr>
        <p:spPr>
          <a:xfrm>
            <a:off x="5156243" y="3397266"/>
            <a:ext cx="1785938" cy="368503"/>
          </a:xfrm>
          <a:prstGeom prst="roundRect">
            <a:avLst>
              <a:gd name="adj" fmla="val 15509"/>
            </a:avLst>
          </a:prstGeom>
          <a:solidFill>
            <a:srgbClr val="E8F5E9"/>
          </a:solidFill>
          <a:ln w="7144">
            <a:solidFill>
              <a:srgbClr val="558B2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2" name="Text 58"/>
          <p:cNvSpPr/>
          <p:nvPr/>
        </p:nvSpPr>
        <p:spPr>
          <a:xfrm>
            <a:off x="5818889" y="3534414"/>
            <a:ext cx="460533" cy="131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42"/>
              </a:lnSpc>
              <a:buNone/>
            </a:pPr>
            <a:r>
              <a:rPr lang="en-US" sz="1400" dirty="0">
                <a:solidFill>
                  <a:srgbClr val="154360"/>
                </a:solidFill>
                <a:ea typeface="Liberation Sans Narrow" pitchFamily="34" charset="-122"/>
                <a:cs typeface="Liberation Sans Narrow" pitchFamily="34" charset="-120"/>
              </a:rPr>
              <a:t>Llama 3.2</a:t>
            </a:r>
            <a:endParaRPr lang="en-US" sz="1400" dirty="0"/>
          </a:p>
        </p:txBody>
      </p:sp>
      <p:sp>
        <p:nvSpPr>
          <p:cNvPr id="63" name="Text 59"/>
          <p:cNvSpPr/>
          <p:nvPr/>
        </p:nvSpPr>
        <p:spPr>
          <a:xfrm>
            <a:off x="6963611" y="353151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8B2F"/>
                </a:solidFill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0" dirty="0"/>
          </a:p>
        </p:txBody>
      </p:sp>
      <p:sp>
        <p:nvSpPr>
          <p:cNvPr id="64" name="Text 60"/>
          <p:cNvSpPr/>
          <p:nvPr/>
        </p:nvSpPr>
        <p:spPr>
          <a:xfrm>
            <a:off x="7167946" y="3275969"/>
            <a:ext cx="1676594" cy="779988"/>
          </a:xfrm>
          <a:prstGeom prst="roundRect">
            <a:avLst>
              <a:gd name="adj" fmla="val 17021"/>
            </a:avLst>
          </a:prstGeom>
          <a:solidFill>
            <a:srgbClr val="E8F5E9"/>
          </a:solidFill>
          <a:ln w="7144">
            <a:solidFill>
              <a:srgbClr val="558B2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7200640" y="3376516"/>
            <a:ext cx="1574393" cy="13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Grounded Explanation + Source Attribution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4475336" y="75679"/>
            <a:ext cx="444006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788" i="1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RAG-Based Student Education Opportunity and Scholarship Eligibility Intelligence System — Review III</a:t>
            </a:r>
            <a:endParaRPr lang="en-US" sz="788" dirty="0"/>
          </a:p>
        </p:txBody>
      </p:sp>
      <p:sp>
        <p:nvSpPr>
          <p:cNvPr id="6" name="Text 2"/>
          <p:cNvSpPr/>
          <p:nvPr/>
        </p:nvSpPr>
        <p:spPr>
          <a:xfrm>
            <a:off x="214313" y="4786313"/>
            <a:ext cx="784562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125" b="1" kern="0" spc="28" dirty="0">
                <a:solidFill>
                  <a:srgbClr val="0D2C54"/>
                </a:solidFill>
                <a:ea typeface="Liberation Sans" pitchFamily="34" charset="-122"/>
                <a:cs typeface="Liberation Sans" pitchFamily="34" charset="-120"/>
              </a:rPr>
              <a:t>L&amp;T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8113626" y="4918472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00050" y="428625"/>
            <a:ext cx="8636000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b="1" kern="0" spc="-17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Approach / Algorithms / Tools</a:t>
            </a:r>
            <a:endParaRPr lang="en-US" sz="2025" dirty="0"/>
          </a:p>
        </p:txBody>
      </p:sp>
      <p:sp>
        <p:nvSpPr>
          <p:cNvPr id="13" name="Text 9"/>
          <p:cNvSpPr/>
          <p:nvPr/>
        </p:nvSpPr>
        <p:spPr>
          <a:xfrm>
            <a:off x="400050" y="768623"/>
            <a:ext cx="1571625" cy="21431"/>
          </a:xfrm>
          <a:prstGeom prst="rect">
            <a:avLst/>
          </a:prstGeom>
          <a:solidFill>
            <a:srgbClr val="558B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75059" y="1075134"/>
            <a:ext cx="1564481" cy="3564731"/>
          </a:xfrm>
          <a:prstGeom prst="roundRect">
            <a:avLst>
              <a:gd name="adj" fmla="val 4871"/>
            </a:avLst>
          </a:prstGeom>
          <a:solidFill>
            <a:srgbClr val="FFFFFF"/>
          </a:solidFill>
          <a:ln w="7144">
            <a:solidFill>
              <a:srgbClr val="CFE6EE"/>
            </a:solidFill>
            <a:prstDash val="solid"/>
          </a:ln>
          <a:effectLst>
            <a:outerShdw blurRad="28575" dist="9525" dir="5400000" algn="bl" rotWithShape="0">
              <a:srgbClr val="15436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78631" y="1078706"/>
            <a:ext cx="1557338" cy="200025"/>
          </a:xfrm>
          <a:prstGeom prst="rect">
            <a:avLst/>
          </a:prstGeom>
          <a:solidFill>
            <a:srgbClr val="1543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78631" y="1078706"/>
            <a:ext cx="155733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spc="23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AI / ML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78631" y="1278731"/>
            <a:ext cx="1557338" cy="3601879"/>
          </a:xfrm>
          <a:prstGeom prst="rect">
            <a:avLst/>
          </a:prstGeom>
          <a:noFill/>
          <a:ln/>
        </p:spPr>
        <p:txBody>
          <a:bodyPr wrap="square" lIns="64294" tIns="0" rIns="0" bIns="0" rtlCol="0" anchor="t"/>
          <a:lstStyle/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RAG Architecture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Semantic Retrieval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 Narrow" pitchFamily="34" charset="-122"/>
                <a:cs typeface="Liberation Sans Narrow" pitchFamily="34" charset="-120"/>
              </a:rPr>
              <a:t>BM25 Keyword Retrieval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Reciprocal Rank Fusion (RRF)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Deterministic Eligibility Rules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Multi-factor Recommendation Scoring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132409" y="1075134"/>
            <a:ext cx="1564481" cy="3564731"/>
          </a:xfrm>
          <a:prstGeom prst="roundRect">
            <a:avLst>
              <a:gd name="adj" fmla="val 4871"/>
            </a:avLst>
          </a:prstGeom>
          <a:solidFill>
            <a:srgbClr val="FFFFFF"/>
          </a:solidFill>
          <a:ln w="7144">
            <a:solidFill>
              <a:srgbClr val="CFE6EE"/>
            </a:solidFill>
            <a:prstDash val="solid"/>
          </a:ln>
          <a:effectLst>
            <a:outerShdw blurRad="28575" dist="9525" dir="5400000" algn="bl" rotWithShape="0">
              <a:srgbClr val="15436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135981" y="1078706"/>
            <a:ext cx="1557338" cy="200025"/>
          </a:xfrm>
          <a:prstGeom prst="rect">
            <a:avLst/>
          </a:prstGeom>
          <a:solidFill>
            <a:srgbClr val="0083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135981" y="1078706"/>
            <a:ext cx="155733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spc="23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Models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135981" y="1278731"/>
            <a:ext cx="1557338" cy="3601879"/>
          </a:xfrm>
          <a:prstGeom prst="rect">
            <a:avLst/>
          </a:prstGeom>
          <a:noFill/>
          <a:ln/>
        </p:spPr>
        <p:txBody>
          <a:bodyPr wrap="square" lIns="64294" tIns="0" rIns="0" bIns="0" rtlCol="0" anchor="t"/>
          <a:lstStyle/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 Narrow" pitchFamily="34" charset="-122"/>
                <a:cs typeface="Liberation Sans Narrow" pitchFamily="34" charset="-120"/>
              </a:rPr>
              <a:t>BGE-small-en-v1.5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 Narrow" pitchFamily="34" charset="-122"/>
                <a:cs typeface="Liberation Sans Narrow" pitchFamily="34" charset="-120"/>
              </a:rPr>
              <a:t>Llama 3.2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Ollama runtime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789759" y="1075134"/>
            <a:ext cx="1564481" cy="3564731"/>
          </a:xfrm>
          <a:prstGeom prst="roundRect">
            <a:avLst>
              <a:gd name="adj" fmla="val 4871"/>
            </a:avLst>
          </a:prstGeom>
          <a:solidFill>
            <a:srgbClr val="FFFFFF"/>
          </a:solidFill>
          <a:ln w="7144">
            <a:solidFill>
              <a:srgbClr val="CFE6EE"/>
            </a:solidFill>
            <a:prstDash val="solid"/>
          </a:ln>
          <a:effectLst>
            <a:outerShdw blurRad="28575" dist="9525" dir="5400000" algn="bl" rotWithShape="0">
              <a:srgbClr val="15436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793331" y="1078706"/>
            <a:ext cx="1557338" cy="200025"/>
          </a:xfrm>
          <a:prstGeom prst="rect">
            <a:avLst/>
          </a:prstGeom>
          <a:solidFill>
            <a:srgbClr val="558B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3793331" y="1078706"/>
            <a:ext cx="155733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spc="23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Backend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3793331" y="1278731"/>
            <a:ext cx="1557338" cy="3601879"/>
          </a:xfrm>
          <a:prstGeom prst="rect">
            <a:avLst/>
          </a:prstGeom>
          <a:noFill/>
          <a:ln/>
        </p:spPr>
        <p:txBody>
          <a:bodyPr wrap="square" lIns="64294" tIns="0" rIns="0" bIns="0" rtlCol="0" anchor="t"/>
          <a:lstStyle/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Python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FastAPI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Pydantic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SQLAlchemy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PostgreSQL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pgvector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Alembic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447109" y="1075134"/>
            <a:ext cx="1564481" cy="3564731"/>
          </a:xfrm>
          <a:prstGeom prst="roundRect">
            <a:avLst>
              <a:gd name="adj" fmla="val 4871"/>
            </a:avLst>
          </a:prstGeom>
          <a:solidFill>
            <a:srgbClr val="FFFFFF"/>
          </a:solidFill>
          <a:ln w="7144">
            <a:solidFill>
              <a:srgbClr val="CFE6EE"/>
            </a:solidFill>
            <a:prstDash val="solid"/>
          </a:ln>
          <a:effectLst>
            <a:outerShdw blurRad="28575" dist="9525" dir="5400000" algn="bl" rotWithShape="0">
              <a:srgbClr val="15436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450681" y="1078706"/>
            <a:ext cx="1557338" cy="200025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50681" y="1078706"/>
            <a:ext cx="155733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spc="23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450681" y="1278731"/>
            <a:ext cx="1557338" cy="3601879"/>
          </a:xfrm>
          <a:prstGeom prst="rect">
            <a:avLst/>
          </a:prstGeom>
          <a:noFill/>
          <a:ln/>
        </p:spPr>
        <p:txBody>
          <a:bodyPr wrap="square" lIns="64294" tIns="0" rIns="0" bIns="0" rtlCol="0" anchor="t"/>
          <a:lstStyle/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Next.js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React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TypeScript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7104459" y="1075134"/>
            <a:ext cx="1564481" cy="3564731"/>
          </a:xfrm>
          <a:prstGeom prst="roundRect">
            <a:avLst>
              <a:gd name="adj" fmla="val 4871"/>
            </a:avLst>
          </a:prstGeom>
          <a:solidFill>
            <a:srgbClr val="FFFFFF"/>
          </a:solidFill>
          <a:ln w="7144">
            <a:solidFill>
              <a:srgbClr val="CFE6EE"/>
            </a:solidFill>
            <a:prstDash val="solid"/>
          </a:ln>
          <a:effectLst>
            <a:outerShdw blurRad="28575" dist="9525" dir="5400000" algn="bl" rotWithShape="0">
              <a:srgbClr val="15436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7104459" y="1091004"/>
            <a:ext cx="1766059" cy="194264"/>
          </a:xfrm>
          <a:prstGeom prst="rect">
            <a:avLst/>
          </a:prstGeom>
          <a:solidFill>
            <a:srgbClr val="FB8C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7095738" y="1092421"/>
            <a:ext cx="1807369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kern="0" spc="23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Document Processing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7126900" y="1310831"/>
            <a:ext cx="1557338" cy="3601879"/>
          </a:xfrm>
          <a:prstGeom prst="rect">
            <a:avLst/>
          </a:prstGeom>
          <a:noFill/>
          <a:ln/>
        </p:spPr>
        <p:txBody>
          <a:bodyPr wrap="square" lIns="64294" tIns="0" rIns="0" bIns="0" rtlCol="0" anchor="t"/>
          <a:lstStyle/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PDF extraction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Semantic chunking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Metadata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558B2F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Provenance tracking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2393156"/>
            <a:ext cx="4107656" cy="0"/>
          </a:xfrm>
          <a:prstGeom prst="line">
            <a:avLst/>
          </a:prstGeom>
          <a:noFill/>
          <a:ln w="28575">
            <a:solidFill>
              <a:srgbClr val="15436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" name="Shape 1"/>
          <p:cNvSpPr/>
          <p:nvPr/>
        </p:nvSpPr>
        <p:spPr>
          <a:xfrm>
            <a:off x="4504134" y="2378869"/>
            <a:ext cx="0" cy="2264569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4" name="Shape 2"/>
          <p:cNvSpPr/>
          <p:nvPr/>
        </p:nvSpPr>
        <p:spPr>
          <a:xfrm>
            <a:off x="400050" y="4639866"/>
            <a:ext cx="410765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" name="Shape 3"/>
          <p:cNvSpPr/>
          <p:nvPr/>
        </p:nvSpPr>
        <p:spPr>
          <a:xfrm>
            <a:off x="403622" y="2378869"/>
            <a:ext cx="0" cy="2264569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" name="Shape 4"/>
          <p:cNvSpPr/>
          <p:nvPr/>
        </p:nvSpPr>
        <p:spPr>
          <a:xfrm>
            <a:off x="4636294" y="2393156"/>
            <a:ext cx="4107656" cy="0"/>
          </a:xfrm>
          <a:prstGeom prst="line">
            <a:avLst/>
          </a:prstGeom>
          <a:noFill/>
          <a:ln w="28575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7" name="Shape 5"/>
          <p:cNvSpPr/>
          <p:nvPr/>
        </p:nvSpPr>
        <p:spPr>
          <a:xfrm>
            <a:off x="8740378" y="2378869"/>
            <a:ext cx="0" cy="2264569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8" name="Shape 6"/>
          <p:cNvSpPr/>
          <p:nvPr/>
        </p:nvSpPr>
        <p:spPr>
          <a:xfrm>
            <a:off x="4636294" y="4639866"/>
            <a:ext cx="4107656" cy="0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9" name="Shape 7"/>
          <p:cNvSpPr/>
          <p:nvPr/>
        </p:nvSpPr>
        <p:spPr>
          <a:xfrm>
            <a:off x="4639866" y="2378869"/>
            <a:ext cx="0" cy="2264569"/>
          </a:xfrm>
          <a:prstGeom prst="line">
            <a:avLst/>
          </a:prstGeom>
          <a:noFill/>
          <a:ln w="7144">
            <a:solidFill>
              <a:srgbClr val="CFE6EE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3" name="Text 9"/>
          <p:cNvSpPr/>
          <p:nvPr/>
        </p:nvSpPr>
        <p:spPr>
          <a:xfrm>
            <a:off x="4475336" y="75679"/>
            <a:ext cx="444006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788" i="1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RAG-Based Student Education Opportunity and Scholarship Eligibility Intelligence System — Review III</a:t>
            </a:r>
            <a:endParaRPr lang="en-US" sz="788" dirty="0"/>
          </a:p>
        </p:txBody>
      </p:sp>
      <p:sp>
        <p:nvSpPr>
          <p:cNvPr id="14" name="Text 10"/>
          <p:cNvSpPr/>
          <p:nvPr/>
        </p:nvSpPr>
        <p:spPr>
          <a:xfrm>
            <a:off x="214313" y="4786313"/>
            <a:ext cx="784562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125" b="1" kern="0" spc="28" dirty="0">
                <a:solidFill>
                  <a:srgbClr val="0D2C54"/>
                </a:solidFill>
                <a:ea typeface="Liberation Sans" pitchFamily="34" charset="-122"/>
                <a:cs typeface="Liberation Sans" pitchFamily="34" charset="-120"/>
              </a:rPr>
              <a:t>L&amp;T</a:t>
            </a:r>
            <a:endParaRPr lang="en-US" sz="1125" dirty="0"/>
          </a:p>
        </p:txBody>
      </p:sp>
      <p:sp>
        <p:nvSpPr>
          <p:cNvPr id="20" name="Text 16"/>
          <p:cNvSpPr/>
          <p:nvPr/>
        </p:nvSpPr>
        <p:spPr>
          <a:xfrm>
            <a:off x="400050" y="428625"/>
            <a:ext cx="8636000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b="1" kern="0" spc="-17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Findings and Results</a:t>
            </a:r>
            <a:endParaRPr lang="en-US" sz="2025" dirty="0"/>
          </a:p>
        </p:txBody>
      </p:sp>
      <p:sp>
        <p:nvSpPr>
          <p:cNvPr id="21" name="Text 17"/>
          <p:cNvSpPr/>
          <p:nvPr/>
        </p:nvSpPr>
        <p:spPr>
          <a:xfrm>
            <a:off x="400050" y="768623"/>
            <a:ext cx="1571625" cy="21431"/>
          </a:xfrm>
          <a:prstGeom prst="rect">
            <a:avLst/>
          </a:prstGeom>
          <a:solidFill>
            <a:srgbClr val="558B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94" y="1071563"/>
            <a:ext cx="1893094" cy="117871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100263" y="928688"/>
            <a:ext cx="571500" cy="5715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810458" y="1388790"/>
            <a:ext cx="1543764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b="1" kern="0" spc="-56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53/53</a:t>
            </a:r>
            <a:endParaRPr lang="en-US" sz="2700" dirty="0"/>
          </a:p>
        </p:txBody>
      </p:sp>
      <p:sp>
        <p:nvSpPr>
          <p:cNvPr id="25" name="Text 20"/>
          <p:cNvSpPr/>
          <p:nvPr/>
        </p:nvSpPr>
        <p:spPr>
          <a:xfrm>
            <a:off x="962014" y="1803127"/>
            <a:ext cx="1240653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4"/>
              </a:lnSpc>
              <a:buNone/>
            </a:pPr>
            <a:r>
              <a:rPr lang="en-US" sz="800" kern="0" spc="17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Backend Tests Passed</a:t>
            </a:r>
            <a:endParaRPr lang="en-US" sz="8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1071563"/>
            <a:ext cx="1893094" cy="117871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093369" y="928688"/>
            <a:ext cx="571500" cy="5715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3257907" y="1388790"/>
            <a:ext cx="635079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b="1" kern="0" spc="-56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24</a:t>
            </a:r>
            <a:endParaRPr lang="en-US" sz="2700" dirty="0"/>
          </a:p>
        </p:txBody>
      </p:sp>
      <p:sp>
        <p:nvSpPr>
          <p:cNvPr id="29" name="Text 23"/>
          <p:cNvSpPr/>
          <p:nvPr/>
        </p:nvSpPr>
        <p:spPr>
          <a:xfrm>
            <a:off x="2920861" y="1803127"/>
            <a:ext cx="1309061" cy="14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4"/>
              </a:lnSpc>
              <a:buNone/>
            </a:pPr>
            <a:r>
              <a:rPr lang="en-US" sz="788" kern="0" spc="17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Official Source Documents</a:t>
            </a:r>
            <a:endParaRPr lang="en-US" sz="788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006" y="1071563"/>
            <a:ext cx="1893094" cy="117871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086475" y="928688"/>
            <a:ext cx="571500" cy="5715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5092244" y="1388790"/>
            <a:ext cx="952619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b="1" kern="0" spc="-56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884</a:t>
            </a:r>
            <a:endParaRPr lang="en-US" sz="2700" dirty="0"/>
          </a:p>
        </p:txBody>
      </p:sp>
      <p:sp>
        <p:nvSpPr>
          <p:cNvPr id="33" name="Text 26"/>
          <p:cNvSpPr/>
          <p:nvPr/>
        </p:nvSpPr>
        <p:spPr>
          <a:xfrm>
            <a:off x="5072622" y="1803127"/>
            <a:ext cx="991750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4"/>
              </a:lnSpc>
              <a:buNone/>
            </a:pPr>
            <a:r>
              <a:rPr lang="en-US" sz="800" kern="0" spc="17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Document Chunks</a:t>
            </a:r>
            <a:endParaRPr lang="en-US" sz="8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113" y="1071563"/>
            <a:ext cx="1893094" cy="1178719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079581" y="928688"/>
            <a:ext cx="571500" cy="5715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7163644" y="1424508"/>
            <a:ext cx="795919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kern="0" spc="-56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RAG</a:t>
            </a:r>
            <a:endParaRPr lang="en-US" sz="2250" dirty="0"/>
          </a:p>
        </p:txBody>
      </p:sp>
      <p:sp>
        <p:nvSpPr>
          <p:cNvPr id="37" name="Text 29"/>
          <p:cNvSpPr/>
          <p:nvPr/>
        </p:nvSpPr>
        <p:spPr>
          <a:xfrm>
            <a:off x="7053865" y="1767408"/>
            <a:ext cx="1015588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4"/>
              </a:lnSpc>
              <a:buNone/>
            </a:pPr>
            <a:r>
              <a:rPr lang="en-US" sz="800" kern="0" spc="17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Grounded Answers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400050" y="2378869"/>
            <a:ext cx="4107656" cy="2264569"/>
          </a:xfrm>
          <a:prstGeom prst="roundRect">
            <a:avLst>
              <a:gd name="adj" fmla="val 3365"/>
            </a:avLst>
          </a:prstGeom>
          <a:solidFill>
            <a:srgbClr val="F7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512920" y="2495883"/>
            <a:ext cx="2115979" cy="286607"/>
          </a:xfrm>
          <a:prstGeom prst="roundRect">
            <a:avLst>
              <a:gd name="adj" fmla="val 52910"/>
            </a:avLst>
          </a:prstGeom>
          <a:solidFill>
            <a:srgbClr val="E3EA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1051127" y="2564606"/>
            <a:ext cx="109656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4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FUNCTIONAL RESULTS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535781" y="2786063"/>
            <a:ext cx="3836194" cy="101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2E7D32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Local Demo Mode profile persistence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2E7D32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Deterministic eligibility evaluation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2E7D32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Personalized recommendations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2E7D32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RAG-based AI Assistant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2E7D32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Official source attribution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4636294" y="2378869"/>
            <a:ext cx="4107656" cy="2264569"/>
          </a:xfrm>
          <a:prstGeom prst="roundRect">
            <a:avLst>
              <a:gd name="adj" fmla="val 3365"/>
            </a:avLst>
          </a:prstGeom>
          <a:solidFill>
            <a:srgbClr val="F7FB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4749165" y="2495883"/>
            <a:ext cx="2304699" cy="230393"/>
          </a:xfrm>
          <a:prstGeom prst="roundRect">
            <a:avLst>
              <a:gd name="adj" fmla="val 52910"/>
            </a:avLst>
          </a:prstGeom>
          <a:solidFill>
            <a:srgbClr val="E0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3787808" y="2431774"/>
            <a:ext cx="4121375" cy="358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4" dirty="0">
                <a:solidFill>
                  <a:srgbClr val="00838F"/>
                </a:solidFill>
                <a:ea typeface="Liberation Sans" pitchFamily="34" charset="-122"/>
                <a:cs typeface="Liberation Sans" pitchFamily="34" charset="-120"/>
              </a:rPr>
              <a:t>TECHNICAL VALIDATION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4772025" y="2786063"/>
            <a:ext cx="3836194" cy="101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2E7D32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 Narrow" pitchFamily="34" charset="-122"/>
                <a:cs typeface="Liberation Sans Narrow" pitchFamily="34" charset="-120"/>
              </a:rPr>
              <a:t>53/53 backend tests passed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2E7D32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TypeScript compilation passed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2E7D32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Next.js production build passed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2E7D32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 Narrow" pitchFamily="34" charset="-122"/>
                <a:cs typeface="Liberation Sans Narrow" pitchFamily="34" charset="-120"/>
              </a:rPr>
              <a:t>Ollama/Llama 3.2 integration working</a:t>
            </a:r>
            <a:endParaRPr lang="en-US" sz="1400" dirty="0"/>
          </a:p>
          <a:p>
            <a:pPr marL="0" indent="0" algn="l">
              <a:spcAft>
                <a:spcPts val="338"/>
              </a:spcAft>
              <a:buNone/>
            </a:pPr>
            <a:r>
              <a:rPr lang="en-US" sz="1400" dirty="0">
                <a:solidFill>
                  <a:srgbClr val="2E7D32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BGE embeddings integrated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4475336" y="75679"/>
            <a:ext cx="444006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788" i="1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RAG-Based Student Education Opportunity and Scholarship Eligibility Intelligence System — Review III</a:t>
            </a:r>
            <a:endParaRPr lang="en-US" sz="788" dirty="0"/>
          </a:p>
        </p:txBody>
      </p:sp>
      <p:sp>
        <p:nvSpPr>
          <p:cNvPr id="6" name="Text 2"/>
          <p:cNvSpPr/>
          <p:nvPr/>
        </p:nvSpPr>
        <p:spPr>
          <a:xfrm>
            <a:off x="400050" y="428625"/>
            <a:ext cx="8636000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b="1" kern="0" spc="-17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Conclusion</a:t>
            </a:r>
            <a:endParaRPr lang="en-US" sz="2025" dirty="0"/>
          </a:p>
        </p:txBody>
      </p:sp>
      <p:sp>
        <p:nvSpPr>
          <p:cNvPr id="7" name="Text 3"/>
          <p:cNvSpPr/>
          <p:nvPr/>
        </p:nvSpPr>
        <p:spPr>
          <a:xfrm>
            <a:off x="400050" y="768623"/>
            <a:ext cx="1571625" cy="21431"/>
          </a:xfrm>
          <a:prstGeom prst="rect">
            <a:avLst/>
          </a:prstGeom>
          <a:solidFill>
            <a:srgbClr val="558B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28625" y="1114425"/>
            <a:ext cx="1398264" cy="17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34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KEY ACHIEVEMENTS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28624" y="1350741"/>
            <a:ext cx="1566041" cy="265506"/>
          </a:xfrm>
          <a:prstGeom prst="roundRect">
            <a:avLst>
              <a:gd name="adj" fmla="val 59524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88618" y="1400839"/>
            <a:ext cx="846052" cy="172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5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IMPLEMENTED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00050" y="1682394"/>
            <a:ext cx="4340116" cy="1943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88"/>
              </a:spcAft>
            </a:pPr>
            <a:r>
              <a:rPr lang="en-US" sz="1400" dirty="0">
                <a:solidFill>
                  <a:srgbClr val="2E7D32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Implemented a personalized scholarship intelligence system.</a:t>
            </a:r>
            <a:endParaRPr lang="en-US" sz="1400" dirty="0"/>
          </a:p>
          <a:p>
            <a:pPr>
              <a:spcAft>
                <a:spcPts val="788"/>
              </a:spcAft>
            </a:pPr>
            <a:r>
              <a:rPr lang="en-US" sz="1400" dirty="0">
                <a:solidFill>
                  <a:srgbClr val="2E7D32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Deterministic eligibility prevents the LLM from independently deciding eligibility.</a:t>
            </a:r>
            <a:endParaRPr lang="en-US" sz="1400" dirty="0"/>
          </a:p>
          <a:p>
            <a:pPr>
              <a:spcAft>
                <a:spcPts val="788"/>
              </a:spcAft>
            </a:pPr>
            <a:r>
              <a:rPr lang="en-US" sz="1400" dirty="0">
                <a:solidFill>
                  <a:srgbClr val="2E7D32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Hybrid retrieval combines semantic and keyword search.</a:t>
            </a:r>
            <a:endParaRPr lang="en-US" sz="1400" dirty="0"/>
          </a:p>
          <a:p>
            <a:pPr>
              <a:spcAft>
                <a:spcPts val="788"/>
              </a:spcAft>
            </a:pPr>
            <a:r>
              <a:rPr lang="en-US" sz="1400" dirty="0">
                <a:solidFill>
                  <a:srgbClr val="2E7D32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RAG provides grounded explanations from official documents.</a:t>
            </a:r>
            <a:endParaRPr lang="en-US" sz="1400" dirty="0"/>
          </a:p>
          <a:p>
            <a:pPr>
              <a:spcAft>
                <a:spcPts val="788"/>
              </a:spcAft>
            </a:pPr>
            <a:r>
              <a:rPr lang="en-US" sz="1400" dirty="0">
                <a:solidFill>
                  <a:srgbClr val="2E7D32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Source attribution improves transparency.</a:t>
            </a:r>
            <a:endParaRPr lang="en-US" sz="1400" dirty="0"/>
          </a:p>
          <a:p>
            <a:pPr>
              <a:spcAft>
                <a:spcPts val="788"/>
              </a:spcAft>
            </a:pPr>
            <a:r>
              <a:rPr lang="en-US" sz="1400" dirty="0">
                <a:solidFill>
                  <a:srgbClr val="2E7D32"/>
                </a:solidFill>
                <a:ea typeface="Liberation Sans" pitchFamily="34" charset="-122"/>
                <a:cs typeface="Liberation Sans" pitchFamily="34" charset="-120"/>
              </a:rPr>
              <a:t>●  </a:t>
            </a:r>
            <a:r>
              <a:rPr lang="en-US" sz="1400" dirty="0">
                <a:solidFill>
                  <a:srgbClr val="1976D2"/>
                </a:solidFill>
                <a:ea typeface="Liberation Sans" pitchFamily="34" charset="-122"/>
                <a:cs typeface="Liberation Sans" pitchFamily="34" charset="-120"/>
              </a:rPr>
              <a:t>Recommendation engine personalizes scholarship opportunities.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501" y="1071563"/>
            <a:ext cx="7144" cy="3571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26644" y="1114425"/>
            <a:ext cx="1003284" cy="17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34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208021" y="1313021"/>
            <a:ext cx="960420" cy="238316"/>
          </a:xfrm>
          <a:prstGeom prst="roundRect">
            <a:avLst>
              <a:gd name="adj" fmla="val 59524"/>
            </a:avLst>
          </a:prstGeom>
          <a:solidFill>
            <a:srgbClr val="FB8C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410294" y="1350741"/>
            <a:ext cx="5558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5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PLANNED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208021" y="1738643"/>
            <a:ext cx="3882628" cy="138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38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5C6BC0"/>
                </a:solidFill>
                <a:ea typeface="Liberation Sans" pitchFamily="34" charset="-122"/>
                <a:cs typeface="Liberation Sans" pitchFamily="34" charset="-120"/>
              </a:rPr>
              <a:t>Automate official document ingestion and corpus updates.</a:t>
            </a:r>
            <a:endParaRPr lang="en-US" sz="1400" dirty="0"/>
          </a:p>
          <a:p>
            <a:pPr marL="342900" indent="-342900" algn="l">
              <a:spcAft>
                <a:spcPts val="1238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5C6BC0"/>
                </a:solidFill>
                <a:ea typeface="Liberation Sans" pitchFamily="34" charset="-122"/>
                <a:cs typeface="Liberation Sans" pitchFamily="34" charset="-120"/>
              </a:rPr>
              <a:t>Scale the architecture for production cloud deployment.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714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75336" y="75679"/>
            <a:ext cx="444006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788" i="1" dirty="0">
                <a:solidFill>
                  <a:srgbClr val="FFFFFF"/>
                </a:solidFill>
                <a:ea typeface="Liberation Sans" pitchFamily="34" charset="-122"/>
                <a:cs typeface="Liberation Sans" pitchFamily="34" charset="-120"/>
              </a:rPr>
              <a:t>RAG-Based Student Education Opportunity and Scholarship Eligibility Intelligence System — Review III</a:t>
            </a:r>
            <a:endParaRPr lang="en-US" sz="788" dirty="0"/>
          </a:p>
        </p:txBody>
      </p:sp>
      <p:sp>
        <p:nvSpPr>
          <p:cNvPr id="7" name="Text 3"/>
          <p:cNvSpPr/>
          <p:nvPr/>
        </p:nvSpPr>
        <p:spPr>
          <a:xfrm>
            <a:off x="400050" y="428625"/>
            <a:ext cx="8636000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28"/>
              </a:lnSpc>
              <a:buNone/>
            </a:pPr>
            <a:r>
              <a:rPr lang="en-US" sz="2025" b="1" kern="0" spc="-17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Reference</a:t>
            </a:r>
            <a:endParaRPr lang="en-US" sz="2025" dirty="0"/>
          </a:p>
        </p:txBody>
      </p:sp>
      <p:sp>
        <p:nvSpPr>
          <p:cNvPr id="8" name="Text 4"/>
          <p:cNvSpPr/>
          <p:nvPr/>
        </p:nvSpPr>
        <p:spPr>
          <a:xfrm>
            <a:off x="400050" y="768623"/>
            <a:ext cx="1571625" cy="21431"/>
          </a:xfrm>
          <a:prstGeom prst="rect">
            <a:avLst/>
          </a:prstGeom>
          <a:solidFill>
            <a:srgbClr val="558B2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00050" y="1071563"/>
            <a:ext cx="8343900" cy="2798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40"/>
              </a:lnSpc>
              <a:spcAft>
                <a:spcPts val="788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National Scholarship Portal (NSP)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 — Official Guidelines</a:t>
            </a:r>
            <a:endParaRPr lang="en-US" sz="1400" dirty="0"/>
          </a:p>
          <a:p>
            <a:pPr marL="342900" indent="-342900" algn="l">
              <a:lnSpc>
                <a:spcPts val="1440"/>
              </a:lnSpc>
              <a:spcAft>
                <a:spcPts val="788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Government of India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 — Ministry and Department Directives</a:t>
            </a:r>
            <a:endParaRPr lang="en-US" sz="1400" dirty="0"/>
          </a:p>
          <a:p>
            <a:pPr marL="342900" indent="-342900" algn="l">
              <a:lnSpc>
                <a:spcPts val="1440"/>
              </a:lnSpc>
              <a:spcAft>
                <a:spcPts val="788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University Grants Commission (UGC)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 — Official Scholarship Sources</a:t>
            </a:r>
            <a:endParaRPr lang="en-US" sz="1400" dirty="0"/>
          </a:p>
          <a:p>
            <a:pPr marL="342900" indent="-342900" algn="l">
              <a:lnSpc>
                <a:spcPts val="1440"/>
              </a:lnSpc>
              <a:spcAft>
                <a:spcPts val="788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All India Council for Technical Education (AICTE)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 — Official Scholarship Schemes</a:t>
            </a:r>
            <a:endParaRPr lang="en-US" sz="1400" dirty="0"/>
          </a:p>
          <a:p>
            <a:pPr marL="342900" indent="-342900" algn="l">
              <a:lnSpc>
                <a:spcPts val="1440"/>
              </a:lnSpc>
              <a:spcAft>
                <a:spcPts val="788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BAAI General Embedding (BGE)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 — Technical Documentation</a:t>
            </a:r>
            <a:endParaRPr lang="en-US" sz="1400" dirty="0"/>
          </a:p>
          <a:p>
            <a:pPr marL="342900" indent="-342900" algn="l">
              <a:lnSpc>
                <a:spcPts val="1440"/>
              </a:lnSpc>
              <a:spcAft>
                <a:spcPts val="788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PostgreSQL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 — Official Documentation</a:t>
            </a:r>
            <a:endParaRPr lang="en-US" sz="1400" dirty="0"/>
          </a:p>
          <a:p>
            <a:pPr marL="342900" indent="-342900" algn="l">
              <a:lnSpc>
                <a:spcPts val="1440"/>
              </a:lnSpc>
              <a:spcAft>
                <a:spcPts val="788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pgvector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 — Open-source Vector Similarity Search Extension Documentation</a:t>
            </a:r>
            <a:endParaRPr lang="en-US" sz="1400" dirty="0"/>
          </a:p>
          <a:p>
            <a:pPr marL="342900" indent="-342900" algn="l">
              <a:lnSpc>
                <a:spcPts val="1440"/>
              </a:lnSpc>
              <a:spcAft>
                <a:spcPts val="788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54360"/>
                </a:solidFill>
                <a:ea typeface="Liberation Sans" pitchFamily="34" charset="-122"/>
                <a:cs typeface="Liberation Sans" pitchFamily="34" charset="-120"/>
              </a:rPr>
              <a:t>Retrieval-Augmented Generation (RAG)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 — Research Principles and Literature</a:t>
            </a:r>
            <a:endParaRPr lang="en-US" sz="1400" dirty="0"/>
          </a:p>
          <a:p>
            <a:pPr marL="342900" indent="-342900" algn="l">
              <a:lnSpc>
                <a:spcPts val="1440"/>
              </a:lnSpc>
              <a:spcAft>
                <a:spcPts val="788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54360"/>
                </a:solidFill>
                <a:ea typeface="Liberation Sans Narrow" pitchFamily="34" charset="-122"/>
                <a:cs typeface="Liberation Sans Narrow" pitchFamily="34" charset="-120"/>
              </a:rPr>
              <a:t>Llama 3.2 and Ollama</a:t>
            </a:r>
            <a:r>
              <a:rPr lang="en-US" sz="1400" dirty="0">
                <a:solidFill>
                  <a:srgbClr val="1F2A37"/>
                </a:solidFill>
                <a:ea typeface="Liberation Sans" pitchFamily="34" charset="-122"/>
                <a:cs typeface="Liberation Sans" pitchFamily="34" charset="-120"/>
              </a:rPr>
              <a:t> — Technical Documentation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23452" y="22303"/>
            <a:ext cx="9190904" cy="5151292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defTabSz="685783">
              <a:defRPr/>
            </a:pPr>
            <a:endParaRPr lang="en-US" sz="1350" dirty="0">
              <a:solidFill>
                <a:prstClr val="white"/>
              </a:solidFill>
              <a:latin typeface="Frutiger LT Pro 45 Light" panose="020B0403030504020204" pitchFamily="34" charset="0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7227" y="13279"/>
            <a:ext cx="5182591" cy="793594"/>
          </a:xfrm>
        </p:spPr>
        <p:txBody>
          <a:bodyPr/>
          <a:lstStyle/>
          <a:p>
            <a:pPr marL="0" indent="0" algn="ctr">
              <a:buNone/>
            </a:pPr>
            <a:r>
              <a:rPr lang="en-US" sz="33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233013" y="840230"/>
            <a:ext cx="43996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3094464" y="883183"/>
            <a:ext cx="2274848" cy="37797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defTabSz="685800">
              <a:lnSpc>
                <a:spcPct val="90000"/>
              </a:lnSpc>
              <a:spcBef>
                <a:spcPts val="750"/>
              </a:spcBef>
              <a:defRPr/>
            </a:pPr>
            <a:r>
              <a:rPr lang="en-US" sz="900" dirty="0">
                <a:solidFill>
                  <a:srgbClr val="595959"/>
                </a:solidFill>
                <a:latin typeface="Frutiger 45 bold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35177" y="1244867"/>
            <a:ext cx="8571138" cy="4885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>
              <a:defRPr/>
            </a:pPr>
            <a:r>
              <a:rPr lang="en-US" sz="2800" b="1" kern="0" spc="11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 III</a:t>
            </a:r>
            <a:br>
              <a:rPr lang="en-US" sz="2800" kern="0" spc="113" dirty="0">
                <a:latin typeface="Carlito" pitchFamily="34" charset="0"/>
                <a:ea typeface="Carlito" pitchFamily="34" charset="-122"/>
              </a:rPr>
            </a:br>
            <a:br>
              <a:rPr lang="en-US" sz="2700" b="1" dirty="0">
                <a:solidFill>
                  <a:prstClr val="white"/>
                </a:solidFill>
                <a:cs typeface="Calibri" panose="020F0502020204030204" pitchFamily="34" charset="0"/>
              </a:rPr>
            </a:br>
            <a:r>
              <a:rPr lang="en-US" sz="27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algn="ctr">
              <a:defRPr/>
            </a:pPr>
            <a:r>
              <a:rPr lang="en-US" sz="2700" b="1" dirty="0">
                <a:solidFill>
                  <a:schemeClr val="bg1"/>
                </a:solidFill>
                <a:ea typeface="Tinos" pitchFamily="34" charset="-122"/>
                <a:cs typeface="Times New Roman" panose="02020603050405020304" pitchFamily="18" charset="0"/>
              </a:rPr>
              <a:t>Agentic AI-Based Industrial Equipment Health Monitoring and Fault Diagnosis</a:t>
            </a:r>
            <a:r>
              <a:rPr lang="en-IN" sz="2700" b="1" dirty="0">
                <a:solidFill>
                  <a:schemeClr val="bg1"/>
                </a:solidFill>
              </a:rPr>
              <a:t> </a:t>
            </a:r>
          </a:p>
          <a:p>
            <a:pPr lvl="0" algn="ctr">
              <a:defRPr/>
            </a:pPr>
            <a:endParaRPr lang="en-US" sz="405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Aniket Patil</a:t>
            </a:r>
          </a:p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T10007</a:t>
            </a:r>
          </a:p>
          <a:p>
            <a:pPr lvl="0" algn="ctr">
              <a:defRPr/>
            </a:pPr>
            <a:endParaRPr lang="en-US" sz="405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405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35468" y="4125933"/>
          <a:ext cx="9179412" cy="2494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89706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4589706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145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303020"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499" y="4389501"/>
            <a:ext cx="1490601" cy="6355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EA6B6C-F49C-F24B-B055-7E1142D72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0" y="4500915"/>
            <a:ext cx="2069319" cy="55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350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71475"/>
            <a:ext cx="8636000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Introduction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00050" y="757238"/>
            <a:ext cx="657225" cy="28575"/>
          </a:xfrm>
          <a:prstGeom prst="roundRect">
            <a:avLst>
              <a:gd name="adj" fmla="val 6666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942975"/>
            <a:ext cx="5006318" cy="25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63"/>
              </a:spcAft>
            </a:pPr>
            <a:r>
              <a:rPr lang="en-US" sz="14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4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Industrial equipment such as bearings and rotating machinery generate continuous high-frequency vibration signals.</a:t>
            </a:r>
            <a:endParaRPr lang="en-US" sz="1400" dirty="0"/>
          </a:p>
          <a:p>
            <a:pPr>
              <a:spcAft>
                <a:spcPts val="563"/>
              </a:spcAft>
            </a:pPr>
            <a:r>
              <a:rPr lang="en-US" sz="14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4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Mechanical degradation develops gradually, often appearing in vibration data long before severe failure.</a:t>
            </a:r>
            <a:endParaRPr lang="en-US" sz="1400" dirty="0"/>
          </a:p>
          <a:p>
            <a:pPr>
              <a:spcAft>
                <a:spcPts val="563"/>
              </a:spcAft>
            </a:pPr>
            <a:r>
              <a:rPr lang="en-US" sz="14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4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Traditional condition monitoring relies heavily on slow, manual interpretation of these sensor measurements.</a:t>
            </a:r>
            <a:endParaRPr lang="en-US" sz="1400" dirty="0"/>
          </a:p>
          <a:p>
            <a:pPr>
              <a:spcAft>
                <a:spcPts val="563"/>
              </a:spcAft>
            </a:pPr>
            <a:r>
              <a:rPr lang="en-US" sz="14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4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An automated AI-driven system can continuously analyze equipment condition to proactively identify abnormal behavior.</a:t>
            </a:r>
            <a:endParaRPr lang="en-US" sz="1400" dirty="0"/>
          </a:p>
          <a:p>
            <a:pPr>
              <a:spcAft>
                <a:spcPts val="563"/>
              </a:spcAft>
            </a:pPr>
            <a:r>
              <a:rPr lang="en-US" sz="14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4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The proposed system combines machine learning, anomaly detection, a unified health score, agentic orchestration, and maintenance knowledge retrieval (RAG).</a:t>
            </a:r>
            <a:endParaRPr lang="en-US" sz="1400" dirty="0"/>
          </a:p>
          <a:p>
            <a:pPr>
              <a:spcAft>
                <a:spcPts val="563"/>
              </a:spcAft>
            </a:pPr>
            <a:r>
              <a:rPr lang="en-US" sz="14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4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The ultimate goal is an interactive Decision-Support System for maintenance personnel.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393" y="942975"/>
            <a:ext cx="3337471" cy="3971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09965" y="946547"/>
            <a:ext cx="3330327" cy="3964781"/>
          </a:xfrm>
          <a:prstGeom prst="roundRect">
            <a:avLst>
              <a:gd name="adj" fmla="val 3432"/>
            </a:avLst>
          </a:prstGeom>
          <a:noFill/>
          <a:ln w="7144">
            <a:solidFill>
              <a:srgbClr val="E2EE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713549" y="1633463"/>
            <a:ext cx="3232886" cy="164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79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END-TO-END MONITORING FLOW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03566" y="1876239"/>
            <a:ext cx="2143125" cy="342900"/>
          </a:xfrm>
          <a:prstGeom prst="roundRect">
            <a:avLst>
              <a:gd name="adj" fmla="val 22222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03566" y="1886955"/>
            <a:ext cx="2143125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0" name="Shape 7"/>
          <p:cNvSpPr/>
          <p:nvPr/>
        </p:nvSpPr>
        <p:spPr>
          <a:xfrm>
            <a:off x="8343119" y="1876239"/>
            <a:ext cx="0" cy="3429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1" name="Shape 8"/>
          <p:cNvSpPr/>
          <p:nvPr/>
        </p:nvSpPr>
        <p:spPr>
          <a:xfrm>
            <a:off x="6203566" y="2215567"/>
            <a:ext cx="214312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2" name="Shape 9"/>
          <p:cNvSpPr/>
          <p:nvPr/>
        </p:nvSpPr>
        <p:spPr>
          <a:xfrm>
            <a:off x="6207137" y="1876239"/>
            <a:ext cx="0" cy="3429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3" name="Text 10"/>
          <p:cNvSpPr/>
          <p:nvPr/>
        </p:nvSpPr>
        <p:spPr>
          <a:xfrm>
            <a:off x="6852084" y="1983395"/>
            <a:ext cx="105560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Industrial Equipment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64638" y="1937199"/>
            <a:ext cx="220980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208453" y="2233445"/>
            <a:ext cx="133350" cy="1202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EEF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03566" y="2381101"/>
            <a:ext cx="2143125" cy="342900"/>
          </a:xfrm>
          <a:prstGeom prst="roundRect">
            <a:avLst>
              <a:gd name="adj" fmla="val 22222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03566" y="2391817"/>
            <a:ext cx="2143125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8" name="Shape 15"/>
          <p:cNvSpPr/>
          <p:nvPr/>
        </p:nvSpPr>
        <p:spPr>
          <a:xfrm>
            <a:off x="8343119" y="2381101"/>
            <a:ext cx="0" cy="3429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9" name="Shape 16"/>
          <p:cNvSpPr/>
          <p:nvPr/>
        </p:nvSpPr>
        <p:spPr>
          <a:xfrm>
            <a:off x="6203566" y="2720429"/>
            <a:ext cx="214312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0" name="Shape 17"/>
          <p:cNvSpPr/>
          <p:nvPr/>
        </p:nvSpPr>
        <p:spPr>
          <a:xfrm>
            <a:off x="6207137" y="2381101"/>
            <a:ext cx="0" cy="3429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1" name="Text 18"/>
          <p:cNvSpPr/>
          <p:nvPr/>
        </p:nvSpPr>
        <p:spPr>
          <a:xfrm>
            <a:off x="7016055" y="2488257"/>
            <a:ext cx="72754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Vibration Data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164638" y="2442061"/>
            <a:ext cx="220980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208453" y="2738307"/>
            <a:ext cx="133350" cy="1202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EEF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203566" y="2885963"/>
            <a:ext cx="2143125" cy="342900"/>
          </a:xfrm>
          <a:prstGeom prst="roundRect">
            <a:avLst>
              <a:gd name="adj" fmla="val 22222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203566" y="2896679"/>
            <a:ext cx="2143125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6" name="Shape 23"/>
          <p:cNvSpPr/>
          <p:nvPr/>
        </p:nvSpPr>
        <p:spPr>
          <a:xfrm>
            <a:off x="8343119" y="2885963"/>
            <a:ext cx="0" cy="3429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7" name="Shape 24"/>
          <p:cNvSpPr/>
          <p:nvPr/>
        </p:nvSpPr>
        <p:spPr>
          <a:xfrm>
            <a:off x="6203566" y="3225292"/>
            <a:ext cx="214312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8" name="Shape 25"/>
          <p:cNvSpPr/>
          <p:nvPr/>
        </p:nvSpPr>
        <p:spPr>
          <a:xfrm>
            <a:off x="6207137" y="2885963"/>
            <a:ext cx="0" cy="3429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9" name="Text 26"/>
          <p:cNvSpPr/>
          <p:nvPr/>
        </p:nvSpPr>
        <p:spPr>
          <a:xfrm>
            <a:off x="6970040" y="2993120"/>
            <a:ext cx="8195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AI Analysis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164638" y="2946924"/>
            <a:ext cx="220980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208453" y="3243169"/>
            <a:ext cx="133350" cy="1202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EEF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203566" y="3390826"/>
            <a:ext cx="2143125" cy="342900"/>
          </a:xfrm>
          <a:prstGeom prst="roundRect">
            <a:avLst>
              <a:gd name="adj" fmla="val 22222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203566" y="3401541"/>
            <a:ext cx="2143125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4" name="Shape 31"/>
          <p:cNvSpPr/>
          <p:nvPr/>
        </p:nvSpPr>
        <p:spPr>
          <a:xfrm>
            <a:off x="8343119" y="3390826"/>
            <a:ext cx="0" cy="3429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5" name="Shape 32"/>
          <p:cNvSpPr/>
          <p:nvPr/>
        </p:nvSpPr>
        <p:spPr>
          <a:xfrm>
            <a:off x="6203566" y="3730154"/>
            <a:ext cx="214312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6" name="Shape 33"/>
          <p:cNvSpPr/>
          <p:nvPr/>
        </p:nvSpPr>
        <p:spPr>
          <a:xfrm>
            <a:off x="6207137" y="3390826"/>
            <a:ext cx="0" cy="3429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7" name="Text 34"/>
          <p:cNvSpPr/>
          <p:nvPr/>
        </p:nvSpPr>
        <p:spPr>
          <a:xfrm>
            <a:off x="6880324" y="3497982"/>
            <a:ext cx="99912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Health Assessment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7164638" y="3451786"/>
            <a:ext cx="220980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208453" y="3748032"/>
            <a:ext cx="133350" cy="1202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EEF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203566" y="3895688"/>
            <a:ext cx="2143125" cy="497636"/>
          </a:xfrm>
          <a:prstGeom prst="roundRect">
            <a:avLst>
              <a:gd name="adj" fmla="val 22222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203566" y="3906403"/>
            <a:ext cx="2143125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42" name="Shape 39"/>
          <p:cNvSpPr/>
          <p:nvPr/>
        </p:nvSpPr>
        <p:spPr>
          <a:xfrm>
            <a:off x="8343119" y="3895688"/>
            <a:ext cx="0" cy="3429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43" name="Shape 40"/>
          <p:cNvSpPr/>
          <p:nvPr/>
        </p:nvSpPr>
        <p:spPr>
          <a:xfrm>
            <a:off x="6207137" y="4392671"/>
            <a:ext cx="214312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44" name="Shape 41"/>
          <p:cNvSpPr/>
          <p:nvPr/>
        </p:nvSpPr>
        <p:spPr>
          <a:xfrm>
            <a:off x="6207137" y="3895688"/>
            <a:ext cx="0" cy="3429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45" name="Text 42"/>
          <p:cNvSpPr/>
          <p:nvPr/>
        </p:nvSpPr>
        <p:spPr>
          <a:xfrm>
            <a:off x="6556046" y="4087594"/>
            <a:ext cx="1571513" cy="142875"/>
          </a:xfrm>
          <a:prstGeom prst="rect">
            <a:avLst/>
          </a:prstGeom>
          <a:noFill/>
          <a:ln/>
        </p:spPr>
        <p:txBody>
          <a:bodyPr wrap="none" lIns="100013" tIns="71438" rIns="100013" bIns="71438" rtlCol="0" anchor="ctr"/>
          <a:lstStyle/>
          <a:p>
            <a:pPr marL="0" indent="0" algn="ctr">
              <a:buNone/>
            </a:pPr>
            <a:r>
              <a:rPr lang="en-US" sz="1400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Maintenance Decision </a:t>
            </a:r>
          </a:p>
          <a:p>
            <a:pPr marL="0" indent="0" algn="ctr">
              <a:buNone/>
            </a:pPr>
            <a:r>
              <a:rPr lang="en-US" sz="1400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Support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7164638" y="3956648"/>
            <a:ext cx="220980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9" name="Text 44"/>
          <p:cNvSpPr/>
          <p:nvPr/>
        </p:nvSpPr>
        <p:spPr>
          <a:xfrm>
            <a:off x="285750" y="57150"/>
            <a:ext cx="6425915" cy="164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6550796" y="50006"/>
            <a:ext cx="2364604" cy="169736"/>
          </a:xfrm>
          <a:prstGeom prst="rect">
            <a:avLst/>
          </a:prstGeom>
          <a:noFill/>
          <a:ln/>
          <a:effectLst>
            <a:outerShdw blurRad="19050" dist="50800" dir="162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r">
              <a:lnSpc>
                <a:spcPts val="1238"/>
              </a:lnSpc>
              <a:buNone/>
            </a:pPr>
            <a:r>
              <a:rPr lang="en-US" sz="825" i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Agentic AI-Based Equipment Health Monitoring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71475"/>
            <a:ext cx="8636000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Objectives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00050" y="757238"/>
            <a:ext cx="657225" cy="28575"/>
          </a:xfrm>
          <a:prstGeom prst="roundRect">
            <a:avLst>
              <a:gd name="adj" fmla="val 6666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942975"/>
            <a:ext cx="4107656" cy="657225"/>
          </a:xfrm>
          <a:prstGeom prst="roundRect">
            <a:avLst>
              <a:gd name="adj" fmla="val 14493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0050" y="953691"/>
            <a:ext cx="4107656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" name="Shape 4"/>
          <p:cNvSpPr/>
          <p:nvPr/>
        </p:nvSpPr>
        <p:spPr>
          <a:xfrm>
            <a:off x="4504134" y="942975"/>
            <a:ext cx="0" cy="6572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7" name="Shape 5"/>
          <p:cNvSpPr/>
          <p:nvPr/>
        </p:nvSpPr>
        <p:spPr>
          <a:xfrm>
            <a:off x="400050" y="1596628"/>
            <a:ext cx="4107656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8" name="Shape 6"/>
          <p:cNvSpPr/>
          <p:nvPr/>
        </p:nvSpPr>
        <p:spPr>
          <a:xfrm>
            <a:off x="403622" y="942975"/>
            <a:ext cx="0" cy="6572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" y="1050131"/>
            <a:ext cx="328613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7206" y="1050131"/>
            <a:ext cx="3786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28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35831" y="1050131"/>
            <a:ext cx="3464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Develop an integrated AI-based equipment health monitoring decision-support system.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36294" y="942975"/>
            <a:ext cx="4107656" cy="657225"/>
          </a:xfrm>
          <a:prstGeom prst="roundRect">
            <a:avLst>
              <a:gd name="adj" fmla="val 14493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36294" y="953691"/>
            <a:ext cx="4107656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4" name="Shape 11"/>
          <p:cNvSpPr/>
          <p:nvPr/>
        </p:nvSpPr>
        <p:spPr>
          <a:xfrm>
            <a:off x="8740378" y="942975"/>
            <a:ext cx="0" cy="6572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5" name="Shape 12"/>
          <p:cNvSpPr/>
          <p:nvPr/>
        </p:nvSpPr>
        <p:spPr>
          <a:xfrm>
            <a:off x="4636294" y="1596628"/>
            <a:ext cx="4107656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6" name="Shape 13"/>
          <p:cNvSpPr/>
          <p:nvPr/>
        </p:nvSpPr>
        <p:spPr>
          <a:xfrm>
            <a:off x="4639866" y="942975"/>
            <a:ext cx="0" cy="6572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1050131"/>
            <a:ext cx="328613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43450" y="1050131"/>
            <a:ext cx="3786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28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172075" y="1050131"/>
            <a:ext cx="3464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Extract robust time-domain and frequency-domain (FFT) features from raw vibration data.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00050" y="1728788"/>
            <a:ext cx="4107656" cy="657225"/>
          </a:xfrm>
          <a:prstGeom prst="roundRect">
            <a:avLst>
              <a:gd name="adj" fmla="val 14493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00050" y="1739503"/>
            <a:ext cx="4107656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2" name="Shape 18"/>
          <p:cNvSpPr/>
          <p:nvPr/>
        </p:nvSpPr>
        <p:spPr>
          <a:xfrm>
            <a:off x="4504134" y="1728788"/>
            <a:ext cx="0" cy="6572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3" name="Shape 19"/>
          <p:cNvSpPr/>
          <p:nvPr/>
        </p:nvSpPr>
        <p:spPr>
          <a:xfrm>
            <a:off x="400050" y="2382441"/>
            <a:ext cx="4107656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4" name="Shape 20"/>
          <p:cNvSpPr/>
          <p:nvPr/>
        </p:nvSpPr>
        <p:spPr>
          <a:xfrm>
            <a:off x="403622" y="1728788"/>
            <a:ext cx="0" cy="6572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" y="1835944"/>
            <a:ext cx="328613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07206" y="1835944"/>
            <a:ext cx="3786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28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935831" y="1835944"/>
            <a:ext cx="3464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Detect abnormal equipment behavior using unsupervised learning (Isolation Forest).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4636294" y="1728788"/>
            <a:ext cx="4107656" cy="657225"/>
          </a:xfrm>
          <a:prstGeom prst="roundRect">
            <a:avLst>
              <a:gd name="adj" fmla="val 14493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4636294" y="1739503"/>
            <a:ext cx="4107656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0" name="Shape 25"/>
          <p:cNvSpPr/>
          <p:nvPr/>
        </p:nvSpPr>
        <p:spPr>
          <a:xfrm>
            <a:off x="8740378" y="1728788"/>
            <a:ext cx="0" cy="6572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1" name="Shape 26"/>
          <p:cNvSpPr/>
          <p:nvPr/>
        </p:nvSpPr>
        <p:spPr>
          <a:xfrm>
            <a:off x="4636294" y="2382441"/>
            <a:ext cx="4107656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2" name="Shape 27"/>
          <p:cNvSpPr/>
          <p:nvPr/>
        </p:nvSpPr>
        <p:spPr>
          <a:xfrm>
            <a:off x="4639866" y="1728788"/>
            <a:ext cx="0" cy="6572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1835944"/>
            <a:ext cx="328613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743450" y="1835944"/>
            <a:ext cx="3786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28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5172075" y="1835944"/>
            <a:ext cx="3464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Identify specific fault-like conditions using supervised learning (Random Forest).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400050" y="2514600"/>
            <a:ext cx="4107656" cy="657225"/>
          </a:xfrm>
          <a:prstGeom prst="roundRect">
            <a:avLst>
              <a:gd name="adj" fmla="val 14493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400050" y="2525316"/>
            <a:ext cx="4107656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8" name="Shape 32"/>
          <p:cNvSpPr/>
          <p:nvPr/>
        </p:nvSpPr>
        <p:spPr>
          <a:xfrm>
            <a:off x="4504134" y="2514600"/>
            <a:ext cx="0" cy="6572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9" name="Shape 33"/>
          <p:cNvSpPr/>
          <p:nvPr/>
        </p:nvSpPr>
        <p:spPr>
          <a:xfrm>
            <a:off x="400050" y="3168253"/>
            <a:ext cx="4107656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40" name="Shape 34"/>
          <p:cNvSpPr/>
          <p:nvPr/>
        </p:nvSpPr>
        <p:spPr>
          <a:xfrm>
            <a:off x="403622" y="2514600"/>
            <a:ext cx="0" cy="6572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" y="2621756"/>
            <a:ext cx="328613" cy="45720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07206" y="2621756"/>
            <a:ext cx="3786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28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935831" y="2621756"/>
            <a:ext cx="3464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Generate a unified health score and track the chronological degradation trend.</a:t>
            </a:r>
            <a:endParaRPr lang="en-US" sz="1400" dirty="0"/>
          </a:p>
        </p:txBody>
      </p:sp>
      <p:sp>
        <p:nvSpPr>
          <p:cNvPr id="44" name="Text 37"/>
          <p:cNvSpPr/>
          <p:nvPr/>
        </p:nvSpPr>
        <p:spPr>
          <a:xfrm>
            <a:off x="4636294" y="2514600"/>
            <a:ext cx="4107656" cy="657225"/>
          </a:xfrm>
          <a:prstGeom prst="roundRect">
            <a:avLst>
              <a:gd name="adj" fmla="val 14493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4636294" y="2525316"/>
            <a:ext cx="4107656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46" name="Shape 39"/>
          <p:cNvSpPr/>
          <p:nvPr/>
        </p:nvSpPr>
        <p:spPr>
          <a:xfrm>
            <a:off x="8740378" y="2514600"/>
            <a:ext cx="0" cy="6572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47" name="Shape 40"/>
          <p:cNvSpPr/>
          <p:nvPr/>
        </p:nvSpPr>
        <p:spPr>
          <a:xfrm>
            <a:off x="4636294" y="3168253"/>
            <a:ext cx="4107656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48" name="Shape 41"/>
          <p:cNvSpPr/>
          <p:nvPr/>
        </p:nvSpPr>
        <p:spPr>
          <a:xfrm>
            <a:off x="4639866" y="2514600"/>
            <a:ext cx="0" cy="6572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2621756"/>
            <a:ext cx="328613" cy="45720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4743450" y="2621756"/>
            <a:ext cx="3786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28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400" dirty="0"/>
          </a:p>
        </p:txBody>
      </p:sp>
      <p:sp>
        <p:nvSpPr>
          <p:cNvPr id="51" name="Text 43"/>
          <p:cNvSpPr/>
          <p:nvPr/>
        </p:nvSpPr>
        <p:spPr>
          <a:xfrm>
            <a:off x="5172075" y="2621756"/>
            <a:ext cx="3464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Implement agentic orchestration to coordinate specialized analysis components.</a:t>
            </a:r>
            <a:endParaRPr lang="en-US" sz="1400" dirty="0"/>
          </a:p>
        </p:txBody>
      </p:sp>
      <p:sp>
        <p:nvSpPr>
          <p:cNvPr id="52" name="Text 44"/>
          <p:cNvSpPr/>
          <p:nvPr/>
        </p:nvSpPr>
        <p:spPr>
          <a:xfrm>
            <a:off x="400050" y="3300413"/>
            <a:ext cx="4107656" cy="657225"/>
          </a:xfrm>
          <a:prstGeom prst="roundRect">
            <a:avLst>
              <a:gd name="adj" fmla="val 14493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3" name="Shape 45"/>
          <p:cNvSpPr/>
          <p:nvPr/>
        </p:nvSpPr>
        <p:spPr>
          <a:xfrm>
            <a:off x="400050" y="3311128"/>
            <a:ext cx="4107656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4" name="Shape 46"/>
          <p:cNvSpPr/>
          <p:nvPr/>
        </p:nvSpPr>
        <p:spPr>
          <a:xfrm>
            <a:off x="4504134" y="3300413"/>
            <a:ext cx="0" cy="6572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5" name="Shape 47"/>
          <p:cNvSpPr/>
          <p:nvPr/>
        </p:nvSpPr>
        <p:spPr>
          <a:xfrm>
            <a:off x="400050" y="3954066"/>
            <a:ext cx="4107656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6" name="Shape 48"/>
          <p:cNvSpPr/>
          <p:nvPr/>
        </p:nvSpPr>
        <p:spPr>
          <a:xfrm>
            <a:off x="403622" y="3300413"/>
            <a:ext cx="0" cy="6572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" y="3407569"/>
            <a:ext cx="328613" cy="457200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507206" y="3407569"/>
            <a:ext cx="3786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28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1400" dirty="0"/>
          </a:p>
        </p:txBody>
      </p:sp>
      <p:sp>
        <p:nvSpPr>
          <p:cNvPr id="59" name="Text 50"/>
          <p:cNvSpPr/>
          <p:nvPr/>
        </p:nvSpPr>
        <p:spPr>
          <a:xfrm>
            <a:off x="935831" y="3407569"/>
            <a:ext cx="3464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Retrieve contextual maintenance knowledge using a local RAG system.</a:t>
            </a:r>
            <a:endParaRPr lang="en-US" sz="1400" dirty="0"/>
          </a:p>
        </p:txBody>
      </p:sp>
      <p:sp>
        <p:nvSpPr>
          <p:cNvPr id="60" name="Text 51"/>
          <p:cNvSpPr/>
          <p:nvPr/>
        </p:nvSpPr>
        <p:spPr>
          <a:xfrm>
            <a:off x="4636294" y="3300413"/>
            <a:ext cx="4107656" cy="657225"/>
          </a:xfrm>
          <a:prstGeom prst="roundRect">
            <a:avLst>
              <a:gd name="adj" fmla="val 14493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1" name="Shape 52"/>
          <p:cNvSpPr/>
          <p:nvPr/>
        </p:nvSpPr>
        <p:spPr>
          <a:xfrm>
            <a:off x="4636294" y="3311128"/>
            <a:ext cx="4107656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2" name="Shape 53"/>
          <p:cNvSpPr/>
          <p:nvPr/>
        </p:nvSpPr>
        <p:spPr>
          <a:xfrm>
            <a:off x="8740378" y="3300413"/>
            <a:ext cx="0" cy="6572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3" name="Shape 54"/>
          <p:cNvSpPr/>
          <p:nvPr/>
        </p:nvSpPr>
        <p:spPr>
          <a:xfrm>
            <a:off x="4636294" y="3954066"/>
            <a:ext cx="4107656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4" name="Shape 55"/>
          <p:cNvSpPr/>
          <p:nvPr/>
        </p:nvSpPr>
        <p:spPr>
          <a:xfrm>
            <a:off x="4639866" y="3300413"/>
            <a:ext cx="0" cy="6572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pic>
        <p:nvPicPr>
          <p:cNvPr id="6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3407569"/>
            <a:ext cx="328613" cy="457200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4743450" y="3407569"/>
            <a:ext cx="3786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28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1400" dirty="0"/>
          </a:p>
        </p:txBody>
      </p:sp>
      <p:sp>
        <p:nvSpPr>
          <p:cNvPr id="67" name="Text 57"/>
          <p:cNvSpPr/>
          <p:nvPr/>
        </p:nvSpPr>
        <p:spPr>
          <a:xfrm>
            <a:off x="5172075" y="3407569"/>
            <a:ext cx="3464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Provide an intuitive dashboard for users to upload and analyze industrial datasets.</a:t>
            </a:r>
            <a:endParaRPr lang="en-US" sz="1400" dirty="0"/>
          </a:p>
        </p:txBody>
      </p:sp>
      <p:sp>
        <p:nvSpPr>
          <p:cNvPr id="70" name="Text 58"/>
          <p:cNvSpPr/>
          <p:nvPr/>
        </p:nvSpPr>
        <p:spPr>
          <a:xfrm>
            <a:off x="285750" y="57150"/>
            <a:ext cx="6425915" cy="164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endParaRPr lang="en-US" sz="800" dirty="0"/>
          </a:p>
        </p:txBody>
      </p:sp>
      <p:sp>
        <p:nvSpPr>
          <p:cNvPr id="71" name="Text 59"/>
          <p:cNvSpPr/>
          <p:nvPr/>
        </p:nvSpPr>
        <p:spPr>
          <a:xfrm>
            <a:off x="6550796" y="50006"/>
            <a:ext cx="2364604" cy="169736"/>
          </a:xfrm>
          <a:prstGeom prst="rect">
            <a:avLst/>
          </a:prstGeom>
          <a:noFill/>
          <a:ln/>
          <a:effectLst>
            <a:outerShdw blurRad="19050" dist="50800" dir="162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r">
              <a:lnSpc>
                <a:spcPts val="1238"/>
              </a:lnSpc>
              <a:buNone/>
            </a:pPr>
            <a:r>
              <a:rPr lang="en-US" sz="825" i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Agentic AI-Based Equipment Health Monitoring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60965"/>
            <a:ext cx="8636000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11" dirty="0">
                <a:solidFill>
                  <a:srgbClr val="1A3B5C"/>
                </a:solidFill>
                <a:latin typeface="+mj-lt"/>
                <a:ea typeface="Carlito" pitchFamily="34" charset="-122"/>
                <a:cs typeface="Carlito" pitchFamily="34" charset="-120"/>
              </a:rPr>
              <a:t>System Modules</a:t>
            </a:r>
            <a:endParaRPr lang="en-US" sz="225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00050" y="757238"/>
            <a:ext cx="657225" cy="28575"/>
          </a:xfrm>
          <a:prstGeom prst="roundRect">
            <a:avLst>
              <a:gd name="adj" fmla="val 6666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42975"/>
            <a:ext cx="8058150" cy="2286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946547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11778" y="942975"/>
            <a:ext cx="0" cy="2286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168003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1488" y="942975"/>
            <a:ext cx="0" cy="228600"/>
          </a:xfrm>
          <a:prstGeom prst="line">
            <a:avLst/>
          </a:prstGeom>
          <a:noFill/>
          <a:ln w="28575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585788" y="961270"/>
            <a:ext cx="218554" cy="191899"/>
          </a:xfrm>
          <a:prstGeom prst="roundRect">
            <a:avLst>
              <a:gd name="adj" fmla="val 19854"/>
            </a:avLst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5788" y="971550"/>
            <a:ext cx="218554" cy="171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1200" b="1" kern="0" spc="17" dirty="0">
                <a:solidFill>
                  <a:srgbClr val="0072BC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2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90067" y="971550"/>
            <a:ext cx="179536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b="1" kern="0" spc="23" dirty="0">
                <a:solidFill>
                  <a:srgbClr val="1A3B5C"/>
                </a:solidFill>
                <a:latin typeface="+mj-lt"/>
                <a:ea typeface="Carlito" pitchFamily="34" charset="-122"/>
                <a:cs typeface="Carlito" pitchFamily="34" charset="-120"/>
              </a:rPr>
              <a:t>DATA INGESTION &amp; VALIDATION</a:t>
            </a:r>
            <a:endParaRPr lang="en-US" sz="12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38165" y="971550"/>
            <a:ext cx="1828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D8E2EC"/>
                </a:solidFill>
                <a:latin typeface="+mj-lt"/>
                <a:ea typeface="Carlito" pitchFamily="34" charset="-122"/>
                <a:cs typeface="Carlito" pitchFamily="34" charset="-120"/>
              </a:rPr>
              <a:t>—</a:t>
            </a:r>
            <a:endParaRPr lang="en-US" sz="12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392589" y="1000125"/>
            <a:ext cx="6015605" cy="131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200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Built-in IMS Dataset &amp; User CSV Uploads</a:t>
            </a:r>
            <a:endParaRPr lang="en-US" sz="120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2877" y="1266716"/>
            <a:ext cx="8058150" cy="2286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2877" y="1270288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667455" y="1266716"/>
            <a:ext cx="0" cy="2286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2877" y="1491744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7165" y="1266716"/>
            <a:ext cx="0" cy="228600"/>
          </a:xfrm>
          <a:prstGeom prst="line">
            <a:avLst/>
          </a:prstGeom>
          <a:noFill/>
          <a:ln w="28575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1465" y="1285010"/>
            <a:ext cx="218554" cy="191899"/>
          </a:xfrm>
          <a:prstGeom prst="roundRect">
            <a:avLst>
              <a:gd name="adj" fmla="val 19854"/>
            </a:avLst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1465" y="1295291"/>
            <a:ext cx="218554" cy="171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1200" b="1" kern="0" spc="17" dirty="0">
                <a:solidFill>
                  <a:srgbClr val="0072BC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200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45744" y="1295291"/>
            <a:ext cx="157473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b="1" kern="0" spc="23" dirty="0">
                <a:solidFill>
                  <a:srgbClr val="1A3B5C"/>
                </a:solidFill>
                <a:latin typeface="+mj-lt"/>
                <a:ea typeface="Carlito" pitchFamily="34" charset="-122"/>
                <a:cs typeface="Carlito" pitchFamily="34" charset="-120"/>
              </a:rPr>
              <a:t>FEATURE ENGINEERING</a:t>
            </a:r>
            <a:endParaRPr lang="en-US" sz="1200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366556" y="1295291"/>
            <a:ext cx="1828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D8E2EC"/>
                </a:solidFill>
                <a:latin typeface="+mj-lt"/>
                <a:ea typeface="Carlito" pitchFamily="34" charset="-122"/>
                <a:cs typeface="Carlito" pitchFamily="34" charset="-120"/>
              </a:rPr>
              <a:t>—</a:t>
            </a:r>
            <a:endParaRPr lang="en-US" sz="1200" dirty="0">
              <a:latin typeface="+mj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086798" y="1323866"/>
            <a:ext cx="6477073" cy="131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200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Time-Domain + Frequency-Domain (FFT)</a:t>
            </a:r>
            <a:endParaRPr lang="en-US" sz="1200" dirty="0">
              <a:latin typeface="+mj-l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41427" y="1600916"/>
            <a:ext cx="8058150" cy="2286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41427" y="1604487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496005" y="1600916"/>
            <a:ext cx="0" cy="2286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41427" y="1825944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5715" y="1600916"/>
            <a:ext cx="0" cy="228600"/>
          </a:xfrm>
          <a:prstGeom prst="line">
            <a:avLst/>
          </a:prstGeom>
          <a:noFill/>
          <a:ln w="28575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70015" y="1619210"/>
            <a:ext cx="218554" cy="191899"/>
          </a:xfrm>
          <a:prstGeom prst="roundRect">
            <a:avLst>
              <a:gd name="adj" fmla="val 19854"/>
            </a:avLst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70015" y="1629491"/>
            <a:ext cx="218554" cy="171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1200" b="1" kern="0" spc="17" dirty="0">
                <a:solidFill>
                  <a:srgbClr val="0072BC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200" dirty="0">
              <a:latin typeface="+mj-lt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74294" y="1629491"/>
            <a:ext cx="199716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b="1" kern="0" spc="23" dirty="0">
                <a:solidFill>
                  <a:srgbClr val="1A3B5C"/>
                </a:solidFill>
                <a:latin typeface="+mj-lt"/>
                <a:ea typeface="Carlito" pitchFamily="34" charset="-122"/>
                <a:cs typeface="Carlito" pitchFamily="34" charset="-120"/>
              </a:rPr>
              <a:t>CHRONOLOGICAL PREPROCESSING</a:t>
            </a:r>
            <a:endParaRPr lang="en-US" sz="1200" dirty="0">
              <a:latin typeface="+mj-lt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809245" y="1629491"/>
            <a:ext cx="1828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D8E2EC"/>
                </a:solidFill>
                <a:latin typeface="+mj-lt"/>
                <a:ea typeface="Carlito" pitchFamily="34" charset="-122"/>
                <a:cs typeface="Carlito" pitchFamily="34" charset="-120"/>
              </a:rPr>
              <a:t>—</a:t>
            </a:r>
            <a:endParaRPr lang="en-US" sz="1200" dirty="0">
              <a:latin typeface="+mj-lt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578618" y="1658066"/>
            <a:ext cx="5813803" cy="131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200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Strict 70/30 temporal split, no leakage</a:t>
            </a:r>
            <a:endParaRPr lang="en-US" sz="1200" dirty="0">
              <a:latin typeface="+mj-lt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2877" y="1935074"/>
            <a:ext cx="8058150" cy="2286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2877" y="1938646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667455" y="1935074"/>
            <a:ext cx="0" cy="2286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12877" y="2160102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7165" y="1935074"/>
            <a:ext cx="0" cy="228600"/>
          </a:xfrm>
          <a:prstGeom prst="line">
            <a:avLst/>
          </a:prstGeom>
          <a:noFill/>
          <a:ln w="28575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41465" y="1953369"/>
            <a:ext cx="218554" cy="191899"/>
          </a:xfrm>
          <a:prstGeom prst="roundRect">
            <a:avLst>
              <a:gd name="adj" fmla="val 19854"/>
            </a:avLst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1465" y="1963649"/>
            <a:ext cx="218554" cy="171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1200" b="1" kern="0" spc="17" dirty="0">
                <a:solidFill>
                  <a:srgbClr val="0072BC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200" dirty="0">
              <a:latin typeface="+mj-lt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45744" y="1963649"/>
            <a:ext cx="121069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b="1" kern="0" spc="23" dirty="0">
                <a:solidFill>
                  <a:srgbClr val="1A3B5C"/>
                </a:solidFill>
                <a:latin typeface="+mj-lt"/>
                <a:ea typeface="Carlito" pitchFamily="34" charset="-122"/>
                <a:cs typeface="Carlito" pitchFamily="34" charset="-120"/>
              </a:rPr>
              <a:t>FAULT DIAGNOSIS</a:t>
            </a:r>
            <a:endParaRPr lang="en-US" sz="1200" dirty="0">
              <a:latin typeface="+mj-lt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081029" y="1963649"/>
            <a:ext cx="1828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D8E2EC"/>
                </a:solidFill>
                <a:latin typeface="+mj-lt"/>
                <a:ea typeface="Carlito" pitchFamily="34" charset="-122"/>
                <a:cs typeface="Carlito" pitchFamily="34" charset="-120"/>
              </a:rPr>
              <a:t>—</a:t>
            </a:r>
            <a:endParaRPr lang="en-US" sz="1200" dirty="0">
              <a:latin typeface="+mj-lt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778429" y="1992224"/>
            <a:ext cx="6785442" cy="131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200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Random Forest (Supervised)</a:t>
            </a:r>
            <a:endParaRPr lang="en-US" sz="1200" dirty="0">
              <a:latin typeface="+mj-lt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53628" y="2270386"/>
            <a:ext cx="8058150" cy="2286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53628" y="2273958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508206" y="2270386"/>
            <a:ext cx="0" cy="2286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53628" y="2495414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67916" y="2270386"/>
            <a:ext cx="0" cy="228600"/>
          </a:xfrm>
          <a:prstGeom prst="line">
            <a:avLst/>
          </a:prstGeom>
          <a:noFill/>
          <a:ln w="28575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82216" y="2288681"/>
            <a:ext cx="218554" cy="191899"/>
          </a:xfrm>
          <a:prstGeom prst="roundRect">
            <a:avLst>
              <a:gd name="adj" fmla="val 19854"/>
            </a:avLst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82216" y="2298961"/>
            <a:ext cx="218554" cy="171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1200" b="1" kern="0" spc="17" dirty="0">
                <a:solidFill>
                  <a:srgbClr val="0072BC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200" dirty="0">
              <a:latin typeface="+mj-lt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86495" y="2298961"/>
            <a:ext cx="145988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b="1" kern="0" spc="23" dirty="0">
                <a:solidFill>
                  <a:srgbClr val="1A3B5C"/>
                </a:solidFill>
                <a:latin typeface="+mj-lt"/>
                <a:ea typeface="Carlito" pitchFamily="34" charset="-122"/>
                <a:cs typeface="Carlito" pitchFamily="34" charset="-120"/>
              </a:rPr>
              <a:t>ANOMALY DETECTION</a:t>
            </a:r>
            <a:endParaRPr lang="en-US" sz="1200" dirty="0">
              <a:latin typeface="+mj-lt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117229" y="2298961"/>
            <a:ext cx="1828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D8E2EC"/>
                </a:solidFill>
                <a:latin typeface="+mj-lt"/>
                <a:ea typeface="Carlito" pitchFamily="34" charset="-122"/>
                <a:cs typeface="Carlito" pitchFamily="34" charset="-120"/>
              </a:rPr>
              <a:t>—</a:t>
            </a:r>
            <a:endParaRPr lang="en-US" sz="1200" dirty="0">
              <a:latin typeface="+mj-lt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830264" y="2327536"/>
            <a:ext cx="6574357" cy="131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200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Isolation Forest (Unsupervised)</a:t>
            </a:r>
            <a:endParaRPr lang="en-US" sz="1200" dirty="0">
              <a:latin typeface="+mj-lt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45011" y="2641008"/>
            <a:ext cx="8058150" cy="239888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45011" y="2655868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599589" y="2652296"/>
            <a:ext cx="0" cy="2286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45011" y="2877324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559299" y="2652296"/>
            <a:ext cx="0" cy="228600"/>
          </a:xfrm>
          <a:prstGeom prst="line">
            <a:avLst/>
          </a:prstGeom>
          <a:noFill/>
          <a:ln w="28575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73599" y="2670590"/>
            <a:ext cx="218554" cy="191899"/>
          </a:xfrm>
          <a:prstGeom prst="roundRect">
            <a:avLst>
              <a:gd name="adj" fmla="val 19854"/>
            </a:avLst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73599" y="2680871"/>
            <a:ext cx="218554" cy="171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1200" b="1" kern="0" spc="17" dirty="0">
                <a:solidFill>
                  <a:srgbClr val="0072BC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200" dirty="0">
              <a:latin typeface="+mj-lt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977878" y="2680871"/>
            <a:ext cx="144522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b="1" kern="0" spc="23" dirty="0">
                <a:solidFill>
                  <a:srgbClr val="1A3B5C"/>
                </a:solidFill>
                <a:latin typeface="+mj-lt"/>
                <a:ea typeface="Carlito" pitchFamily="34" charset="-122"/>
                <a:cs typeface="Carlito" pitchFamily="34" charset="-120"/>
              </a:rPr>
              <a:t>HEALTH MONITORING</a:t>
            </a:r>
            <a:endParaRPr lang="en-US" sz="1200" dirty="0">
              <a:latin typeface="+mj-lt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2197115" y="2680871"/>
            <a:ext cx="1828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D8E2EC"/>
                </a:solidFill>
                <a:latin typeface="+mj-lt"/>
                <a:ea typeface="Carlito" pitchFamily="34" charset="-122"/>
                <a:cs typeface="Carlito" pitchFamily="34" charset="-120"/>
              </a:rPr>
              <a:t>—</a:t>
            </a:r>
            <a:endParaRPr lang="en-US" sz="1200" dirty="0">
              <a:latin typeface="+mj-lt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909231" y="2709446"/>
            <a:ext cx="6586774" cy="131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200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Weighted Composite Health Score</a:t>
            </a:r>
            <a:endParaRPr lang="en-US" sz="1200" dirty="0">
              <a:latin typeface="+mj-lt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437855" y="3037472"/>
            <a:ext cx="8058150" cy="2286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437855" y="3041043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8492433" y="3037472"/>
            <a:ext cx="0" cy="2286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437855" y="3262500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452143" y="3037472"/>
            <a:ext cx="0" cy="228600"/>
          </a:xfrm>
          <a:prstGeom prst="line">
            <a:avLst/>
          </a:prstGeom>
          <a:noFill/>
          <a:ln w="28575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566443" y="3055766"/>
            <a:ext cx="218554" cy="191899"/>
          </a:xfrm>
          <a:prstGeom prst="roundRect">
            <a:avLst>
              <a:gd name="adj" fmla="val 19854"/>
            </a:avLst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566443" y="3066047"/>
            <a:ext cx="218554" cy="171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1200" b="1" kern="0" spc="17" dirty="0">
                <a:solidFill>
                  <a:srgbClr val="0072BC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1200" dirty="0">
              <a:latin typeface="+mj-lt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870722" y="3066047"/>
            <a:ext cx="176828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b="1" kern="0" spc="23" dirty="0">
                <a:solidFill>
                  <a:srgbClr val="1A3B5C"/>
                </a:solidFill>
                <a:latin typeface="+mj-lt"/>
                <a:ea typeface="Carlito" pitchFamily="34" charset="-122"/>
                <a:cs typeface="Carlito" pitchFamily="34" charset="-120"/>
              </a:rPr>
              <a:t>AGENTIC ORCHESTRATION</a:t>
            </a:r>
            <a:endParaRPr lang="en-US" sz="1200" dirty="0">
              <a:latin typeface="+mj-lt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2343339" y="3066047"/>
            <a:ext cx="1828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D8E2EC"/>
                </a:solidFill>
                <a:latin typeface="+mj-lt"/>
                <a:ea typeface="Carlito" pitchFamily="34" charset="-122"/>
                <a:cs typeface="Carlito" pitchFamily="34" charset="-120"/>
              </a:rPr>
              <a:t>—</a:t>
            </a:r>
            <a:endParaRPr lang="en-US" sz="1200" dirty="0">
              <a:latin typeface="+mj-lt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2075725" y="3094622"/>
            <a:ext cx="6313124" cy="131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200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Deterministic State Machine</a:t>
            </a:r>
            <a:endParaRPr lang="en-US" sz="1200" dirty="0">
              <a:latin typeface="+mj-lt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545012" y="3415234"/>
            <a:ext cx="8058150" cy="2286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545012" y="3418806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8599590" y="3415234"/>
            <a:ext cx="0" cy="2286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545012" y="3640262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559300" y="3415234"/>
            <a:ext cx="0" cy="228600"/>
          </a:xfrm>
          <a:prstGeom prst="line">
            <a:avLst/>
          </a:prstGeom>
          <a:noFill/>
          <a:ln w="28575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673600" y="3433529"/>
            <a:ext cx="218554" cy="191899"/>
          </a:xfrm>
          <a:prstGeom prst="roundRect">
            <a:avLst>
              <a:gd name="adj" fmla="val 19854"/>
            </a:avLst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673600" y="3443809"/>
            <a:ext cx="218554" cy="171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1200" b="1" kern="0" spc="17" dirty="0">
                <a:solidFill>
                  <a:srgbClr val="0072BC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1200" dirty="0">
              <a:latin typeface="+mj-lt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977879" y="3443809"/>
            <a:ext cx="195913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b="1" kern="0" spc="23" dirty="0">
                <a:solidFill>
                  <a:srgbClr val="1A3B5C"/>
                </a:solidFill>
                <a:latin typeface="+mj-lt"/>
                <a:ea typeface="Carlito" pitchFamily="34" charset="-122"/>
                <a:cs typeface="Carlito" pitchFamily="34" charset="-120"/>
              </a:rPr>
              <a:t>RAG KNOWLEDGE RETRIEVAL</a:t>
            </a:r>
            <a:endParaRPr lang="en-US" sz="1200" dirty="0">
              <a:latin typeface="+mj-lt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2600180" y="3443809"/>
            <a:ext cx="1828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D8E2EC"/>
                </a:solidFill>
                <a:latin typeface="+mj-lt"/>
                <a:ea typeface="Carlito" pitchFamily="34" charset="-122"/>
                <a:cs typeface="Carlito" pitchFamily="34" charset="-120"/>
              </a:rPr>
              <a:t>—</a:t>
            </a:r>
            <a:endParaRPr lang="en-US" sz="1200" dirty="0">
              <a:latin typeface="+mj-lt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2344540" y="3472384"/>
            <a:ext cx="6151465" cy="131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200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ChromaDB + Ollama + nomic-embed-text</a:t>
            </a:r>
            <a:endParaRPr lang="en-US" sz="1200" dirty="0">
              <a:latin typeface="+mj-lt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397336" y="3780783"/>
            <a:ext cx="8058150" cy="2286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397336" y="3784355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8451914" y="3780783"/>
            <a:ext cx="0" cy="2286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397336" y="4005811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411624" y="3780783"/>
            <a:ext cx="0" cy="228600"/>
          </a:xfrm>
          <a:prstGeom prst="line">
            <a:avLst/>
          </a:prstGeom>
          <a:noFill/>
          <a:ln w="28575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525924" y="3799078"/>
            <a:ext cx="218554" cy="191899"/>
          </a:xfrm>
          <a:prstGeom prst="roundRect">
            <a:avLst>
              <a:gd name="adj" fmla="val 19854"/>
            </a:avLst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525924" y="3809358"/>
            <a:ext cx="218554" cy="171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1200" b="1" kern="0" spc="17" dirty="0">
                <a:solidFill>
                  <a:srgbClr val="0072BC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1200" dirty="0">
              <a:latin typeface="+mj-lt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830203" y="3809358"/>
            <a:ext cx="78199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b="1" kern="0" spc="23" dirty="0">
                <a:solidFill>
                  <a:srgbClr val="1A3B5C"/>
                </a:solidFill>
                <a:latin typeface="+mj-lt"/>
                <a:ea typeface="Carlito" pitchFamily="34" charset="-122"/>
                <a:cs typeface="Carlito" pitchFamily="34" charset="-120"/>
              </a:rPr>
              <a:t>API LAYER</a:t>
            </a:r>
            <a:endParaRPr lang="en-US" sz="1200" dirty="0">
              <a:latin typeface="+mj-lt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1453383" y="3809358"/>
            <a:ext cx="1828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D8E2EC"/>
                </a:solidFill>
                <a:latin typeface="+mj-lt"/>
                <a:ea typeface="Carlito" pitchFamily="34" charset="-122"/>
                <a:cs typeface="Carlito" pitchFamily="34" charset="-120"/>
              </a:rPr>
              <a:t>—</a:t>
            </a:r>
            <a:endParaRPr lang="en-US" sz="1200" dirty="0">
              <a:latin typeface="+mj-lt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525924" y="3837933"/>
            <a:ext cx="7822406" cy="131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200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FastAPI REST Backend</a:t>
            </a:r>
            <a:endParaRPr lang="en-US" sz="1200" dirty="0">
              <a:latin typeface="+mj-lt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555727" y="4158288"/>
            <a:ext cx="8058150" cy="228600"/>
          </a:xfrm>
          <a:prstGeom prst="roundRect">
            <a:avLst>
              <a:gd name="adj" fmla="val 25000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568786" y="4109078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8610305" y="4158288"/>
            <a:ext cx="0" cy="2286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555727" y="4383316"/>
            <a:ext cx="805815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570015" y="4158288"/>
            <a:ext cx="0" cy="228600"/>
          </a:xfrm>
          <a:prstGeom prst="line">
            <a:avLst/>
          </a:prstGeom>
          <a:noFill/>
          <a:ln w="28575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200">
              <a:latin typeface="+mj-lt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684315" y="4176582"/>
            <a:ext cx="218554" cy="191899"/>
          </a:xfrm>
          <a:prstGeom prst="roundRect">
            <a:avLst>
              <a:gd name="adj" fmla="val 19854"/>
            </a:avLst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684315" y="4186863"/>
            <a:ext cx="218554" cy="171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1200" b="1" kern="0" spc="17" dirty="0">
                <a:solidFill>
                  <a:srgbClr val="0072BC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1200" dirty="0">
              <a:latin typeface="+mj-lt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988594" y="4186863"/>
            <a:ext cx="115177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b="1" kern="0" spc="23" dirty="0">
                <a:solidFill>
                  <a:srgbClr val="1A3B5C"/>
                </a:solidFill>
                <a:latin typeface="+mj-lt"/>
                <a:ea typeface="Carlito" pitchFamily="34" charset="-122"/>
                <a:cs typeface="Carlito" pitchFamily="34" charset="-120"/>
              </a:rPr>
              <a:t>USER INTERFACE</a:t>
            </a:r>
            <a:endParaRPr lang="en-US" sz="1200" dirty="0">
              <a:latin typeface="+mj-lt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1977668" y="4186863"/>
            <a:ext cx="1828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D8E2EC"/>
                </a:solidFill>
                <a:latin typeface="+mj-lt"/>
                <a:ea typeface="Carlito" pitchFamily="34" charset="-122"/>
                <a:cs typeface="Carlito" pitchFamily="34" charset="-120"/>
              </a:rPr>
              <a:t>—</a:t>
            </a:r>
            <a:endParaRPr lang="en-US" sz="1200" dirty="0">
              <a:latin typeface="+mj-lt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1671371" y="4215438"/>
            <a:ext cx="6835350" cy="131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1200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Streamlit Dashboard for Maintenance Engineers</a:t>
            </a:r>
            <a:endParaRPr lang="en-US" sz="1200" dirty="0">
              <a:latin typeface="+mj-lt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327127" y="4429750"/>
            <a:ext cx="8343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3"/>
              </a:lnSpc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4499077" y="1194664"/>
            <a:ext cx="145733" cy="466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07" name="Text 104"/>
          <p:cNvSpPr/>
          <p:nvPr/>
        </p:nvSpPr>
        <p:spPr>
          <a:xfrm>
            <a:off x="4483304" y="1199754"/>
            <a:ext cx="1237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EEF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200" dirty="0">
              <a:latin typeface="+mj-lt"/>
            </a:endParaRPr>
          </a:p>
        </p:txBody>
      </p:sp>
      <p:sp>
        <p:nvSpPr>
          <p:cNvPr id="108" name="Text 105"/>
          <p:cNvSpPr/>
          <p:nvPr/>
        </p:nvSpPr>
        <p:spPr>
          <a:xfrm>
            <a:off x="4483304" y="1559710"/>
            <a:ext cx="145733" cy="466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09" name="Text 106"/>
          <p:cNvSpPr/>
          <p:nvPr/>
        </p:nvSpPr>
        <p:spPr>
          <a:xfrm>
            <a:off x="4494277" y="1523261"/>
            <a:ext cx="1237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EEF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200" dirty="0">
              <a:latin typeface="+mj-lt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4483304" y="1893869"/>
            <a:ext cx="145733" cy="466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11" name="Text 108"/>
          <p:cNvSpPr/>
          <p:nvPr/>
        </p:nvSpPr>
        <p:spPr>
          <a:xfrm>
            <a:off x="4494277" y="1857490"/>
            <a:ext cx="1237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EEF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200" dirty="0">
              <a:latin typeface="+mj-lt"/>
            </a:endParaRPr>
          </a:p>
        </p:txBody>
      </p:sp>
      <p:sp>
        <p:nvSpPr>
          <p:cNvPr id="112" name="Text 109"/>
          <p:cNvSpPr/>
          <p:nvPr/>
        </p:nvSpPr>
        <p:spPr>
          <a:xfrm>
            <a:off x="4495505" y="2229181"/>
            <a:ext cx="145733" cy="466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13" name="Text 110"/>
          <p:cNvSpPr/>
          <p:nvPr/>
        </p:nvSpPr>
        <p:spPr>
          <a:xfrm>
            <a:off x="4495505" y="2203605"/>
            <a:ext cx="1237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EEF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200" dirty="0">
              <a:latin typeface="+mj-lt"/>
            </a:endParaRPr>
          </a:p>
        </p:txBody>
      </p:sp>
      <p:sp>
        <p:nvSpPr>
          <p:cNvPr id="114" name="Text 111"/>
          <p:cNvSpPr/>
          <p:nvPr/>
        </p:nvSpPr>
        <p:spPr>
          <a:xfrm>
            <a:off x="4495505" y="2522075"/>
            <a:ext cx="145733" cy="466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15" name="Text 112"/>
          <p:cNvSpPr/>
          <p:nvPr/>
        </p:nvSpPr>
        <p:spPr>
          <a:xfrm>
            <a:off x="4506478" y="2527561"/>
            <a:ext cx="1237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EEF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200" dirty="0">
              <a:latin typeface="+mj-lt"/>
            </a:endParaRPr>
          </a:p>
        </p:txBody>
      </p:sp>
      <p:sp>
        <p:nvSpPr>
          <p:cNvPr id="116" name="Text 113"/>
          <p:cNvSpPr/>
          <p:nvPr/>
        </p:nvSpPr>
        <p:spPr>
          <a:xfrm>
            <a:off x="4426154" y="3206572"/>
            <a:ext cx="145733" cy="466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17" name="Text 114"/>
          <p:cNvSpPr/>
          <p:nvPr/>
        </p:nvSpPr>
        <p:spPr>
          <a:xfrm>
            <a:off x="4500174" y="2917762"/>
            <a:ext cx="1237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EEF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200" dirty="0">
              <a:latin typeface="+mj-lt"/>
            </a:endParaRPr>
          </a:p>
        </p:txBody>
      </p:sp>
      <p:sp>
        <p:nvSpPr>
          <p:cNvPr id="118" name="Text 115"/>
          <p:cNvSpPr/>
          <p:nvPr/>
        </p:nvSpPr>
        <p:spPr>
          <a:xfrm>
            <a:off x="4415439" y="3374029"/>
            <a:ext cx="145733" cy="466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19" name="Text 116"/>
          <p:cNvSpPr/>
          <p:nvPr/>
        </p:nvSpPr>
        <p:spPr>
          <a:xfrm>
            <a:off x="4500174" y="3304948"/>
            <a:ext cx="1237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EEF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200" dirty="0">
              <a:latin typeface="+mj-lt"/>
            </a:endParaRPr>
          </a:p>
        </p:txBody>
      </p:sp>
      <p:sp>
        <p:nvSpPr>
          <p:cNvPr id="120" name="Text 117"/>
          <p:cNvSpPr/>
          <p:nvPr/>
        </p:nvSpPr>
        <p:spPr>
          <a:xfrm>
            <a:off x="4439213" y="3739578"/>
            <a:ext cx="145733" cy="466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21" name="Text 118"/>
          <p:cNvSpPr/>
          <p:nvPr/>
        </p:nvSpPr>
        <p:spPr>
          <a:xfrm>
            <a:off x="4494277" y="3669065"/>
            <a:ext cx="1237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EEF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200" dirty="0">
              <a:latin typeface="+mj-lt"/>
            </a:endParaRPr>
          </a:p>
        </p:txBody>
      </p:sp>
      <p:sp>
        <p:nvSpPr>
          <p:cNvPr id="122" name="Text 119"/>
          <p:cNvSpPr/>
          <p:nvPr/>
        </p:nvSpPr>
        <p:spPr>
          <a:xfrm>
            <a:off x="4439213" y="4032472"/>
            <a:ext cx="145733" cy="466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123" name="Text 120"/>
          <p:cNvSpPr/>
          <p:nvPr/>
        </p:nvSpPr>
        <p:spPr>
          <a:xfrm>
            <a:off x="4500174" y="4038766"/>
            <a:ext cx="12378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EEF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200" dirty="0">
              <a:latin typeface="+mj-lt"/>
            </a:endParaRPr>
          </a:p>
        </p:txBody>
      </p:sp>
      <p:sp>
        <p:nvSpPr>
          <p:cNvPr id="125" name="Text 121"/>
          <p:cNvSpPr/>
          <p:nvPr/>
        </p:nvSpPr>
        <p:spPr>
          <a:xfrm>
            <a:off x="285750" y="57150"/>
            <a:ext cx="6425915" cy="164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endParaRPr lang="en-US" sz="800" dirty="0">
              <a:latin typeface="+mj-lt"/>
            </a:endParaRPr>
          </a:p>
        </p:txBody>
      </p:sp>
      <p:sp>
        <p:nvSpPr>
          <p:cNvPr id="126" name="Text 122"/>
          <p:cNvSpPr/>
          <p:nvPr/>
        </p:nvSpPr>
        <p:spPr>
          <a:xfrm>
            <a:off x="6550796" y="50006"/>
            <a:ext cx="2364604" cy="169736"/>
          </a:xfrm>
          <a:prstGeom prst="rect">
            <a:avLst/>
          </a:prstGeom>
          <a:noFill/>
          <a:ln/>
          <a:effectLst>
            <a:outerShdw blurRad="19050" dist="50800" dir="162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r">
              <a:lnSpc>
                <a:spcPts val="1238"/>
              </a:lnSpc>
              <a:buNone/>
            </a:pPr>
            <a:r>
              <a:rPr lang="en-US" sz="825" i="1" kern="0" spc="11" dirty="0">
                <a:solidFill>
                  <a:srgbClr val="FFFFFF"/>
                </a:solidFill>
                <a:latin typeface="+mj-lt"/>
                <a:ea typeface="Carlito" pitchFamily="34" charset="-122"/>
                <a:cs typeface="Carlito" pitchFamily="34" charset="-120"/>
              </a:rPr>
              <a:t>Agentic AI-Based Equipment Health Monitoring</a:t>
            </a:r>
            <a:endParaRPr lang="en-US" sz="825" dirty="0"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71475"/>
            <a:ext cx="8636000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Problem Statement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00050" y="757238"/>
            <a:ext cx="657225" cy="28575"/>
          </a:xfrm>
          <a:prstGeom prst="roundRect">
            <a:avLst>
              <a:gd name="adj" fmla="val 6666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942975"/>
            <a:ext cx="2705026" cy="2971800"/>
          </a:xfrm>
          <a:prstGeom prst="roundRect">
            <a:avLst>
              <a:gd name="adj" fmla="val 3521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953691"/>
            <a:ext cx="2705026" cy="0"/>
          </a:xfrm>
          <a:prstGeom prst="line">
            <a:avLst/>
          </a:prstGeom>
          <a:noFill/>
          <a:ln w="21431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101504" y="942975"/>
            <a:ext cx="0" cy="29718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0050" y="3911203"/>
            <a:ext cx="2705026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03622" y="942975"/>
            <a:ext cx="0" cy="29718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12921" y="1067562"/>
            <a:ext cx="648920" cy="208026"/>
          </a:xfrm>
          <a:prstGeom prst="roundRect">
            <a:avLst>
              <a:gd name="adj" fmla="val 54945"/>
            </a:avLst>
          </a:prstGeom>
          <a:solidFill>
            <a:srgbClr val="FDEC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5781" y="1078706"/>
            <a:ext cx="6032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kern="0" spc="68" dirty="0">
                <a:solidFill>
                  <a:srgbClr val="C62828"/>
                </a:solidFill>
                <a:ea typeface="Carlito" pitchFamily="34" charset="-122"/>
                <a:cs typeface="Carlito" pitchFamily="34" charset="-120"/>
              </a:rPr>
              <a:t>PROBLEM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826469" y="106441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E53935"/>
                </a:solidFill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12" name="Text 10"/>
          <p:cNvSpPr/>
          <p:nvPr/>
        </p:nvSpPr>
        <p:spPr>
          <a:xfrm>
            <a:off x="535781" y="1364456"/>
            <a:ext cx="2543291" cy="179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2"/>
              </a:lnSpc>
              <a:buNone/>
            </a:pPr>
            <a:r>
              <a:rPr lang="en-US" sz="1050" b="1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Industrial Equipment Failure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5781" y="1616832"/>
            <a:ext cx="2433563" cy="106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1"/>
              </a:lnSpc>
              <a:spcAft>
                <a:spcPts val="563"/>
              </a:spcAft>
              <a:buNone/>
            </a:pPr>
            <a:r>
              <a:rPr lang="en-US" sz="1200" dirty="0">
                <a:solidFill>
                  <a:srgbClr val="E53935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Equipment degradation can result in unexpected catastrophic failures, extensive downtime, and severe maintenance costs.</a:t>
            </a:r>
            <a:endParaRPr lang="en-US" sz="1200" dirty="0"/>
          </a:p>
          <a:p>
            <a:pPr marL="0" indent="0" algn="l">
              <a:lnSpc>
                <a:spcPts val="1251"/>
              </a:lnSpc>
              <a:spcAft>
                <a:spcPts val="563"/>
              </a:spcAft>
              <a:buNone/>
            </a:pPr>
            <a:r>
              <a:rPr lang="en-US" sz="1200" dirty="0">
                <a:solidFill>
                  <a:srgbClr val="E53935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Manual inspection is reactive — faults are often detected only after damage has occurred.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19376" y="942975"/>
            <a:ext cx="2705137" cy="2971800"/>
          </a:xfrm>
          <a:prstGeom prst="roundRect">
            <a:avLst>
              <a:gd name="adj" fmla="val 3521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19376" y="953691"/>
            <a:ext cx="2705137" cy="0"/>
          </a:xfrm>
          <a:prstGeom prst="line">
            <a:avLst/>
          </a:prstGeom>
          <a:noFill/>
          <a:ln w="21431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920941" y="942975"/>
            <a:ext cx="0" cy="29718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19376" y="3911203"/>
            <a:ext cx="2705137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22947" y="942975"/>
            <a:ext cx="0" cy="29718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32247" y="1067562"/>
            <a:ext cx="808204" cy="208026"/>
          </a:xfrm>
          <a:prstGeom prst="roundRect">
            <a:avLst>
              <a:gd name="adj" fmla="val 54945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46916" y="1078706"/>
            <a:ext cx="77886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kern="0" spc="68" dirty="0">
                <a:solidFill>
                  <a:srgbClr val="B86E00"/>
                </a:solidFill>
                <a:ea typeface="Carlito" pitchFamily="34" charset="-122"/>
                <a:cs typeface="Carlito" pitchFamily="34" charset="-120"/>
              </a:rPr>
              <a:t>CHALLENGES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45907" y="106441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5A623"/>
                </a:solidFill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3355107" y="1364456"/>
            <a:ext cx="2433675" cy="179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2"/>
              </a:lnSpc>
              <a:buNone/>
            </a:pPr>
            <a:r>
              <a:rPr lang="en-US" sz="1050" b="1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Operational Pain Points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55107" y="1616832"/>
            <a:ext cx="2433675" cy="172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1"/>
              </a:lnSpc>
              <a:spcAft>
                <a:spcPts val="563"/>
              </a:spcAft>
              <a:buNone/>
            </a:pPr>
            <a:r>
              <a:rPr lang="en-US" sz="1200" dirty="0">
                <a:solidFill>
                  <a:srgbClr val="F5A623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Massive volumes of vibration time-series data are difficult to interpret manually.</a:t>
            </a:r>
            <a:endParaRPr lang="en-US" sz="1200" dirty="0"/>
          </a:p>
          <a:p>
            <a:pPr marL="0" indent="0" algn="l">
              <a:lnSpc>
                <a:spcPts val="1251"/>
              </a:lnSpc>
              <a:spcAft>
                <a:spcPts val="563"/>
              </a:spcAft>
              <a:buNone/>
            </a:pPr>
            <a:r>
              <a:rPr lang="en-US" sz="1200" dirty="0">
                <a:solidFill>
                  <a:srgbClr val="F5A623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Early-stage anomalies are often missed by simple threshold alarms.</a:t>
            </a:r>
            <a:endParaRPr lang="en-US" sz="1200" dirty="0"/>
          </a:p>
          <a:p>
            <a:pPr marL="0" indent="0" algn="l">
              <a:lnSpc>
                <a:spcPts val="1251"/>
              </a:lnSpc>
              <a:spcAft>
                <a:spcPts val="563"/>
              </a:spcAft>
              <a:buNone/>
            </a:pPr>
            <a:r>
              <a:rPr lang="en-US" sz="1200" dirty="0">
                <a:solidFill>
                  <a:srgbClr val="F5A623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Diagnostic fault data and engineering repair knowledge live in separate silos.</a:t>
            </a:r>
            <a:endParaRPr lang="en-US" sz="1200" dirty="0"/>
          </a:p>
          <a:p>
            <a:pPr marL="0" indent="0" algn="l">
              <a:lnSpc>
                <a:spcPts val="1251"/>
              </a:lnSpc>
              <a:spcAft>
                <a:spcPts val="563"/>
              </a:spcAft>
              <a:buNone/>
            </a:pPr>
            <a:r>
              <a:rPr lang="en-US" sz="1200" dirty="0">
                <a:solidFill>
                  <a:srgbClr val="F5A623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Single-model ML approaches fail to give a unified view of equipment condition.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8813" y="942975"/>
            <a:ext cx="2705026" cy="2971800"/>
          </a:xfrm>
          <a:prstGeom prst="roundRect">
            <a:avLst>
              <a:gd name="adj" fmla="val 3521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038813" y="953691"/>
            <a:ext cx="2705026" cy="0"/>
          </a:xfrm>
          <a:prstGeom prst="line">
            <a:avLst/>
          </a:prstGeom>
          <a:noFill/>
          <a:ln w="21431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740267" y="942975"/>
            <a:ext cx="0" cy="29718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038813" y="3911203"/>
            <a:ext cx="2705026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042385" y="942975"/>
            <a:ext cx="0" cy="29718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151684" y="1067562"/>
            <a:ext cx="671245" cy="208026"/>
          </a:xfrm>
          <a:prstGeom prst="roundRect">
            <a:avLst>
              <a:gd name="adj" fmla="val 5494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72204" y="1078706"/>
            <a:ext cx="63020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kern="0" spc="68" dirty="0">
                <a:solidFill>
                  <a:srgbClr val="2E7D32"/>
                </a:solidFill>
                <a:ea typeface="Carlito" pitchFamily="34" charset="-122"/>
                <a:cs typeface="Carlito" pitchFamily="34" charset="-120"/>
              </a:rPr>
              <a:t>SOLUTION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65232" y="106441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CAF50"/>
                </a:solidFill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32" name="Text 30"/>
          <p:cNvSpPr/>
          <p:nvPr/>
        </p:nvSpPr>
        <p:spPr>
          <a:xfrm>
            <a:off x="6174544" y="1364456"/>
            <a:ext cx="2543291" cy="179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2"/>
              </a:lnSpc>
              <a:buNone/>
            </a:pPr>
            <a:r>
              <a:rPr lang="en-US" sz="1050" b="1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Integrated Decision-Support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74544" y="1616832"/>
            <a:ext cx="2433563" cy="172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1"/>
              </a:lnSpc>
              <a:spcAft>
                <a:spcPts val="563"/>
              </a:spcAft>
              <a:buNone/>
            </a:pPr>
            <a:r>
              <a:rPr lang="en-US" sz="1200" dirty="0">
                <a:solidFill>
                  <a:srgbClr val="4CAF50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Combines Fault Diagnosis + Anomaly Detection + Health Monitoring in one system.</a:t>
            </a:r>
            <a:endParaRPr lang="en-US" sz="1200" dirty="0"/>
          </a:p>
          <a:p>
            <a:pPr marL="0" indent="0" algn="l">
              <a:lnSpc>
                <a:spcPts val="1251"/>
              </a:lnSpc>
              <a:spcAft>
                <a:spcPts val="563"/>
              </a:spcAft>
              <a:buNone/>
            </a:pPr>
            <a:r>
              <a:rPr lang="en-US" sz="1200" dirty="0">
                <a:solidFill>
                  <a:srgbClr val="4CAF50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Adds Agentic Orchestration to coordinate specialized analysis components.</a:t>
            </a:r>
            <a:endParaRPr lang="en-US" sz="1200" dirty="0"/>
          </a:p>
          <a:p>
            <a:pPr marL="0" indent="0" algn="l">
              <a:lnSpc>
                <a:spcPts val="1251"/>
              </a:lnSpc>
              <a:spcAft>
                <a:spcPts val="563"/>
              </a:spcAft>
              <a:buNone/>
            </a:pPr>
            <a:r>
              <a:rPr lang="en-US" sz="1200" dirty="0">
                <a:solidFill>
                  <a:srgbClr val="4CAF50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Augments with local RAG for context-aware maintenance knowledge retrieval.</a:t>
            </a:r>
            <a:endParaRPr lang="en-US" sz="1200" dirty="0"/>
          </a:p>
          <a:p>
            <a:pPr marL="0" indent="0" algn="l">
              <a:lnSpc>
                <a:spcPts val="1251"/>
              </a:lnSpc>
              <a:spcAft>
                <a:spcPts val="563"/>
              </a:spcAft>
              <a:buNone/>
            </a:pPr>
            <a:r>
              <a:rPr lang="en-US" sz="1200" dirty="0">
                <a:solidFill>
                  <a:srgbClr val="4CAF50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Designed for Maintenance Engineers — advisory, not autonomous control.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870895" y="4101998"/>
            <a:ext cx="701539" cy="254092"/>
          </a:xfrm>
          <a:prstGeom prst="roundRect">
            <a:avLst>
              <a:gd name="adj" fmla="val 44984"/>
            </a:avLst>
          </a:prstGeom>
          <a:solidFill>
            <a:srgbClr val="FDEC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870895" y="4114800"/>
            <a:ext cx="701539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800" b="1" kern="0" spc="68" dirty="0">
                <a:solidFill>
                  <a:srgbClr val="C62828"/>
                </a:solidFill>
                <a:ea typeface="Carlito" pitchFamily="34" charset="-122"/>
                <a:cs typeface="Carlito" pitchFamily="34" charset="-120"/>
              </a:rPr>
              <a:t>PROBLEM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72446" y="4152863"/>
            <a:ext cx="100013" cy="152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EEF"/>
                </a:solidFill>
                <a:ea typeface="Segoe UI Symbol" pitchFamily="34" charset="-122"/>
                <a:cs typeface="Segoe UI Symbol" pitchFamily="34" charset="-120"/>
              </a:rPr>
              <a:t>▸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72471" y="4101998"/>
            <a:ext cx="875667" cy="254092"/>
          </a:xfrm>
          <a:prstGeom prst="roundRect">
            <a:avLst>
              <a:gd name="adj" fmla="val 44984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872471" y="4114800"/>
            <a:ext cx="875667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800" b="1" kern="0" spc="68" dirty="0">
                <a:solidFill>
                  <a:srgbClr val="B86E00"/>
                </a:solidFill>
                <a:ea typeface="Carlito" pitchFamily="34" charset="-122"/>
                <a:cs typeface="Carlito" pitchFamily="34" charset="-120"/>
              </a:rPr>
              <a:t>CHALLENGES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48151" y="4152863"/>
            <a:ext cx="100013" cy="152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EEF"/>
                </a:solidFill>
                <a:ea typeface="Segoe UI Symbol" pitchFamily="34" charset="-122"/>
                <a:cs typeface="Segoe UI Symbol" pitchFamily="34" charset="-120"/>
              </a:rPr>
              <a:t>▸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48176" y="4101998"/>
            <a:ext cx="1224818" cy="254092"/>
          </a:xfrm>
          <a:prstGeom prst="roundRect">
            <a:avLst>
              <a:gd name="adj" fmla="val 44984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48176" y="4114800"/>
            <a:ext cx="1224818" cy="228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800" b="1" kern="0" spc="68" dirty="0">
                <a:solidFill>
                  <a:srgbClr val="2E7D32"/>
                </a:solidFill>
                <a:ea typeface="Carlito" pitchFamily="34" charset="-122"/>
                <a:cs typeface="Carlito" pitchFamily="34" charset="-120"/>
              </a:rPr>
              <a:t>AI-BASED SOLUTION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285750" y="57150"/>
            <a:ext cx="6425915" cy="164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6550796" y="50006"/>
            <a:ext cx="2364604" cy="169736"/>
          </a:xfrm>
          <a:prstGeom prst="rect">
            <a:avLst/>
          </a:prstGeom>
          <a:noFill/>
          <a:ln/>
          <a:effectLst>
            <a:outerShdw blurRad="19050" dist="50800" dir="162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r">
              <a:lnSpc>
                <a:spcPts val="1238"/>
              </a:lnSpc>
              <a:buNone/>
            </a:pPr>
            <a:r>
              <a:rPr lang="en-US" sz="825" i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Agentic AI-Based Equipment Health Monitoring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71475"/>
            <a:ext cx="8636000" cy="29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950" b="1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Methodology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00050" y="700980"/>
            <a:ext cx="657225" cy="28575"/>
          </a:xfrm>
          <a:prstGeom prst="roundRect">
            <a:avLst>
              <a:gd name="adj" fmla="val 6666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14563" y="815280"/>
            <a:ext cx="4714875" cy="314325"/>
          </a:xfrm>
          <a:prstGeom prst="roundRect">
            <a:avLst>
              <a:gd name="adj" fmla="val 18182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14563" y="818852"/>
            <a:ext cx="471487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6" name="Shape 4"/>
          <p:cNvSpPr/>
          <p:nvPr/>
        </p:nvSpPr>
        <p:spPr>
          <a:xfrm>
            <a:off x="6925866" y="815280"/>
            <a:ext cx="0" cy="3143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7" name="Shape 5"/>
          <p:cNvSpPr/>
          <p:nvPr/>
        </p:nvSpPr>
        <p:spPr>
          <a:xfrm>
            <a:off x="2214563" y="1126034"/>
            <a:ext cx="471487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8" name="Shape 6"/>
          <p:cNvSpPr/>
          <p:nvPr/>
        </p:nvSpPr>
        <p:spPr>
          <a:xfrm>
            <a:off x="2225278" y="815280"/>
            <a:ext cx="0" cy="314325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9" name="Text 7"/>
          <p:cNvSpPr/>
          <p:nvPr/>
        </p:nvSpPr>
        <p:spPr>
          <a:xfrm>
            <a:off x="2336006" y="868859"/>
            <a:ext cx="200025" cy="200025"/>
          </a:xfrm>
          <a:prstGeom prst="ellipse">
            <a:avLst/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6006" y="868859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7469" y="850999"/>
            <a:ext cx="4324541" cy="1056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Raw IMS Bearing Dataset / User-Uploaded CSV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7469" y="984052"/>
            <a:ext cx="432454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99"/>
                </a:solidFill>
                <a:ea typeface="Liberation Sans Narrow" pitchFamily="34" charset="-122"/>
                <a:cs typeface="Liberation Sans Narrow" pitchFamily="34" charset="-120"/>
              </a:rPr>
              <a:t>2,156 snapshots • 104 features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1994" y="1136749"/>
            <a:ext cx="1000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EEF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14563" y="1243905"/>
            <a:ext cx="4714875" cy="314325"/>
          </a:xfrm>
          <a:prstGeom prst="roundRect">
            <a:avLst>
              <a:gd name="adj" fmla="val 18182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14563" y="1247477"/>
            <a:ext cx="471487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16" name="Shape 14"/>
          <p:cNvSpPr/>
          <p:nvPr/>
        </p:nvSpPr>
        <p:spPr>
          <a:xfrm>
            <a:off x="6925866" y="1243905"/>
            <a:ext cx="0" cy="3143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17" name="Shape 15"/>
          <p:cNvSpPr/>
          <p:nvPr/>
        </p:nvSpPr>
        <p:spPr>
          <a:xfrm>
            <a:off x="2214563" y="1554659"/>
            <a:ext cx="471487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18" name="Shape 16"/>
          <p:cNvSpPr/>
          <p:nvPr/>
        </p:nvSpPr>
        <p:spPr>
          <a:xfrm>
            <a:off x="2225278" y="1243905"/>
            <a:ext cx="0" cy="314325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19" name="Text 17"/>
          <p:cNvSpPr/>
          <p:nvPr/>
        </p:nvSpPr>
        <p:spPr>
          <a:xfrm>
            <a:off x="2336006" y="1297484"/>
            <a:ext cx="200025" cy="200025"/>
          </a:xfrm>
          <a:prstGeom prst="ellipse">
            <a:avLst/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36006" y="1297484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07469" y="1279624"/>
            <a:ext cx="4324541" cy="1056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Data Validation &amp; Feature Extraction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7469" y="1412677"/>
            <a:ext cx="432454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Statistical + FFT features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1994" y="1565374"/>
            <a:ext cx="1000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EEF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14563" y="1672530"/>
            <a:ext cx="4714875" cy="314325"/>
          </a:xfrm>
          <a:prstGeom prst="roundRect">
            <a:avLst>
              <a:gd name="adj" fmla="val 18182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14563" y="1676102"/>
            <a:ext cx="471487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26" name="Shape 24"/>
          <p:cNvSpPr/>
          <p:nvPr/>
        </p:nvSpPr>
        <p:spPr>
          <a:xfrm>
            <a:off x="6925866" y="1672530"/>
            <a:ext cx="0" cy="3143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27" name="Shape 25"/>
          <p:cNvSpPr/>
          <p:nvPr/>
        </p:nvSpPr>
        <p:spPr>
          <a:xfrm>
            <a:off x="2214563" y="1983284"/>
            <a:ext cx="471487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28" name="Shape 26"/>
          <p:cNvSpPr/>
          <p:nvPr/>
        </p:nvSpPr>
        <p:spPr>
          <a:xfrm>
            <a:off x="2225278" y="1672530"/>
            <a:ext cx="0" cy="314325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29" name="Text 27"/>
          <p:cNvSpPr/>
          <p:nvPr/>
        </p:nvSpPr>
        <p:spPr>
          <a:xfrm>
            <a:off x="2336006" y="1726109"/>
            <a:ext cx="200025" cy="200025"/>
          </a:xfrm>
          <a:prstGeom prst="ellipse">
            <a:avLst/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6006" y="1726109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07469" y="1708249"/>
            <a:ext cx="4214813" cy="1056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Chronological Preprocessing (70/30 split — no data leakage)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07469" y="1841302"/>
            <a:ext cx="432454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Strict temporal ordering preserved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21994" y="1993999"/>
            <a:ext cx="1000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EEF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14563" y="2101155"/>
            <a:ext cx="2300288" cy="314325"/>
          </a:xfrm>
          <a:prstGeom prst="roundRect">
            <a:avLst>
              <a:gd name="adj" fmla="val 18182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14563" y="2104727"/>
            <a:ext cx="2300288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36" name="Shape 34"/>
          <p:cNvSpPr/>
          <p:nvPr/>
        </p:nvSpPr>
        <p:spPr>
          <a:xfrm>
            <a:off x="4511278" y="2101155"/>
            <a:ext cx="0" cy="3143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37" name="Shape 35"/>
          <p:cNvSpPr/>
          <p:nvPr/>
        </p:nvSpPr>
        <p:spPr>
          <a:xfrm>
            <a:off x="2214563" y="2411909"/>
            <a:ext cx="2300288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38" name="Shape 36"/>
          <p:cNvSpPr/>
          <p:nvPr/>
        </p:nvSpPr>
        <p:spPr>
          <a:xfrm>
            <a:off x="2225278" y="2101155"/>
            <a:ext cx="0" cy="314325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39" name="Text 37"/>
          <p:cNvSpPr/>
          <p:nvPr/>
        </p:nvSpPr>
        <p:spPr>
          <a:xfrm>
            <a:off x="2336006" y="2154734"/>
            <a:ext cx="200025" cy="200025"/>
          </a:xfrm>
          <a:prstGeom prst="ellipse">
            <a:avLst/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36006" y="2154734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4a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07469" y="2136874"/>
            <a:ext cx="1908238" cy="1056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Random Forest — Fault Diagnosis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07469" y="2269927"/>
            <a:ext cx="18002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Supervised classifier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29150" y="2101155"/>
            <a:ext cx="2300288" cy="314325"/>
          </a:xfrm>
          <a:prstGeom prst="roundRect">
            <a:avLst>
              <a:gd name="adj" fmla="val 18182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29150" y="2104727"/>
            <a:ext cx="2300288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45" name="Shape 43"/>
          <p:cNvSpPr/>
          <p:nvPr/>
        </p:nvSpPr>
        <p:spPr>
          <a:xfrm>
            <a:off x="6925866" y="2101155"/>
            <a:ext cx="0" cy="3143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46" name="Shape 44"/>
          <p:cNvSpPr/>
          <p:nvPr/>
        </p:nvSpPr>
        <p:spPr>
          <a:xfrm>
            <a:off x="4629150" y="2411909"/>
            <a:ext cx="2300288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47" name="Shape 45"/>
          <p:cNvSpPr/>
          <p:nvPr/>
        </p:nvSpPr>
        <p:spPr>
          <a:xfrm>
            <a:off x="4639866" y="2101155"/>
            <a:ext cx="0" cy="314325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48" name="Text 46"/>
          <p:cNvSpPr/>
          <p:nvPr/>
        </p:nvSpPr>
        <p:spPr>
          <a:xfrm>
            <a:off x="4750594" y="2154734"/>
            <a:ext cx="200025" cy="200025"/>
          </a:xfrm>
          <a:prstGeom prst="ellipse">
            <a:avLst/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50594" y="2154734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4b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2056" y="2136874"/>
            <a:ext cx="1908238" cy="1056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Isolation Forest — Anomaly Detection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2056" y="2269927"/>
            <a:ext cx="190823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Unsupervised outlier detection</a:t>
            </a:r>
            <a:endParaRPr lang="en-US" sz="1000" dirty="0"/>
          </a:p>
        </p:txBody>
      </p:sp>
      <p:pic>
        <p:nvPicPr>
          <p:cNvPr id="52" name="Image 0" descr="/tmp/h2p-svg-1791429643890-fhcdy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563" y="2415480"/>
            <a:ext cx="4714875" cy="157163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4514850" y="247263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EEF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2214563" y="2572643"/>
            <a:ext cx="4714875" cy="314325"/>
          </a:xfrm>
          <a:prstGeom prst="roundRect">
            <a:avLst>
              <a:gd name="adj" fmla="val 18182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2214563" y="2576215"/>
            <a:ext cx="471487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56" name="Shape 53"/>
          <p:cNvSpPr/>
          <p:nvPr/>
        </p:nvSpPr>
        <p:spPr>
          <a:xfrm>
            <a:off x="6925866" y="2572643"/>
            <a:ext cx="0" cy="3143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57" name="Shape 54"/>
          <p:cNvSpPr/>
          <p:nvPr/>
        </p:nvSpPr>
        <p:spPr>
          <a:xfrm>
            <a:off x="2214563" y="2883396"/>
            <a:ext cx="471487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58" name="Shape 55"/>
          <p:cNvSpPr/>
          <p:nvPr/>
        </p:nvSpPr>
        <p:spPr>
          <a:xfrm>
            <a:off x="2225278" y="2572643"/>
            <a:ext cx="0" cy="314325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59" name="Text 56"/>
          <p:cNvSpPr/>
          <p:nvPr/>
        </p:nvSpPr>
        <p:spPr>
          <a:xfrm>
            <a:off x="2336006" y="2626221"/>
            <a:ext cx="200025" cy="200025"/>
          </a:xfrm>
          <a:prstGeom prst="ellipse">
            <a:avLst/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2336006" y="2626221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607469" y="2608362"/>
            <a:ext cx="4214813" cy="1056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Health Monitoring — Composite Health Score &amp; Degradation Trend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2607469" y="2741414"/>
            <a:ext cx="42148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Weighted fusion of multiple statistical indicators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4521994" y="2894112"/>
            <a:ext cx="1000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EEF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2214563" y="3001268"/>
            <a:ext cx="4714875" cy="314325"/>
          </a:xfrm>
          <a:prstGeom prst="roundRect">
            <a:avLst>
              <a:gd name="adj" fmla="val 18182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2214563" y="3004840"/>
            <a:ext cx="471487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66" name="Shape 63"/>
          <p:cNvSpPr/>
          <p:nvPr/>
        </p:nvSpPr>
        <p:spPr>
          <a:xfrm>
            <a:off x="6925866" y="3001268"/>
            <a:ext cx="0" cy="3143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67" name="Shape 64"/>
          <p:cNvSpPr/>
          <p:nvPr/>
        </p:nvSpPr>
        <p:spPr>
          <a:xfrm>
            <a:off x="2214563" y="3312021"/>
            <a:ext cx="471487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68" name="Shape 65"/>
          <p:cNvSpPr/>
          <p:nvPr/>
        </p:nvSpPr>
        <p:spPr>
          <a:xfrm>
            <a:off x="2225278" y="3001268"/>
            <a:ext cx="0" cy="314325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69" name="Text 66"/>
          <p:cNvSpPr/>
          <p:nvPr/>
        </p:nvSpPr>
        <p:spPr>
          <a:xfrm>
            <a:off x="2336006" y="3054846"/>
            <a:ext cx="200025" cy="200025"/>
          </a:xfrm>
          <a:prstGeom prst="ellipse">
            <a:avLst/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2336006" y="3054846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2607469" y="3036987"/>
            <a:ext cx="4214813" cy="1056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Agentic Orchestration — Data Health • Fault Diagnosis • Anomaly Agents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2607469" y="3170039"/>
            <a:ext cx="432454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Deterministic state-machine pipeline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4521994" y="3322737"/>
            <a:ext cx="1000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EEF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2214563" y="3429893"/>
            <a:ext cx="2300288" cy="314325"/>
          </a:xfrm>
          <a:prstGeom prst="roundRect">
            <a:avLst>
              <a:gd name="adj" fmla="val 18182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2214563" y="3433465"/>
            <a:ext cx="2300288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76" name="Shape 73"/>
          <p:cNvSpPr/>
          <p:nvPr/>
        </p:nvSpPr>
        <p:spPr>
          <a:xfrm>
            <a:off x="4511278" y="3429893"/>
            <a:ext cx="0" cy="3143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77" name="Shape 74"/>
          <p:cNvSpPr/>
          <p:nvPr/>
        </p:nvSpPr>
        <p:spPr>
          <a:xfrm>
            <a:off x="2214563" y="3740646"/>
            <a:ext cx="2300288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78" name="Shape 75"/>
          <p:cNvSpPr/>
          <p:nvPr/>
        </p:nvSpPr>
        <p:spPr>
          <a:xfrm>
            <a:off x="2225278" y="3429893"/>
            <a:ext cx="0" cy="314325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79" name="Text 76"/>
          <p:cNvSpPr/>
          <p:nvPr/>
        </p:nvSpPr>
        <p:spPr>
          <a:xfrm>
            <a:off x="2336006" y="3483471"/>
            <a:ext cx="200025" cy="200025"/>
          </a:xfrm>
          <a:prstGeom prst="ellipse">
            <a:avLst/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2336006" y="3483471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7a</a:t>
            </a:r>
            <a:endParaRPr lang="en-US" sz="1000" dirty="0"/>
          </a:p>
        </p:txBody>
      </p:sp>
      <p:sp>
        <p:nvSpPr>
          <p:cNvPr id="81" name="Text 78"/>
          <p:cNvSpPr/>
          <p:nvPr/>
        </p:nvSpPr>
        <p:spPr>
          <a:xfrm>
            <a:off x="2607469" y="3465612"/>
            <a:ext cx="1908238" cy="1056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FastAPI Backend — REST Endpoints</a:t>
            </a:r>
            <a:endParaRPr lang="en-US" sz="1000" dirty="0"/>
          </a:p>
        </p:txBody>
      </p:sp>
      <p:sp>
        <p:nvSpPr>
          <p:cNvPr id="82" name="Text 79"/>
          <p:cNvSpPr/>
          <p:nvPr/>
        </p:nvSpPr>
        <p:spPr>
          <a:xfrm>
            <a:off x="2607469" y="3598664"/>
            <a:ext cx="190823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Service layer for client UI</a:t>
            </a:r>
            <a:endParaRPr lang="en-US" sz="1000" dirty="0"/>
          </a:p>
        </p:txBody>
      </p:sp>
      <p:sp>
        <p:nvSpPr>
          <p:cNvPr id="83" name="Text 80"/>
          <p:cNvSpPr/>
          <p:nvPr/>
        </p:nvSpPr>
        <p:spPr>
          <a:xfrm>
            <a:off x="4629150" y="3429893"/>
            <a:ext cx="2300288" cy="314325"/>
          </a:xfrm>
          <a:prstGeom prst="roundRect">
            <a:avLst>
              <a:gd name="adj" fmla="val 18182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629150" y="3433465"/>
            <a:ext cx="2300288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85" name="Shape 82"/>
          <p:cNvSpPr/>
          <p:nvPr/>
        </p:nvSpPr>
        <p:spPr>
          <a:xfrm>
            <a:off x="6925866" y="3429893"/>
            <a:ext cx="0" cy="3143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86" name="Shape 83"/>
          <p:cNvSpPr/>
          <p:nvPr/>
        </p:nvSpPr>
        <p:spPr>
          <a:xfrm>
            <a:off x="4629150" y="3740646"/>
            <a:ext cx="2300288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87" name="Shape 84"/>
          <p:cNvSpPr/>
          <p:nvPr/>
        </p:nvSpPr>
        <p:spPr>
          <a:xfrm>
            <a:off x="4639866" y="3429893"/>
            <a:ext cx="0" cy="314325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88" name="Text 85"/>
          <p:cNvSpPr/>
          <p:nvPr/>
        </p:nvSpPr>
        <p:spPr>
          <a:xfrm>
            <a:off x="4750594" y="3483471"/>
            <a:ext cx="200025" cy="200025"/>
          </a:xfrm>
          <a:prstGeom prst="ellipse">
            <a:avLst/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9" name="Text 86"/>
          <p:cNvSpPr/>
          <p:nvPr/>
        </p:nvSpPr>
        <p:spPr>
          <a:xfrm>
            <a:off x="4750594" y="3483471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7b</a:t>
            </a:r>
            <a:endParaRPr lang="en-US" sz="1000" dirty="0"/>
          </a:p>
        </p:txBody>
      </p:sp>
      <p:sp>
        <p:nvSpPr>
          <p:cNvPr id="90" name="Text 87"/>
          <p:cNvSpPr/>
          <p:nvPr/>
        </p:nvSpPr>
        <p:spPr>
          <a:xfrm>
            <a:off x="5022056" y="3465612"/>
            <a:ext cx="1908238" cy="1056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RAG Insights — ChromaDB + Ollama</a:t>
            </a:r>
            <a:endParaRPr lang="en-US" sz="1000" dirty="0"/>
          </a:p>
        </p:txBody>
      </p:sp>
      <p:sp>
        <p:nvSpPr>
          <p:cNvPr id="91" name="Text 88"/>
          <p:cNvSpPr/>
          <p:nvPr/>
        </p:nvSpPr>
        <p:spPr>
          <a:xfrm>
            <a:off x="5022056" y="3598664"/>
            <a:ext cx="190823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Local maintenance knowledge</a:t>
            </a:r>
            <a:endParaRPr lang="en-US" sz="1000" dirty="0"/>
          </a:p>
        </p:txBody>
      </p:sp>
      <p:pic>
        <p:nvPicPr>
          <p:cNvPr id="92" name="Image 1" descr="/tmp/h2p-svg-1791429643890-jnhp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563" y="3744218"/>
            <a:ext cx="4714875" cy="157163"/>
          </a:xfrm>
          <a:prstGeom prst="rect">
            <a:avLst/>
          </a:prstGeom>
        </p:spPr>
      </p:pic>
      <p:sp>
        <p:nvSpPr>
          <p:cNvPr id="93" name="Text 89"/>
          <p:cNvSpPr/>
          <p:nvPr/>
        </p:nvSpPr>
        <p:spPr>
          <a:xfrm>
            <a:off x="4514850" y="380136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EEF"/>
                </a:solidFill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00" dirty="0"/>
          </a:p>
        </p:txBody>
      </p:sp>
      <p:sp>
        <p:nvSpPr>
          <p:cNvPr id="94" name="Text 90"/>
          <p:cNvSpPr/>
          <p:nvPr/>
        </p:nvSpPr>
        <p:spPr>
          <a:xfrm>
            <a:off x="2214563" y="3901380"/>
            <a:ext cx="4714875" cy="314325"/>
          </a:xfrm>
          <a:prstGeom prst="roundRect">
            <a:avLst>
              <a:gd name="adj" fmla="val 18182"/>
            </a:avLst>
          </a:prstGeom>
          <a:solidFill>
            <a:srgbClr val="F6FAFD"/>
          </a:solidFill>
          <a:ln/>
          <a:effectLst>
            <a:outerShdw blurRad="19050" dist="9525" dir="5400000" algn="bl" rotWithShape="0">
              <a:srgbClr val="0F2C4A">
                <a:alpha val="4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5" name="Shape 91"/>
          <p:cNvSpPr/>
          <p:nvPr/>
        </p:nvSpPr>
        <p:spPr>
          <a:xfrm>
            <a:off x="2214563" y="3904952"/>
            <a:ext cx="471487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96" name="Shape 92"/>
          <p:cNvSpPr/>
          <p:nvPr/>
        </p:nvSpPr>
        <p:spPr>
          <a:xfrm>
            <a:off x="6925866" y="3901380"/>
            <a:ext cx="0" cy="314325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97" name="Shape 93"/>
          <p:cNvSpPr/>
          <p:nvPr/>
        </p:nvSpPr>
        <p:spPr>
          <a:xfrm>
            <a:off x="2214563" y="4212134"/>
            <a:ext cx="4714875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98" name="Shape 94"/>
          <p:cNvSpPr/>
          <p:nvPr/>
        </p:nvSpPr>
        <p:spPr>
          <a:xfrm>
            <a:off x="2225278" y="3901380"/>
            <a:ext cx="0" cy="314325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 sz="1000"/>
          </a:p>
        </p:txBody>
      </p:sp>
      <p:sp>
        <p:nvSpPr>
          <p:cNvPr id="99" name="Text 95"/>
          <p:cNvSpPr/>
          <p:nvPr/>
        </p:nvSpPr>
        <p:spPr>
          <a:xfrm>
            <a:off x="2336006" y="3954959"/>
            <a:ext cx="200025" cy="200025"/>
          </a:xfrm>
          <a:prstGeom prst="ellipse">
            <a:avLst/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0" name="Text 96"/>
          <p:cNvSpPr/>
          <p:nvPr/>
        </p:nvSpPr>
        <p:spPr>
          <a:xfrm>
            <a:off x="2336006" y="3954959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1000" dirty="0"/>
          </a:p>
        </p:txBody>
      </p:sp>
      <p:sp>
        <p:nvSpPr>
          <p:cNvPr id="101" name="Text 97"/>
          <p:cNvSpPr/>
          <p:nvPr/>
        </p:nvSpPr>
        <p:spPr>
          <a:xfrm>
            <a:off x="2607469" y="3937099"/>
            <a:ext cx="4324541" cy="1056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6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Streamlit Dashboard — Maintenance Engineer</a:t>
            </a:r>
            <a:endParaRPr lang="en-US" sz="1000" dirty="0"/>
          </a:p>
        </p:txBody>
      </p:sp>
      <p:sp>
        <p:nvSpPr>
          <p:cNvPr id="102" name="Text 98"/>
          <p:cNvSpPr/>
          <p:nvPr/>
        </p:nvSpPr>
        <p:spPr>
          <a:xfrm>
            <a:off x="2607469" y="4070152"/>
            <a:ext cx="432454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Interactive decision-support UI</a:t>
            </a:r>
            <a:endParaRPr lang="en-US" sz="1000" dirty="0"/>
          </a:p>
        </p:txBody>
      </p:sp>
      <p:sp>
        <p:nvSpPr>
          <p:cNvPr id="105" name="Text 99"/>
          <p:cNvSpPr/>
          <p:nvPr/>
        </p:nvSpPr>
        <p:spPr>
          <a:xfrm>
            <a:off x="285750" y="57150"/>
            <a:ext cx="6425915" cy="164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endParaRPr lang="en-US" sz="800" dirty="0"/>
          </a:p>
        </p:txBody>
      </p:sp>
      <p:sp>
        <p:nvSpPr>
          <p:cNvPr id="106" name="Text 100"/>
          <p:cNvSpPr/>
          <p:nvPr/>
        </p:nvSpPr>
        <p:spPr>
          <a:xfrm>
            <a:off x="6550796" y="50006"/>
            <a:ext cx="2364604" cy="169736"/>
          </a:xfrm>
          <a:prstGeom prst="rect">
            <a:avLst/>
          </a:prstGeom>
          <a:noFill/>
          <a:ln/>
          <a:effectLst>
            <a:outerShdw blurRad="19050" dist="50800" dir="162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r">
              <a:lnSpc>
                <a:spcPts val="1238"/>
              </a:lnSpc>
              <a:buNone/>
            </a:pPr>
            <a:r>
              <a:rPr lang="en-US" sz="825" i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Agentic AI-Based Equipment Health Monitoring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71475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Approach / Algorithms / Tools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00050" y="757238"/>
            <a:ext cx="657225" cy="28575"/>
          </a:xfrm>
          <a:prstGeom prst="roundRect">
            <a:avLst>
              <a:gd name="adj" fmla="val 6666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942975"/>
            <a:ext cx="2705026" cy="3086100"/>
          </a:xfrm>
          <a:prstGeom prst="roundRect">
            <a:avLst>
              <a:gd name="adj" fmla="val 3521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953691"/>
            <a:ext cx="2705026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101504" y="942975"/>
            <a:ext cx="0" cy="30861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0050" y="4025503"/>
            <a:ext cx="2705026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03622" y="942975"/>
            <a:ext cx="0" cy="30861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1494" y="1125029"/>
            <a:ext cx="64294" cy="64294"/>
          </a:xfrm>
          <a:prstGeom prst="ellipse">
            <a:avLst/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2938" y="109288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AEEF"/>
                </a:solidFill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266" dirty="0"/>
          </a:p>
        </p:txBody>
      </p:sp>
      <p:sp>
        <p:nvSpPr>
          <p:cNvPr id="11" name="Text 9"/>
          <p:cNvSpPr/>
          <p:nvPr/>
        </p:nvSpPr>
        <p:spPr>
          <a:xfrm>
            <a:off x="828675" y="1064419"/>
            <a:ext cx="2154957" cy="200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kern="0" spc="17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ALGORITHMS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21494" y="1321482"/>
            <a:ext cx="2462138" cy="2130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b="1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Random Forest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 — supervised classifier for fault indication</a:t>
            </a:r>
            <a:endParaRPr lang="en-US" sz="1200" dirty="0"/>
          </a:p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b="1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Isolation Forest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 — unsupervised anomaly detection on normal baseline</a:t>
            </a:r>
            <a:endParaRPr lang="en-US" sz="1200" dirty="0"/>
          </a:p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b="1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Feature Engineering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 — 104 statistical + frequency-domain indicators</a:t>
            </a:r>
            <a:endParaRPr lang="en-US" sz="1200" dirty="0"/>
          </a:p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b="1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Health Score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 — weighted composite (RMS + anomaly + fault confidence)</a:t>
            </a:r>
            <a:endParaRPr lang="en-US" sz="1200" dirty="0"/>
          </a:p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b="1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Agentic Orchestration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 — deterministic state-machine pipeline</a:t>
            </a:r>
            <a:endParaRPr lang="en-US" sz="1200" dirty="0"/>
          </a:p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b="1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RAG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 — local embedding-based knowledge retrieval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19376" y="942975"/>
            <a:ext cx="2705137" cy="3086100"/>
          </a:xfrm>
          <a:prstGeom prst="roundRect">
            <a:avLst>
              <a:gd name="adj" fmla="val 3521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19376" y="953691"/>
            <a:ext cx="2705137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20941" y="942975"/>
            <a:ext cx="0" cy="30861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19376" y="4025503"/>
            <a:ext cx="2705137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22947" y="942975"/>
            <a:ext cx="0" cy="30861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340819" y="1125029"/>
            <a:ext cx="64294" cy="64294"/>
          </a:xfrm>
          <a:prstGeom prst="ellipse">
            <a:avLst/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62263" y="109288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EEF"/>
                </a:solidFill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48001" y="1064419"/>
            <a:ext cx="2155068" cy="200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b="1" kern="0" spc="17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TECHNOLOGIES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40819" y="1321482"/>
            <a:ext cx="2462250" cy="129731"/>
          </a:xfrm>
          <a:prstGeom prst="rect">
            <a:avLst/>
          </a:prstGeom>
          <a:noFill/>
          <a:ln/>
        </p:spPr>
        <p:txBody>
          <a:bodyPr wrap="none" lIns="14288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900" b="1" kern="0" spc="68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CORE ML /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40819" y="1478645"/>
            <a:ext cx="2462250" cy="14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3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Python, Scikit-learn, Pandas, NumPy, SciPy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40819" y="1699320"/>
            <a:ext cx="2462250" cy="129731"/>
          </a:xfrm>
          <a:prstGeom prst="rect">
            <a:avLst/>
          </a:prstGeom>
          <a:noFill/>
          <a:ln/>
        </p:spPr>
        <p:txBody>
          <a:bodyPr wrap="none" lIns="14288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900" b="1" kern="0" spc="68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BACKEND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40819" y="1856482"/>
            <a:ext cx="2462250" cy="14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3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FastAPI (REST API)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40819" y="2077157"/>
            <a:ext cx="2462250" cy="129731"/>
          </a:xfrm>
          <a:prstGeom prst="rect">
            <a:avLst/>
          </a:prstGeom>
          <a:noFill/>
          <a:ln/>
        </p:spPr>
        <p:txBody>
          <a:bodyPr wrap="none" lIns="14288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900" b="1" kern="0" spc="68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FRONTEND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40819" y="2234319"/>
            <a:ext cx="2462250" cy="14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3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Streamlit (Interactive Dashboard)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40819" y="2454994"/>
            <a:ext cx="2462250" cy="129731"/>
          </a:xfrm>
          <a:prstGeom prst="rect">
            <a:avLst/>
          </a:prstGeom>
          <a:noFill/>
          <a:ln/>
        </p:spPr>
        <p:txBody>
          <a:bodyPr wrap="none" lIns="14288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900" b="1" kern="0" spc="68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RAG STACK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40819" y="2612157"/>
            <a:ext cx="2462250" cy="518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3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ChromaDB (Vector Store)</a:t>
            </a:r>
            <a:endParaRPr lang="en-US" sz="900" dirty="0"/>
          </a:p>
          <a:p>
            <a:pPr marL="0" indent="0" algn="l">
              <a:lnSpc>
                <a:spcPts val="1063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Ollama (Local Inference)</a:t>
            </a:r>
            <a:endParaRPr lang="en-US" sz="900" dirty="0"/>
          </a:p>
          <a:p>
            <a:pPr marL="0" indent="0" algn="l">
              <a:lnSpc>
                <a:spcPts val="1063"/>
              </a:lnSpc>
              <a:spcAft>
                <a:spcPts val="225"/>
              </a:spcAft>
              <a:buNone/>
            </a:pPr>
            <a:r>
              <a:rPr lang="en-US" sz="9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nomic-embed-text (Embeddings)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8813" y="942975"/>
            <a:ext cx="2705026" cy="3086100"/>
          </a:xfrm>
          <a:prstGeom prst="roundRect">
            <a:avLst>
              <a:gd name="adj" fmla="val 3521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038813" y="953691"/>
            <a:ext cx="2705026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740267" y="942975"/>
            <a:ext cx="0" cy="30861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038813" y="4025503"/>
            <a:ext cx="2705026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042385" y="942975"/>
            <a:ext cx="0" cy="30861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160257" y="1125029"/>
            <a:ext cx="64294" cy="64294"/>
          </a:xfrm>
          <a:prstGeom prst="ellipse">
            <a:avLst/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81700" y="109288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AEEF"/>
                </a:solidFill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6467438" y="1064419"/>
            <a:ext cx="2154957" cy="200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kern="0" spc="17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ENGINEERING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6160257" y="1321482"/>
            <a:ext cx="2462138" cy="123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b="1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Git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 — version control</a:t>
            </a:r>
            <a:endParaRPr lang="en-US" sz="1200" dirty="0"/>
          </a:p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b="1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Pytest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 — 338 automated tests ensuring pipeline integrity</a:t>
            </a:r>
            <a:endParaRPr lang="en-US" sz="1200" dirty="0"/>
          </a:p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b="1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Modular architecture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 — clean separation of concerns</a:t>
            </a:r>
            <a:endParaRPr lang="en-US" sz="1200" dirty="0"/>
          </a:p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00AEEF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200" b="1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Local deployment</a:t>
            </a:r>
            <a:r>
              <a:rPr lang="en-US" sz="12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 — privacy-first industrial design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468277" y="4214701"/>
            <a:ext cx="5222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84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STACK: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894112" y="4159148"/>
            <a:ext cx="494816" cy="239804"/>
          </a:xfrm>
          <a:prstGeom prst="roundRect">
            <a:avLst>
              <a:gd name="adj" fmla="val 47664"/>
            </a:avLst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894112" y="4171950"/>
            <a:ext cx="494816" cy="214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800" kern="0" spc="23" dirty="0">
                <a:solidFill>
                  <a:srgbClr val="0072BC"/>
                </a:solidFill>
                <a:ea typeface="Carlito" pitchFamily="34" charset="-122"/>
                <a:cs typeface="Carlito" pitchFamily="34" charset="-120"/>
              </a:rPr>
              <a:t>Python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446078" y="4159148"/>
            <a:ext cx="698302" cy="239804"/>
          </a:xfrm>
          <a:prstGeom prst="roundRect">
            <a:avLst>
              <a:gd name="adj" fmla="val 47664"/>
            </a:avLst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401600" y="4171950"/>
            <a:ext cx="787258" cy="214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800" kern="0" spc="23" dirty="0">
                <a:solidFill>
                  <a:srgbClr val="0072BC"/>
                </a:solidFill>
                <a:ea typeface="Carlito" pitchFamily="34" charset="-122"/>
                <a:cs typeface="Carlito" pitchFamily="34" charset="-120"/>
              </a:rPr>
              <a:t>Scikit-learn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201530" y="4159148"/>
            <a:ext cx="528191" cy="239804"/>
          </a:xfrm>
          <a:prstGeom prst="roundRect">
            <a:avLst>
              <a:gd name="adj" fmla="val 47664"/>
            </a:avLst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201530" y="4171950"/>
            <a:ext cx="528191" cy="214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800" kern="0" spc="23" dirty="0">
                <a:solidFill>
                  <a:srgbClr val="0072BC"/>
                </a:solidFill>
                <a:ea typeface="Carlito" pitchFamily="34" charset="-122"/>
                <a:cs typeface="Carlito" pitchFamily="34" charset="-120"/>
              </a:rPr>
              <a:t>FastAPI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86871" y="4159148"/>
            <a:ext cx="602196" cy="239804"/>
          </a:xfrm>
          <a:prstGeom prst="roundRect">
            <a:avLst>
              <a:gd name="adj" fmla="val 47664"/>
            </a:avLst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783656" y="4171950"/>
            <a:ext cx="608625" cy="214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800" kern="0" spc="23" dirty="0">
                <a:solidFill>
                  <a:srgbClr val="0072BC"/>
                </a:solidFill>
                <a:ea typeface="Carlito" pitchFamily="34" charset="-122"/>
                <a:cs typeface="Carlito" pitchFamily="34" charset="-120"/>
              </a:rPr>
              <a:t>Streamlit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446216" y="4159148"/>
            <a:ext cx="666043" cy="239804"/>
          </a:xfrm>
          <a:prstGeom prst="roundRect">
            <a:avLst>
              <a:gd name="adj" fmla="val 47664"/>
            </a:avLst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446216" y="4171950"/>
            <a:ext cx="666043" cy="214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800" kern="0" spc="23" dirty="0">
                <a:solidFill>
                  <a:srgbClr val="0072BC"/>
                </a:solidFill>
                <a:ea typeface="Carlito" pitchFamily="34" charset="-122"/>
                <a:cs typeface="Carlito" pitchFamily="34" charset="-120"/>
              </a:rPr>
              <a:t>ChromaDB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69409" y="4159148"/>
            <a:ext cx="506202" cy="239804"/>
          </a:xfrm>
          <a:prstGeom prst="roundRect">
            <a:avLst>
              <a:gd name="adj" fmla="val 47664"/>
            </a:avLst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69409" y="4171950"/>
            <a:ext cx="506202" cy="214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800" kern="0" spc="23" dirty="0">
                <a:solidFill>
                  <a:srgbClr val="0072BC"/>
                </a:solidFill>
                <a:ea typeface="Carlito" pitchFamily="34" charset="-122"/>
                <a:cs typeface="Carlito" pitchFamily="34" charset="-120"/>
              </a:rPr>
              <a:t>Ollama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285750" y="57150"/>
            <a:ext cx="6425915" cy="164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6550796" y="50006"/>
            <a:ext cx="2364604" cy="169736"/>
          </a:xfrm>
          <a:prstGeom prst="rect">
            <a:avLst/>
          </a:prstGeom>
          <a:noFill/>
          <a:ln/>
          <a:effectLst>
            <a:outerShdw blurRad="19050" dist="50800" dir="162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r">
              <a:lnSpc>
                <a:spcPts val="1238"/>
              </a:lnSpc>
              <a:buNone/>
            </a:pPr>
            <a:r>
              <a:rPr lang="en-US" sz="825" i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Agentic AI-Based Equipment Health Monitoring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71475"/>
            <a:ext cx="8636000" cy="29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950" b="1" kern="0" spc="11" dirty="0">
                <a:solidFill>
                  <a:srgbClr val="1A3B5C"/>
                </a:solidFill>
                <a:latin typeface="+mj-lt"/>
                <a:ea typeface="Carlito" pitchFamily="34" charset="-122"/>
                <a:cs typeface="Carlito" pitchFamily="34" charset="-120"/>
              </a:rPr>
              <a:t>Findings and Results</a:t>
            </a:r>
            <a:endParaRPr lang="en-US" sz="195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00050" y="700980"/>
            <a:ext cx="657225" cy="28575"/>
          </a:xfrm>
          <a:prstGeom prst="roundRect">
            <a:avLst>
              <a:gd name="adj" fmla="val 6666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3622" y="833140"/>
            <a:ext cx="2003822" cy="860041"/>
          </a:xfrm>
          <a:prstGeom prst="roundRect">
            <a:avLst>
              <a:gd name="adj" fmla="val 13290"/>
            </a:avLst>
          </a:prstGeom>
          <a:solidFill>
            <a:srgbClr val="FFFFFF"/>
          </a:solidFill>
          <a:ln w="7144">
            <a:solidFill>
              <a:srgbClr val="DDE8F0"/>
            </a:solidFill>
            <a:prstDash val="solid"/>
          </a:ln>
          <a:effectLst>
            <a:outerShdw blurRad="28575" dist="9525" dir="5400000" algn="bl" rotWithShape="0">
              <a:srgbClr val="0F2C4A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2175272" y="90814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0AEEF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2919" y="936724"/>
            <a:ext cx="1825228" cy="2940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kern="0" spc="-56" dirty="0">
                <a:solidFill>
                  <a:srgbClr val="00AEEF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83.18%</a:t>
            </a:r>
            <a:endParaRPr lang="en-US" sz="225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2919" y="1258193"/>
            <a:ext cx="182522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765"/>
              </a:lnSpc>
              <a:buNone/>
            </a:pPr>
            <a:r>
              <a:rPr lang="en-US" sz="800" kern="0" spc="34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FAULT DIAGNOSIS ACCURACY</a:t>
            </a:r>
            <a:endParaRPr lang="en-US" sz="800" dirty="0">
              <a:latin typeface="+mj-l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92919" y="1461790"/>
            <a:ext cx="1825228" cy="0"/>
          </a:xfrm>
          <a:prstGeom prst="line">
            <a:avLst/>
          </a:prstGeom>
          <a:noFill/>
          <a:ln w="7144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2919" y="1458218"/>
            <a:ext cx="1825228" cy="145666"/>
          </a:xfrm>
          <a:prstGeom prst="rect">
            <a:avLst/>
          </a:prstGeom>
          <a:noFill/>
          <a:ln/>
        </p:spPr>
        <p:txBody>
          <a:bodyPr wrap="none" lIns="0" tIns="35719" rIns="0" bIns="0" rtlCol="0" anchor="t"/>
          <a:lstStyle/>
          <a:p>
            <a:pPr marL="0" indent="0" algn="ctr">
              <a:lnSpc>
                <a:spcPts val="810"/>
              </a:lnSpc>
              <a:buNone/>
            </a:pPr>
            <a:r>
              <a:rPr lang="en-US" sz="800" dirty="0">
                <a:solidFill>
                  <a:srgbClr val="5B7C99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Weighted F1: </a:t>
            </a:r>
            <a:r>
              <a:rPr lang="en-US" sz="800" b="1" dirty="0">
                <a:solidFill>
                  <a:srgbClr val="5B7C99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84.67%</a:t>
            </a:r>
            <a:endParaRPr lang="en-US" sz="80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514600" y="833140"/>
            <a:ext cx="2003822" cy="860041"/>
          </a:xfrm>
          <a:prstGeom prst="roundRect">
            <a:avLst>
              <a:gd name="adj" fmla="val 13290"/>
            </a:avLst>
          </a:prstGeom>
          <a:solidFill>
            <a:srgbClr val="FFFFFF"/>
          </a:solidFill>
          <a:ln w="7144">
            <a:solidFill>
              <a:srgbClr val="DDE8F0"/>
            </a:solidFill>
            <a:prstDash val="solid"/>
          </a:ln>
          <a:effectLst>
            <a:outerShdw blurRad="28575" dist="9525" dir="5400000" algn="bl" rotWithShape="0">
              <a:srgbClr val="0F2C4A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86250" y="90814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00AEEF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03897" y="936724"/>
            <a:ext cx="1825228" cy="2940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kern="0" spc="-56" dirty="0">
                <a:solidFill>
                  <a:srgbClr val="00AEEF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81.68%</a:t>
            </a:r>
            <a:endParaRPr lang="en-US" sz="225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03897" y="1258193"/>
            <a:ext cx="1825228" cy="172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765"/>
              </a:lnSpc>
              <a:buNone/>
            </a:pPr>
            <a:r>
              <a:rPr lang="en-US" sz="800" kern="0" spc="34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ANOMALY DETECTION ACCURACY</a:t>
            </a:r>
            <a:endParaRPr lang="en-US" sz="800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03897" y="1461790"/>
            <a:ext cx="1825228" cy="0"/>
          </a:xfrm>
          <a:prstGeom prst="line">
            <a:avLst/>
          </a:prstGeom>
          <a:noFill/>
          <a:ln w="7144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03897" y="1458218"/>
            <a:ext cx="1825228" cy="145666"/>
          </a:xfrm>
          <a:prstGeom prst="rect">
            <a:avLst/>
          </a:prstGeom>
          <a:noFill/>
          <a:ln/>
        </p:spPr>
        <p:txBody>
          <a:bodyPr wrap="none" lIns="0" tIns="35719" rIns="0" bIns="0" rtlCol="0" anchor="t"/>
          <a:lstStyle/>
          <a:p>
            <a:pPr marL="0" indent="0" algn="ctr">
              <a:lnSpc>
                <a:spcPts val="810"/>
              </a:lnSpc>
              <a:buNone/>
            </a:pPr>
            <a:r>
              <a:rPr lang="en-US" sz="800" dirty="0">
                <a:solidFill>
                  <a:srgbClr val="5B7C99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Weighted F1: </a:t>
            </a:r>
            <a:r>
              <a:rPr lang="en-US" sz="800" b="1" dirty="0">
                <a:solidFill>
                  <a:srgbClr val="5B7C99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81.37%</a:t>
            </a:r>
            <a:endParaRPr lang="en-US" sz="800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25578" y="833140"/>
            <a:ext cx="2003822" cy="860041"/>
          </a:xfrm>
          <a:prstGeom prst="roundRect">
            <a:avLst>
              <a:gd name="adj" fmla="val 13290"/>
            </a:avLst>
          </a:prstGeom>
          <a:solidFill>
            <a:srgbClr val="FFFFFF"/>
          </a:solidFill>
          <a:ln w="7144">
            <a:solidFill>
              <a:srgbClr val="DDE8F0"/>
            </a:solidFill>
            <a:prstDash val="solid"/>
          </a:ln>
          <a:effectLst>
            <a:outerShdw blurRad="28575" dist="9525" dir="5400000" algn="bl" rotWithShape="0">
              <a:srgbClr val="0F2C4A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97228" y="90814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5A623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406" dirty="0">
              <a:latin typeface="+mj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14875" y="936724"/>
            <a:ext cx="1825228" cy="2940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kern="0" spc="-56" dirty="0">
                <a:solidFill>
                  <a:srgbClr val="F5A623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43.43</a:t>
            </a:r>
            <a:endParaRPr lang="en-US" sz="2250" dirty="0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14875" y="1258193"/>
            <a:ext cx="182522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765"/>
              </a:lnSpc>
              <a:buNone/>
            </a:pPr>
            <a:r>
              <a:rPr lang="en-US" sz="800" kern="0" spc="34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MEAN HEALTH SCORE</a:t>
            </a:r>
            <a:endParaRPr lang="en-US" sz="800" dirty="0">
              <a:latin typeface="+mj-l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14875" y="1461790"/>
            <a:ext cx="1825228" cy="0"/>
          </a:xfrm>
          <a:prstGeom prst="line">
            <a:avLst/>
          </a:prstGeom>
          <a:noFill/>
          <a:ln w="7144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14875" y="1458218"/>
            <a:ext cx="1825228" cy="145666"/>
          </a:xfrm>
          <a:prstGeom prst="rect">
            <a:avLst/>
          </a:prstGeom>
          <a:noFill/>
          <a:ln/>
        </p:spPr>
        <p:txBody>
          <a:bodyPr wrap="none" lIns="0" tIns="35719" rIns="0" bIns="0" rtlCol="0" anchor="t"/>
          <a:lstStyle/>
          <a:p>
            <a:pPr marL="0" indent="0" algn="ctr">
              <a:lnSpc>
                <a:spcPts val="810"/>
              </a:lnSpc>
              <a:buNone/>
            </a:pPr>
            <a:r>
              <a:rPr lang="en-US" sz="800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Final Snapshot: </a:t>
            </a:r>
            <a:r>
              <a:rPr lang="en-US" sz="800" b="1" dirty="0">
                <a:solidFill>
                  <a:srgbClr val="5B7C99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0.53</a:t>
            </a:r>
            <a:endParaRPr lang="en-US" sz="800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36556" y="833140"/>
            <a:ext cx="2003822" cy="860041"/>
          </a:xfrm>
          <a:prstGeom prst="roundRect">
            <a:avLst>
              <a:gd name="adj" fmla="val 13290"/>
            </a:avLst>
          </a:prstGeom>
          <a:solidFill>
            <a:srgbClr val="FFFFFF"/>
          </a:solidFill>
          <a:ln w="7144">
            <a:solidFill>
              <a:srgbClr val="DDE8F0"/>
            </a:solidFill>
            <a:prstDash val="solid"/>
          </a:ln>
          <a:effectLst>
            <a:outerShdw blurRad="28575" dist="9525" dir="5400000" algn="bl" rotWithShape="0">
              <a:srgbClr val="0F2C4A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08206" y="90814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CAF50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>
              <a:latin typeface="+mj-l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25853" y="936724"/>
            <a:ext cx="1825228" cy="2940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kern="0" spc="-56" dirty="0">
                <a:solidFill>
                  <a:srgbClr val="4CAF50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66</a:t>
            </a:r>
            <a:endParaRPr lang="en-US" sz="2250" dirty="0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25853" y="1258193"/>
            <a:ext cx="1825228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765"/>
              </a:lnSpc>
              <a:buNone/>
            </a:pPr>
            <a:r>
              <a:rPr lang="en-US" sz="800" kern="0" spc="34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RAG KNOWLEDGE CHUNKS</a:t>
            </a:r>
            <a:endParaRPr lang="en-US" sz="800" dirty="0">
              <a:latin typeface="+mj-l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25853" y="1461790"/>
            <a:ext cx="1825228" cy="0"/>
          </a:xfrm>
          <a:prstGeom prst="line">
            <a:avLst/>
          </a:prstGeom>
          <a:noFill/>
          <a:ln w="7144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25853" y="1458218"/>
            <a:ext cx="1825228" cy="145666"/>
          </a:xfrm>
          <a:prstGeom prst="rect">
            <a:avLst/>
          </a:prstGeom>
          <a:noFill/>
          <a:ln/>
        </p:spPr>
        <p:txBody>
          <a:bodyPr wrap="none" lIns="0" tIns="35719" rIns="0" bIns="0" rtlCol="0" anchor="t"/>
          <a:lstStyle/>
          <a:p>
            <a:pPr marL="0" indent="0" algn="ctr">
              <a:lnSpc>
                <a:spcPts val="810"/>
              </a:lnSpc>
              <a:buNone/>
            </a:pPr>
            <a:r>
              <a:rPr lang="en-US" sz="800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ChromaDB + Ollama indexed</a:t>
            </a:r>
            <a:endParaRPr lang="en-US" sz="800" dirty="0">
              <a:latin typeface="+mj-lt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00050" y="1796765"/>
            <a:ext cx="4800488" cy="2000250"/>
          </a:xfrm>
          <a:prstGeom prst="roundRect">
            <a:avLst>
              <a:gd name="adj" fmla="val 4762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00050" y="1807480"/>
            <a:ext cx="4800488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196967" y="1796765"/>
            <a:ext cx="0" cy="200025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00050" y="3793443"/>
            <a:ext cx="4800488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03622" y="1796765"/>
            <a:ext cx="0" cy="200025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21494" y="19396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0AEEF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>
              <a:latin typeface="+mj-lt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7231" y="1918208"/>
            <a:ext cx="437186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1" dirty="0">
                <a:solidFill>
                  <a:srgbClr val="1A3B5C"/>
                </a:solidFill>
                <a:latin typeface="+mj-lt"/>
                <a:ea typeface="Carlito" pitchFamily="34" charset="-122"/>
                <a:cs typeface="Carlito" pitchFamily="34" charset="-120"/>
              </a:rPr>
              <a:t>Health Status Distribution (2,156 snapshots)</a:t>
            </a:r>
            <a:endParaRPr lang="en-US" sz="900" dirty="0">
              <a:latin typeface="+mj-lt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25066" y="2164668"/>
            <a:ext cx="4550457" cy="250031"/>
          </a:xfrm>
          <a:prstGeom prst="roundRect">
            <a:avLst>
              <a:gd name="adj" fmla="val 22857"/>
            </a:avLst>
          </a:prstGeom>
          <a:noFill/>
          <a:ln w="7144">
            <a:solidFill>
              <a:srgbClr val="D8E2EC"/>
            </a:solidFill>
            <a:prstDash val="solid"/>
          </a:ln>
          <a:effectLst>
            <a:outerShdw blurRad="19050" dist="9525" dir="5400000" algn="bl" rotWithShape="0">
              <a:srgbClr val="0F2C4A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28638" y="2168240"/>
            <a:ext cx="42863" cy="242888"/>
          </a:xfrm>
          <a:prstGeom prst="rect">
            <a:avLst/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71500" y="2168240"/>
            <a:ext cx="3015332" cy="242888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71500" y="2168240"/>
            <a:ext cx="301533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800" b="1" kern="0" spc="17" dirty="0">
                <a:solidFill>
                  <a:srgbClr val="FFFFFF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Degrading · 67%</a:t>
            </a:r>
            <a:endParaRPr lang="en-US" sz="800" dirty="0">
              <a:latin typeface="+mj-lt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586832" y="2168240"/>
            <a:ext cx="1485119" cy="242888"/>
          </a:xfrm>
          <a:prstGeom prst="rect">
            <a:avLst/>
          </a:prstGeom>
          <a:solidFill>
            <a:srgbClr val="E539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586832" y="2168240"/>
            <a:ext cx="148511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800" b="1" kern="0" spc="17" dirty="0">
                <a:solidFill>
                  <a:srgbClr val="FFFFFF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Critical · 33%</a:t>
            </a:r>
            <a:endParaRPr lang="en-US" sz="800" dirty="0">
              <a:latin typeface="+mj-lt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35781" y="2446846"/>
            <a:ext cx="3938327" cy="164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5B7C99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800" dirty="0">
              <a:latin typeface="+mj-lt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488396" y="2446846"/>
            <a:ext cx="590699" cy="164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5B7C99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2,156 snapshots</a:t>
            </a:r>
            <a:endParaRPr lang="en-US" sz="600" dirty="0">
              <a:latin typeface="+mj-lt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21494" y="2646871"/>
            <a:ext cx="1471501" cy="429853"/>
          </a:xfrm>
          <a:prstGeom prst="roundRect">
            <a:avLst>
              <a:gd name="adj" fmla="val 13295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32209" y="2646871"/>
            <a:ext cx="0" cy="429853"/>
          </a:xfrm>
          <a:prstGeom prst="line">
            <a:avLst/>
          </a:prstGeom>
          <a:noFill/>
          <a:ln w="21431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00075" y="2818879"/>
            <a:ext cx="85725" cy="85725"/>
          </a:xfrm>
          <a:prstGeom prst="roundRect">
            <a:avLst>
              <a:gd name="adj" fmla="val 33333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5423" y="2689733"/>
            <a:ext cx="40630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675" kern="0" spc="17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STABLE</a:t>
            </a:r>
            <a:endParaRPr lang="en-US" sz="675" dirty="0">
              <a:latin typeface="+mj-lt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42950" y="2791085"/>
            <a:ext cx="481132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1A3B5C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900" dirty="0">
              <a:latin typeface="+mj-lt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42950" y="2912529"/>
            <a:ext cx="481132" cy="12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6"/>
              </a:lnSpc>
              <a:buNone/>
            </a:pPr>
            <a:r>
              <a:rPr lang="en-US" sz="800" dirty="0">
                <a:solidFill>
                  <a:srgbClr val="5B7C99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0.3%</a:t>
            </a:r>
            <a:endParaRPr lang="en-US" sz="800" dirty="0">
              <a:latin typeface="+mj-lt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064432" y="2646871"/>
            <a:ext cx="1471613" cy="429853"/>
          </a:xfrm>
          <a:prstGeom prst="roundRect">
            <a:avLst>
              <a:gd name="adj" fmla="val 13295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075148" y="2646871"/>
            <a:ext cx="0" cy="429853"/>
          </a:xfrm>
          <a:prstGeom prst="line">
            <a:avLst/>
          </a:prstGeom>
          <a:noFill/>
          <a:ln w="21431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143013" y="2818879"/>
            <a:ext cx="85725" cy="85725"/>
          </a:xfrm>
          <a:prstGeom prst="roundRect">
            <a:avLst>
              <a:gd name="adj" fmla="val 33333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285888" y="2689733"/>
            <a:ext cx="6156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675" kern="0" spc="17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DEGRADING</a:t>
            </a:r>
            <a:endParaRPr lang="en-US" sz="675" dirty="0">
              <a:latin typeface="+mj-lt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2285888" y="2791085"/>
            <a:ext cx="75705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1A3B5C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1,443</a:t>
            </a:r>
            <a:endParaRPr lang="en-US" sz="900" dirty="0">
              <a:latin typeface="+mj-lt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285888" y="2912529"/>
            <a:ext cx="757059" cy="12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6"/>
              </a:lnSpc>
              <a:buNone/>
            </a:pPr>
            <a:r>
              <a:rPr lang="en-US" sz="800" dirty="0">
                <a:solidFill>
                  <a:srgbClr val="5B7C99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67%</a:t>
            </a:r>
            <a:endParaRPr lang="en-US" sz="800" dirty="0">
              <a:latin typeface="+mj-lt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3607482" y="2646871"/>
            <a:ext cx="1471613" cy="429853"/>
          </a:xfrm>
          <a:prstGeom prst="roundRect">
            <a:avLst>
              <a:gd name="adj" fmla="val 13295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3618198" y="2646871"/>
            <a:ext cx="0" cy="429853"/>
          </a:xfrm>
          <a:prstGeom prst="line">
            <a:avLst/>
          </a:prstGeom>
          <a:noFill/>
          <a:ln w="21431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3686063" y="2818879"/>
            <a:ext cx="85725" cy="85725"/>
          </a:xfrm>
          <a:prstGeom prst="roundRect">
            <a:avLst>
              <a:gd name="adj" fmla="val 33333"/>
            </a:avLst>
          </a:prstGeom>
          <a:solidFill>
            <a:srgbClr val="E539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3793768" y="2689733"/>
            <a:ext cx="53173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42"/>
              </a:lnSpc>
              <a:buNone/>
            </a:pPr>
            <a:r>
              <a:rPr lang="en-US" sz="675" kern="0" spc="17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CRITICAL</a:t>
            </a:r>
            <a:endParaRPr lang="en-US" sz="675" dirty="0">
              <a:latin typeface="+mj-lt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3828938" y="2791085"/>
            <a:ext cx="567392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1A3B5C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706</a:t>
            </a:r>
            <a:endParaRPr lang="en-US" sz="900" dirty="0">
              <a:latin typeface="+mj-lt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3828938" y="2912529"/>
            <a:ext cx="567392" cy="12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6"/>
              </a:lnSpc>
              <a:buNone/>
            </a:pPr>
            <a:r>
              <a:rPr lang="en-US" sz="800" dirty="0">
                <a:solidFill>
                  <a:srgbClr val="5B7C99"/>
                </a:solidFill>
                <a:latin typeface="+mj-lt"/>
                <a:ea typeface="Liberation Sans Narrow" pitchFamily="34" charset="-122"/>
                <a:cs typeface="Liberation Sans Narrow" pitchFamily="34" charset="-120"/>
              </a:rPr>
              <a:t>33%</a:t>
            </a:r>
            <a:endParaRPr lang="en-US" sz="800" dirty="0">
              <a:latin typeface="+mj-lt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21494" y="3166021"/>
            <a:ext cx="4557601" cy="0"/>
          </a:xfrm>
          <a:prstGeom prst="line">
            <a:avLst/>
          </a:prstGeom>
          <a:noFill/>
          <a:ln w="7144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21494" y="3276749"/>
            <a:ext cx="3774914" cy="164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800" kern="0" spc="17" dirty="0">
                <a:solidFill>
                  <a:srgbClr val="5B7C99"/>
                </a:solidFill>
                <a:latin typeface="+mj-lt"/>
                <a:ea typeface="Carlito" pitchFamily="34" charset="-122"/>
                <a:cs typeface="Carlito" pitchFamily="34" charset="-120"/>
              </a:rPr>
              <a:t>Overall Trend</a:t>
            </a:r>
            <a:endParaRPr lang="en-US" sz="800" dirty="0">
              <a:latin typeface="+mj-lt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4287835" y="3228228"/>
            <a:ext cx="814120" cy="239804"/>
          </a:xfrm>
          <a:prstGeom prst="roundRect">
            <a:avLst>
              <a:gd name="adj" fmla="val 47664"/>
            </a:avLst>
          </a:prstGeom>
          <a:solidFill>
            <a:srgbClr val="FDEC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4310695" y="3241030"/>
            <a:ext cx="768400" cy="214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800" b="1" kern="0" spc="56" dirty="0">
                <a:solidFill>
                  <a:srgbClr val="C62828"/>
                </a:solidFill>
                <a:latin typeface="+mj-lt"/>
                <a:ea typeface="Carlito" pitchFamily="34" charset="-122"/>
                <a:cs typeface="Carlito" pitchFamily="34" charset="-120"/>
              </a:rPr>
              <a:t>DEGRADING</a:t>
            </a:r>
            <a:endParaRPr lang="en-US" sz="800" dirty="0">
              <a:latin typeface="+mj-lt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314838" y="1796765"/>
            <a:ext cx="3429000" cy="2000250"/>
          </a:xfrm>
          <a:prstGeom prst="roundRect">
            <a:avLst>
              <a:gd name="adj" fmla="val 4762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5314838" y="1807480"/>
            <a:ext cx="3429000" cy="0"/>
          </a:xfrm>
          <a:prstGeom prst="line">
            <a:avLst/>
          </a:prstGeom>
          <a:noFill/>
          <a:ln w="21431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8740267" y="1796765"/>
            <a:ext cx="0" cy="200025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5314838" y="3793443"/>
            <a:ext cx="342900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5318410" y="1796765"/>
            <a:ext cx="0" cy="200025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5436282" y="19396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4CAF50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>
              <a:latin typeface="+mj-lt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5622020" y="1918208"/>
            <a:ext cx="300037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1" dirty="0">
                <a:solidFill>
                  <a:srgbClr val="1A3B5C"/>
                </a:solidFill>
                <a:latin typeface="+mj-lt"/>
                <a:ea typeface="Carlito" pitchFamily="34" charset="-122"/>
                <a:cs typeface="Carlito" pitchFamily="34" charset="-120"/>
              </a:rPr>
              <a:t>Agentic Pipeline Output</a:t>
            </a:r>
            <a:endParaRPr lang="en-US" sz="900" dirty="0">
              <a:latin typeface="+mj-lt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6068504" y="2164668"/>
            <a:ext cx="1921669" cy="292894"/>
          </a:xfrm>
          <a:prstGeom prst="roundRect">
            <a:avLst>
              <a:gd name="adj" fmla="val 26016"/>
            </a:avLst>
          </a:prstGeom>
          <a:solidFill>
            <a:srgbClr val="E0F4FB"/>
          </a:solidFill>
          <a:ln w="7144">
            <a:solidFill>
              <a:srgbClr val="B6E2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6680746" y="2246821"/>
            <a:ext cx="86863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b="1" kern="0" spc="17" dirty="0">
                <a:solidFill>
                  <a:srgbClr val="0072BC"/>
                </a:solidFill>
                <a:latin typeface="+mj-lt"/>
                <a:ea typeface="Carlito" pitchFamily="34" charset="-122"/>
                <a:cs typeface="Carlito" pitchFamily="34" charset="-120"/>
              </a:rPr>
              <a:t>Data Health Agent</a:t>
            </a:r>
            <a:endParaRPr lang="en-US" sz="825" dirty="0">
              <a:latin typeface="+mj-lt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6946471" y="222824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125" dirty="0">
              <a:latin typeface="+mj-lt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6972188" y="2489708"/>
            <a:ext cx="1143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900" dirty="0">
              <a:latin typeface="+mj-lt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6068504" y="2621868"/>
            <a:ext cx="1921669" cy="292894"/>
          </a:xfrm>
          <a:prstGeom prst="roundRect">
            <a:avLst>
              <a:gd name="adj" fmla="val 26016"/>
            </a:avLst>
          </a:prstGeom>
          <a:solidFill>
            <a:srgbClr val="E0F4FB"/>
          </a:solidFill>
          <a:ln w="7144">
            <a:solidFill>
              <a:srgbClr val="B6E2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6596918" y="2704021"/>
            <a:ext cx="103629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b="1" kern="0" spc="17" dirty="0">
                <a:solidFill>
                  <a:srgbClr val="0072BC"/>
                </a:solidFill>
                <a:latin typeface="+mj-lt"/>
                <a:ea typeface="Carlito" pitchFamily="34" charset="-122"/>
                <a:cs typeface="Carlito" pitchFamily="34" charset="-120"/>
              </a:rPr>
              <a:t>Fault Diagnosis Agent</a:t>
            </a:r>
            <a:endParaRPr lang="en-US" sz="825" dirty="0">
              <a:latin typeface="+mj-lt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6946471" y="268544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125" dirty="0">
              <a:latin typeface="+mj-lt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6972188" y="2946908"/>
            <a:ext cx="1143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900" dirty="0">
              <a:latin typeface="+mj-lt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6068504" y="3079068"/>
            <a:ext cx="1921669" cy="292894"/>
          </a:xfrm>
          <a:prstGeom prst="roundRect">
            <a:avLst>
              <a:gd name="adj" fmla="val 26016"/>
            </a:avLst>
          </a:prstGeom>
          <a:solidFill>
            <a:srgbClr val="E0F4FB"/>
          </a:solidFill>
          <a:ln w="7144">
            <a:solidFill>
              <a:srgbClr val="B6E2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6681259" y="3161221"/>
            <a:ext cx="867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825" b="1" kern="0" spc="17" dirty="0">
                <a:solidFill>
                  <a:srgbClr val="0072BC"/>
                </a:solidFill>
                <a:latin typeface="+mj-lt"/>
                <a:ea typeface="Carlito" pitchFamily="34" charset="-122"/>
                <a:cs typeface="Carlito" pitchFamily="34" charset="-120"/>
              </a:rPr>
              <a:t>Anomaly Agent</a:t>
            </a:r>
            <a:endParaRPr lang="en-US" sz="825" dirty="0">
              <a:latin typeface="+mj-lt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6946471" y="3142647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125" dirty="0">
              <a:latin typeface="+mj-lt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6972188" y="3404108"/>
            <a:ext cx="11430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+mj-lt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900" dirty="0">
              <a:latin typeface="+mj-lt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064932" y="3561270"/>
            <a:ext cx="1976028" cy="645505"/>
          </a:xfrm>
          <a:prstGeom prst="roundRect">
            <a:avLst>
              <a:gd name="adj" fmla="val 18884"/>
            </a:avLst>
          </a:prstGeom>
          <a:solidFill>
            <a:srgbClr val="E53935"/>
          </a:solidFill>
          <a:ln/>
          <a:effectLst>
            <a:outerShdw blurRad="57150" dist="19050" dir="5400000" algn="bl" rotWithShape="0">
              <a:srgbClr val="E53935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6374904" y="3742209"/>
            <a:ext cx="1308869" cy="91440"/>
          </a:xfrm>
          <a:prstGeom prst="rect">
            <a:avLst/>
          </a:prstGeom>
          <a:noFill/>
          <a:ln/>
        </p:spPr>
        <p:txBody>
          <a:bodyPr wrap="square" lIns="100013" tIns="78581" rIns="100013" bIns="78581" rtlCol="0" anchor="t"/>
          <a:lstStyle/>
          <a:p>
            <a:pPr marL="0" indent="0" algn="ctr">
              <a:lnSpc>
                <a:spcPts val="1078"/>
              </a:lnSpc>
              <a:buNone/>
            </a:pPr>
            <a:r>
              <a:rPr lang="en-US" sz="862" b="1" kern="0" spc="17" dirty="0">
                <a:solidFill>
                  <a:srgbClr val="FFFFFF"/>
                </a:solidFill>
                <a:latin typeface="+mj-lt"/>
                <a:ea typeface="Carlito" pitchFamily="34" charset="-122"/>
                <a:cs typeface="Carlito" pitchFamily="34" charset="-120"/>
              </a:rPr>
              <a:t>Critical / Faulty / Anomaly</a:t>
            </a:r>
            <a:endParaRPr lang="en-US" sz="862" dirty="0">
              <a:latin typeface="+mj-lt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6164945" y="3639852"/>
            <a:ext cx="1728787" cy="137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800" kern="0" spc="68" dirty="0">
                <a:solidFill>
                  <a:srgbClr val="FFFFFF">
                    <a:alpha val="85000"/>
                  </a:srgbClr>
                </a:solidFill>
                <a:latin typeface="+mj-lt"/>
                <a:ea typeface="Carlito" pitchFamily="34" charset="-122"/>
                <a:cs typeface="Carlito" pitchFamily="34" charset="-120"/>
              </a:rPr>
              <a:t>FINAL ASSESSMENT</a:t>
            </a:r>
            <a:endParaRPr lang="en-US" sz="800" dirty="0">
              <a:latin typeface="+mj-lt"/>
            </a:endParaRPr>
          </a:p>
        </p:txBody>
      </p:sp>
      <p:sp>
        <p:nvSpPr>
          <p:cNvPr id="89" name="Text 85"/>
          <p:cNvSpPr/>
          <p:nvPr/>
        </p:nvSpPr>
        <p:spPr>
          <a:xfrm>
            <a:off x="285750" y="57150"/>
            <a:ext cx="6425915" cy="164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endParaRPr lang="en-US" sz="800" dirty="0">
              <a:latin typeface="+mj-lt"/>
            </a:endParaRPr>
          </a:p>
        </p:txBody>
      </p:sp>
      <p:sp>
        <p:nvSpPr>
          <p:cNvPr id="90" name="Text 86"/>
          <p:cNvSpPr/>
          <p:nvPr/>
        </p:nvSpPr>
        <p:spPr>
          <a:xfrm>
            <a:off x="6550796" y="50006"/>
            <a:ext cx="2364604" cy="169736"/>
          </a:xfrm>
          <a:prstGeom prst="rect">
            <a:avLst/>
          </a:prstGeom>
          <a:noFill/>
          <a:ln/>
          <a:effectLst>
            <a:outerShdw blurRad="19050" dist="50800" dir="162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r">
              <a:lnSpc>
                <a:spcPts val="1238"/>
              </a:lnSpc>
              <a:buNone/>
            </a:pPr>
            <a:r>
              <a:rPr lang="en-US" sz="825" i="1" kern="0" spc="11" dirty="0">
                <a:solidFill>
                  <a:srgbClr val="FFFFFF"/>
                </a:solidFill>
                <a:latin typeface="+mj-lt"/>
                <a:ea typeface="Carlito" pitchFamily="34" charset="-122"/>
                <a:cs typeface="Carlito" pitchFamily="34" charset="-120"/>
              </a:rPr>
              <a:t>Agentic AI-Based Equipment Health Monitoring</a:t>
            </a:r>
            <a:endParaRPr lang="en-US" sz="825" dirty="0">
              <a:latin typeface="+mj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71475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Conclusion and Limitations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00050" y="757238"/>
            <a:ext cx="657225" cy="28575"/>
          </a:xfrm>
          <a:prstGeom prst="roundRect">
            <a:avLst>
              <a:gd name="adj" fmla="val 6666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942975"/>
            <a:ext cx="8343900" cy="2014538"/>
          </a:xfrm>
          <a:prstGeom prst="roundRect">
            <a:avLst>
              <a:gd name="adj" fmla="val 4728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953691"/>
            <a:ext cx="8343900" cy="0"/>
          </a:xfrm>
          <a:prstGeom prst="line">
            <a:avLst/>
          </a:prstGeom>
          <a:noFill/>
          <a:ln w="21431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740378" y="942975"/>
            <a:ext cx="0" cy="2014538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00050" y="2953941"/>
            <a:ext cx="834390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03622" y="942975"/>
            <a:ext cx="0" cy="2014538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50069" y="1100138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4CAF50"/>
                </a:solidFill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828" dirty="0"/>
          </a:p>
        </p:txBody>
      </p:sp>
      <p:sp>
        <p:nvSpPr>
          <p:cNvPr id="10" name="Text 8"/>
          <p:cNvSpPr/>
          <p:nvPr/>
        </p:nvSpPr>
        <p:spPr>
          <a:xfrm>
            <a:off x="807244" y="1064419"/>
            <a:ext cx="6513202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17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56165" y="1128713"/>
            <a:ext cx="12377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34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ACHIEVEMENTS &amp; OUTCOMES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550069" y="1393031"/>
            <a:ext cx="8043863" cy="1449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4CAF50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Successfully developed an integrated AI-based industrial equipment health monitoring system.</a:t>
            </a:r>
            <a:endParaRPr lang="en-US" sz="900" dirty="0"/>
          </a:p>
          <a:p>
            <a:pPr marL="0" indent="0" algn="l">
              <a:lnSpc>
                <a:spcPts val="1260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4CAF50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Combined supervised fault diagnosis and anomaly detection for comprehensive condition assessment.</a:t>
            </a:r>
            <a:endParaRPr lang="en-US" sz="900" dirty="0"/>
          </a:p>
          <a:p>
            <a:pPr marL="0" indent="0" algn="l">
              <a:lnSpc>
                <a:spcPts val="1260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4CAF50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Generated a unified, interpretable health score and degradation trend from multiple statistical indicators.</a:t>
            </a:r>
            <a:endParaRPr lang="en-US" sz="900" dirty="0"/>
          </a:p>
          <a:p>
            <a:pPr marL="0" indent="0" algn="l">
              <a:lnSpc>
                <a:spcPts val="1260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4CAF50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Implemented agentic orchestration to cleanly coordinate specialized analysis components.</a:t>
            </a:r>
            <a:endParaRPr lang="en-US" sz="900" dirty="0"/>
          </a:p>
          <a:p>
            <a:pPr marL="0" indent="0" algn="l">
              <a:lnSpc>
                <a:spcPts val="1260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4CAF50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Added a robust maintenance knowledge retrieval layer using local RAG (ChromaDB + Ollama).</a:t>
            </a:r>
            <a:endParaRPr lang="en-US" sz="900" dirty="0"/>
          </a:p>
          <a:p>
            <a:pPr marL="0" indent="0" algn="l">
              <a:lnSpc>
                <a:spcPts val="1260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4CAF50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Wrapped pipeline in FastAPI backend + Streamlit dashboard with User Data Upload capability.</a:t>
            </a:r>
            <a:endParaRPr lang="en-US" sz="900" dirty="0"/>
          </a:p>
          <a:p>
            <a:pPr marL="0" indent="0" algn="l">
              <a:lnSpc>
                <a:spcPts val="1260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4CAF50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System demonstrates strong feasibility for AI-assisted decision-support using vibration data.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0050" y="3043238"/>
            <a:ext cx="8343900" cy="1257300"/>
          </a:xfrm>
          <a:prstGeom prst="roundRect">
            <a:avLst>
              <a:gd name="adj" fmla="val 7576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053953"/>
            <a:ext cx="8343900" cy="0"/>
          </a:xfrm>
          <a:prstGeom prst="line">
            <a:avLst/>
          </a:prstGeom>
          <a:noFill/>
          <a:ln w="21431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740378" y="3043238"/>
            <a:ext cx="0" cy="12573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00050" y="4296966"/>
            <a:ext cx="834390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03622" y="3043238"/>
            <a:ext cx="0" cy="125730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50069" y="3200400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E53935"/>
                </a:solidFill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828" dirty="0"/>
          </a:p>
        </p:txBody>
      </p:sp>
      <p:sp>
        <p:nvSpPr>
          <p:cNvPr id="19" name="Text 17"/>
          <p:cNvSpPr/>
          <p:nvPr/>
        </p:nvSpPr>
        <p:spPr>
          <a:xfrm>
            <a:off x="807244" y="3164681"/>
            <a:ext cx="6493557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17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36520" y="3228975"/>
            <a:ext cx="12574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kern="0" spc="34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ACADEMIC HONESTY &amp; SCOPE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50069" y="3493294"/>
            <a:ext cx="8043863" cy="620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E53935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Evaluation relies primarily on the IMS bearing dataset; supervised labels are heuristic temporal labels, not physical ground truth.</a:t>
            </a:r>
            <a:endParaRPr lang="en-US" sz="900" dirty="0"/>
          </a:p>
          <a:p>
            <a:pPr marL="0" indent="0" algn="l">
              <a:lnSpc>
                <a:spcPts val="1260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E53935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The Isolation Forest anomaly score represents behavioral deviation, NOT a calibrated probability of failure.</a:t>
            </a:r>
            <a:endParaRPr lang="en-US" sz="900" dirty="0"/>
          </a:p>
          <a:p>
            <a:pPr marL="0" indent="0" algn="l">
              <a:lnSpc>
                <a:spcPts val="1260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E53935"/>
                </a:solidFill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The system is an advisory decision-support prototype — NOT a safety-critical autonomous controller.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67823" y="4004072"/>
            <a:ext cx="1751112" cy="200025"/>
          </a:xfrm>
          <a:prstGeom prst="roundRect">
            <a:avLst>
              <a:gd name="adj" fmla="val 57143"/>
            </a:avLst>
          </a:prstGeom>
          <a:solidFill>
            <a:srgbClr val="FDECEA"/>
          </a:solidFill>
          <a:ln w="7144">
            <a:solidFill>
              <a:srgbClr val="F5C2BD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99995" y="4043363"/>
            <a:ext cx="1429643" cy="135731"/>
          </a:xfrm>
          <a:prstGeom prst="rect">
            <a:avLst/>
          </a:prstGeom>
          <a:noFill/>
          <a:ln/>
        </p:spPr>
        <p:txBody>
          <a:bodyPr wrap="none" lIns="85725" tIns="28575" rIns="85725" bIns="28575" rtlCol="0" anchor="t"/>
          <a:lstStyle/>
          <a:p>
            <a:pPr marL="0" indent="0" algn="l">
              <a:lnSpc>
                <a:spcPts val="1069"/>
              </a:lnSpc>
              <a:buNone/>
            </a:pPr>
            <a:r>
              <a:rPr lang="en-US" sz="713" b="1" kern="0" spc="34" dirty="0">
                <a:solidFill>
                  <a:srgbClr val="C62828"/>
                </a:solidFill>
                <a:ea typeface="Carlito" pitchFamily="34" charset="-122"/>
                <a:cs typeface="Carlito" pitchFamily="34" charset="-120"/>
              </a:rPr>
              <a:t>ADVISORY — NOT AUTONOMOUS</a:t>
            </a:r>
            <a:endParaRPr lang="en-US" sz="713" dirty="0"/>
          </a:p>
        </p:txBody>
      </p:sp>
      <p:sp>
        <p:nvSpPr>
          <p:cNvPr id="24" name="Text 22"/>
          <p:cNvSpPr/>
          <p:nvPr/>
        </p:nvSpPr>
        <p:spPr>
          <a:xfrm>
            <a:off x="6957120" y="405407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C62828"/>
                </a:solidFill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28" name="Text 24"/>
          <p:cNvSpPr/>
          <p:nvPr/>
        </p:nvSpPr>
        <p:spPr>
          <a:xfrm>
            <a:off x="6550796" y="50006"/>
            <a:ext cx="2364604" cy="169736"/>
          </a:xfrm>
          <a:prstGeom prst="rect">
            <a:avLst/>
          </a:prstGeom>
          <a:noFill/>
          <a:ln/>
          <a:effectLst>
            <a:outerShdw blurRad="19050" dist="50800" dir="162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r">
              <a:lnSpc>
                <a:spcPts val="1238"/>
              </a:lnSpc>
              <a:buNone/>
            </a:pPr>
            <a:r>
              <a:rPr lang="en-US" sz="825" i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Agentic AI-Based Equipment Health Monitoring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71475"/>
            <a:ext cx="8636000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Acknowledgement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00050" y="757238"/>
            <a:ext cx="657225" cy="28575"/>
          </a:xfrm>
          <a:prstGeom prst="roundRect">
            <a:avLst>
              <a:gd name="adj" fmla="val 6666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942975"/>
            <a:ext cx="83439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i="1" kern="0" spc="11" dirty="0">
                <a:solidFill>
                  <a:srgbClr val="5B7C99"/>
                </a:solidFill>
                <a:ea typeface="Carlito" pitchFamily="34" charset="-122"/>
                <a:cs typeface="Carlito" pitchFamily="34" charset="-120"/>
              </a:rPr>
              <a:t>We sincerely acknowledge and express our gratitude to: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00050" y="1271588"/>
            <a:ext cx="4107656" cy="762707"/>
          </a:xfrm>
          <a:prstGeom prst="roundRect">
            <a:avLst>
              <a:gd name="adj" fmla="val 12488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282303"/>
            <a:ext cx="4107656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04134" y="1271588"/>
            <a:ext cx="0" cy="762707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00050" y="2030723"/>
            <a:ext cx="4107656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03622" y="1271588"/>
            <a:ext cx="0" cy="762707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21494" y="1393031"/>
            <a:ext cx="271463" cy="271463"/>
          </a:xfrm>
          <a:prstGeom prst="ellipse">
            <a:avLst/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3282" y="141482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072BC"/>
                </a:solidFill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547" dirty="0"/>
          </a:p>
        </p:txBody>
      </p:sp>
      <p:sp>
        <p:nvSpPr>
          <p:cNvPr id="12" name="Text 10"/>
          <p:cNvSpPr/>
          <p:nvPr/>
        </p:nvSpPr>
        <p:spPr>
          <a:xfrm>
            <a:off x="878681" y="1393031"/>
            <a:ext cx="3507581" cy="186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VIT Chennai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878681" y="1607232"/>
            <a:ext cx="3507581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For providing an excellent academic platform and research environment.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36294" y="1271588"/>
            <a:ext cx="4107656" cy="762707"/>
          </a:xfrm>
          <a:prstGeom prst="roundRect">
            <a:avLst>
              <a:gd name="adj" fmla="val 12488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36294" y="1282303"/>
            <a:ext cx="4107656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740378" y="1271588"/>
            <a:ext cx="0" cy="762707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36294" y="2030723"/>
            <a:ext cx="4107656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39866" y="1271588"/>
            <a:ext cx="0" cy="762707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7738" y="1393031"/>
            <a:ext cx="271463" cy="271463"/>
          </a:xfrm>
          <a:prstGeom prst="ellipse">
            <a:avLst/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79526" y="141482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072BC"/>
                </a:solidFill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547" dirty="0"/>
          </a:p>
        </p:txBody>
      </p:sp>
      <p:sp>
        <p:nvSpPr>
          <p:cNvPr id="21" name="Text 19"/>
          <p:cNvSpPr/>
          <p:nvPr/>
        </p:nvSpPr>
        <p:spPr>
          <a:xfrm>
            <a:off x="5114925" y="1393031"/>
            <a:ext cx="3507581" cy="186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LTIMindtree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114925" y="1607232"/>
            <a:ext cx="3507581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Knowledge Partner — shaping the industry-integrated M.Tech program.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0050" y="2134307"/>
            <a:ext cx="4107656" cy="762707"/>
          </a:xfrm>
          <a:prstGeom prst="roundRect">
            <a:avLst>
              <a:gd name="adj" fmla="val 12488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00050" y="2145023"/>
            <a:ext cx="4107656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04134" y="2134307"/>
            <a:ext cx="0" cy="762707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00050" y="2893442"/>
            <a:ext cx="4107656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03622" y="2134307"/>
            <a:ext cx="0" cy="762707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21494" y="2255751"/>
            <a:ext cx="271463" cy="271463"/>
          </a:xfrm>
          <a:prstGeom prst="ellipse">
            <a:avLst/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43282" y="227753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072BC"/>
                </a:solidFill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547" dirty="0"/>
          </a:p>
        </p:txBody>
      </p:sp>
      <p:sp>
        <p:nvSpPr>
          <p:cNvPr id="30" name="Text 28"/>
          <p:cNvSpPr/>
          <p:nvPr/>
        </p:nvSpPr>
        <p:spPr>
          <a:xfrm>
            <a:off x="878681" y="2255751"/>
            <a:ext cx="3507581" cy="186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L&amp;T EduTech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878681" y="2469952"/>
            <a:ext cx="3507581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Implementation Partner — enabling the practical engineering framework.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36294" y="2134307"/>
            <a:ext cx="4107656" cy="762707"/>
          </a:xfrm>
          <a:prstGeom prst="roundRect">
            <a:avLst>
              <a:gd name="adj" fmla="val 12488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36294" y="2145023"/>
            <a:ext cx="4107656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8740378" y="2134307"/>
            <a:ext cx="0" cy="762707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636294" y="2893442"/>
            <a:ext cx="4107656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639866" y="2134307"/>
            <a:ext cx="0" cy="762707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57738" y="2255751"/>
            <a:ext cx="271463" cy="271463"/>
          </a:xfrm>
          <a:prstGeom prst="ellipse">
            <a:avLst/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79526" y="227753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072BC"/>
                </a:solidFill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547" dirty="0"/>
          </a:p>
        </p:txBody>
      </p:sp>
      <p:sp>
        <p:nvSpPr>
          <p:cNvPr id="39" name="Text 37"/>
          <p:cNvSpPr/>
          <p:nvPr/>
        </p:nvSpPr>
        <p:spPr>
          <a:xfrm>
            <a:off x="5114925" y="2255751"/>
            <a:ext cx="3507581" cy="186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Project Guide &amp; Faculty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5114925" y="2469952"/>
            <a:ext cx="3507581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For continuous guidance, technical insights, and valuable feedback.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00050" y="2997026"/>
            <a:ext cx="8343900" cy="602754"/>
          </a:xfrm>
          <a:prstGeom prst="roundRect">
            <a:avLst>
              <a:gd name="adj" fmla="val 15802"/>
            </a:avLst>
          </a:prstGeom>
          <a:solidFill>
            <a:srgbClr val="F6FA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00050" y="3007742"/>
            <a:ext cx="8343900" cy="0"/>
          </a:xfrm>
          <a:prstGeom prst="line">
            <a:avLst/>
          </a:prstGeom>
          <a:noFill/>
          <a:ln w="21431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740378" y="2997026"/>
            <a:ext cx="0" cy="602754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00050" y="3596208"/>
            <a:ext cx="8343900" cy="0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03622" y="2997026"/>
            <a:ext cx="0" cy="602754"/>
          </a:xfrm>
          <a:prstGeom prst="line">
            <a:avLst/>
          </a:prstGeom>
          <a:noFill/>
          <a:ln w="7144">
            <a:solidFill>
              <a:srgbClr val="DD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21494" y="3118470"/>
            <a:ext cx="271463" cy="271463"/>
          </a:xfrm>
          <a:prstGeom prst="ellipse">
            <a:avLst/>
          </a:prstGeom>
          <a:solidFill>
            <a:srgbClr val="E0F4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43282" y="314025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072BC"/>
                </a:solidFill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48" name="Text 46"/>
          <p:cNvSpPr/>
          <p:nvPr/>
        </p:nvSpPr>
        <p:spPr>
          <a:xfrm>
            <a:off x="878681" y="3118470"/>
            <a:ext cx="7743825" cy="186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kern="0" spc="11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Colleagues &amp; Peers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878681" y="3332671"/>
            <a:ext cx="7743825" cy="15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D3F52"/>
                </a:solidFill>
                <a:ea typeface="Carlito" pitchFamily="34" charset="-122"/>
                <a:cs typeface="Carlito" pitchFamily="34" charset="-120"/>
              </a:rPr>
              <a:t>For their immense support and collaboration during the development and evaluation of this project.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286250" y="3943462"/>
            <a:ext cx="571500" cy="14288"/>
          </a:xfrm>
          <a:prstGeom prst="roundRect">
            <a:avLst>
              <a:gd name="adj" fmla="val 66664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6294" y="4114912"/>
            <a:ext cx="8636000" cy="20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i="1" kern="0" spc="17" dirty="0">
                <a:solidFill>
                  <a:srgbClr val="1A3B5C"/>
                </a:solidFill>
                <a:ea typeface="Carlito" pitchFamily="34" charset="-122"/>
                <a:cs typeface="Carlito" pitchFamily="34" charset="-120"/>
              </a:rPr>
              <a:t>Thank you for your time and guidance.</a:t>
            </a:r>
            <a:endParaRPr lang="en-US" sz="975" dirty="0"/>
          </a:p>
        </p:txBody>
      </p:sp>
      <p:sp>
        <p:nvSpPr>
          <p:cNvPr id="54" name="Text 50"/>
          <p:cNvSpPr/>
          <p:nvPr/>
        </p:nvSpPr>
        <p:spPr>
          <a:xfrm>
            <a:off x="285750" y="57150"/>
            <a:ext cx="6425915" cy="164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6550796" y="50006"/>
            <a:ext cx="2364604" cy="169736"/>
          </a:xfrm>
          <a:prstGeom prst="rect">
            <a:avLst/>
          </a:prstGeom>
          <a:noFill/>
          <a:ln/>
          <a:effectLst>
            <a:outerShdw blurRad="19050" dist="50800" dir="162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r">
              <a:lnSpc>
                <a:spcPts val="1238"/>
              </a:lnSpc>
              <a:buNone/>
            </a:pPr>
            <a:r>
              <a:rPr lang="en-US" sz="825" i="1" kern="0" spc="11" dirty="0">
                <a:solidFill>
                  <a:srgbClr val="FFFFFF"/>
                </a:solidFill>
                <a:ea typeface="Carlito" pitchFamily="34" charset="-122"/>
                <a:cs typeface="Carlito" pitchFamily="34" charset="-120"/>
              </a:rPr>
              <a:t>Agentic AI-Based Equipment Health Monitoring</a:t>
            </a:r>
            <a:endParaRPr lang="en-US" sz="8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71475"/>
            <a:ext cx="8636000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kern="0" spc="11" dirty="0">
                <a:solidFill>
                  <a:srgbClr val="1A3B5C"/>
                </a:solidFill>
                <a:latin typeface="+mj-lt"/>
                <a:ea typeface="Carlito" pitchFamily="34" charset="-122"/>
                <a:cs typeface="Carlito" pitchFamily="34" charset="-120"/>
              </a:rPr>
              <a:t>References</a:t>
            </a:r>
            <a:endParaRPr lang="en-US" sz="225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400050" y="757238"/>
            <a:ext cx="657225" cy="28575"/>
          </a:xfrm>
          <a:prstGeom prst="roundRect">
            <a:avLst>
              <a:gd name="adj" fmla="val 66667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0050" y="942975"/>
            <a:ext cx="8343900" cy="3280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b="1" dirty="0">
                <a:latin typeface="+mj-lt"/>
              </a:rPr>
              <a:t>[1]</a:t>
            </a:r>
            <a:r>
              <a:rPr lang="en-IN" sz="1400" dirty="0">
                <a:latin typeface="+mj-lt"/>
              </a:rPr>
              <a:t> S. Schwendemann, Z. Amjad, and A. Sikora, </a:t>
            </a:r>
            <a:r>
              <a:rPr lang="en-IN" sz="1400" b="1" dirty="0">
                <a:latin typeface="+mj-lt"/>
              </a:rPr>
              <a:t>“A survey of machine-learning techniques for condition monitoring and predictive maintenance of bearings in grinding machines,”</a:t>
            </a:r>
            <a:r>
              <a:rPr lang="en-IN" sz="1400" dirty="0">
                <a:latin typeface="+mj-lt"/>
              </a:rPr>
              <a:t> </a:t>
            </a:r>
            <a:r>
              <a:rPr lang="en-IN" sz="1400" i="1" dirty="0">
                <a:latin typeface="+mj-lt"/>
              </a:rPr>
              <a:t>Computers in Industry</a:t>
            </a:r>
            <a:r>
              <a:rPr lang="en-IN" sz="1400" dirty="0">
                <a:latin typeface="+mj-lt"/>
              </a:rPr>
              <a:t>, vol. 125, 103380, 2021.</a:t>
            </a:r>
          </a:p>
          <a:p>
            <a:endParaRPr lang="en-IN" sz="1400" dirty="0">
              <a:latin typeface="+mj-lt"/>
            </a:endParaRPr>
          </a:p>
          <a:p>
            <a:r>
              <a:rPr lang="en-IN" sz="1400" b="1" dirty="0">
                <a:latin typeface="+mj-lt"/>
              </a:rPr>
              <a:t>[2]</a:t>
            </a:r>
            <a:r>
              <a:rPr lang="en-IN" sz="1400" dirty="0">
                <a:latin typeface="+mj-lt"/>
              </a:rPr>
              <a:t> S. Zhang, S. Zhang, B. Wang, and T. G. Habetler, </a:t>
            </a:r>
            <a:r>
              <a:rPr lang="en-IN" sz="1400" b="1" dirty="0">
                <a:latin typeface="+mj-lt"/>
              </a:rPr>
              <a:t>“Machine Learning and Deep Learning Algorithms for Bearing Fault Diagnostics—A Comprehensive Review,”</a:t>
            </a:r>
            <a:r>
              <a:rPr lang="en-IN" sz="1400" dirty="0">
                <a:latin typeface="+mj-lt"/>
              </a:rPr>
              <a:t> </a:t>
            </a:r>
            <a:r>
              <a:rPr lang="en-IN" sz="1400" i="1" dirty="0">
                <a:latin typeface="+mj-lt"/>
              </a:rPr>
              <a:t>Mechanical Systems and Signal Processing</a:t>
            </a:r>
            <a:r>
              <a:rPr lang="en-IN" sz="1400" dirty="0">
                <a:latin typeface="+mj-lt"/>
              </a:rPr>
              <a:t>, 2019. </a:t>
            </a:r>
          </a:p>
          <a:p>
            <a:endParaRPr lang="en-IN" sz="1400" dirty="0">
              <a:latin typeface="+mj-lt"/>
            </a:endParaRPr>
          </a:p>
          <a:p>
            <a:r>
              <a:rPr lang="en-IN" sz="1400" b="1" dirty="0">
                <a:latin typeface="+mj-lt"/>
              </a:rPr>
              <a:t>[3]</a:t>
            </a:r>
            <a:r>
              <a:rPr lang="en-IN" sz="1400" dirty="0">
                <a:latin typeface="+mj-lt"/>
              </a:rPr>
              <a:t> </a:t>
            </a:r>
            <a:r>
              <a:rPr lang="en-IN" sz="1400" b="1" dirty="0">
                <a:latin typeface="+mj-lt"/>
              </a:rPr>
              <a:t>“Recent advances in the application of deep learning for fault diagnosis of rotating machinery using vibration signals,”</a:t>
            </a:r>
            <a:r>
              <a:rPr lang="en-IN" sz="1400" dirty="0">
                <a:latin typeface="+mj-lt"/>
              </a:rPr>
              <a:t> </a:t>
            </a:r>
            <a:r>
              <a:rPr lang="en-IN" sz="1400" i="1" dirty="0">
                <a:latin typeface="+mj-lt"/>
              </a:rPr>
              <a:t>Artificial Intelligence Review</a:t>
            </a:r>
            <a:r>
              <a:rPr lang="en-IN" sz="1400" dirty="0">
                <a:latin typeface="+mj-lt"/>
              </a:rPr>
              <a:t>, 2022. </a:t>
            </a:r>
          </a:p>
          <a:p>
            <a:endParaRPr lang="en-IN" sz="1400" dirty="0">
              <a:latin typeface="+mj-lt"/>
            </a:endParaRPr>
          </a:p>
          <a:p>
            <a:r>
              <a:rPr lang="en-IN" sz="1400" b="1" dirty="0">
                <a:latin typeface="+mj-lt"/>
              </a:rPr>
              <a:t>[4]</a:t>
            </a:r>
            <a:r>
              <a:rPr lang="en-IN" sz="1400" dirty="0">
                <a:latin typeface="+mj-lt"/>
              </a:rPr>
              <a:t> L. </a:t>
            </a:r>
            <a:r>
              <a:rPr lang="en-IN" sz="1400" dirty="0" err="1">
                <a:latin typeface="+mj-lt"/>
              </a:rPr>
              <a:t>Polverino</a:t>
            </a:r>
            <a:r>
              <a:rPr lang="en-IN" sz="1400" dirty="0">
                <a:latin typeface="+mj-lt"/>
              </a:rPr>
              <a:t> </a:t>
            </a:r>
            <a:r>
              <a:rPr lang="en-IN" sz="1400" i="1" dirty="0">
                <a:latin typeface="+mj-lt"/>
              </a:rPr>
              <a:t>et al.</a:t>
            </a:r>
            <a:r>
              <a:rPr lang="en-IN" sz="1400" dirty="0">
                <a:latin typeface="+mj-lt"/>
              </a:rPr>
              <a:t>, </a:t>
            </a:r>
            <a:r>
              <a:rPr lang="en-IN" sz="1400" b="1" dirty="0">
                <a:latin typeface="+mj-lt"/>
              </a:rPr>
              <a:t>“Machine learning for prognostics and health management of industrial mechanical systems and equipment: A systematic literature review,”</a:t>
            </a:r>
            <a:r>
              <a:rPr lang="en-IN" sz="1400" dirty="0">
                <a:latin typeface="+mj-lt"/>
              </a:rPr>
              <a:t> </a:t>
            </a:r>
            <a:r>
              <a:rPr lang="en-IN" sz="1400" i="1" dirty="0">
                <a:latin typeface="+mj-lt"/>
              </a:rPr>
              <a:t>International Journal of Engineering Business Management</a:t>
            </a:r>
            <a:r>
              <a:rPr lang="en-IN" sz="1400" dirty="0">
                <a:latin typeface="+mj-lt"/>
              </a:rPr>
              <a:t>, 2023. </a:t>
            </a:r>
          </a:p>
          <a:p>
            <a:endParaRPr lang="en-IN" sz="1400" dirty="0">
              <a:latin typeface="+mj-lt"/>
            </a:endParaRPr>
          </a:p>
          <a:p>
            <a:r>
              <a:rPr lang="en-IN" sz="1400" b="1" dirty="0">
                <a:latin typeface="+mj-lt"/>
              </a:rPr>
              <a:t>[5]</a:t>
            </a:r>
            <a:r>
              <a:rPr lang="en-IN" sz="1400" dirty="0">
                <a:latin typeface="+mj-lt"/>
              </a:rPr>
              <a:t> </a:t>
            </a:r>
            <a:r>
              <a:rPr lang="en-IN" sz="1400" b="1" dirty="0">
                <a:latin typeface="+mj-lt"/>
              </a:rPr>
              <a:t>“A survey of machine learning and deep learning methods for vibration-based Bearing fault diagnosis: The need, challenges, and potential future research directions,”</a:t>
            </a:r>
            <a:r>
              <a:rPr lang="en-IN" sz="1400" dirty="0">
                <a:latin typeface="+mj-lt"/>
              </a:rPr>
              <a:t> </a:t>
            </a:r>
            <a:r>
              <a:rPr lang="en-IN" sz="1400" i="1" dirty="0">
                <a:latin typeface="+mj-lt"/>
              </a:rPr>
              <a:t>Neurocomputing</a:t>
            </a:r>
            <a:r>
              <a:rPr lang="en-IN" sz="1400" dirty="0">
                <a:latin typeface="+mj-lt"/>
              </a:rPr>
              <a:t>, vol. 659, 131628, 2026.</a:t>
            </a:r>
          </a:p>
        </p:txBody>
      </p:sp>
      <p:sp>
        <p:nvSpPr>
          <p:cNvPr id="5" name="Text 3"/>
          <p:cNvSpPr/>
          <p:nvPr/>
        </p:nvSpPr>
        <p:spPr>
          <a:xfrm>
            <a:off x="400050" y="4043474"/>
            <a:ext cx="8343900" cy="296138"/>
          </a:xfrm>
          <a:prstGeom prst="rect">
            <a:avLst/>
          </a:prstGeom>
          <a:noFill/>
          <a:ln/>
        </p:spPr>
        <p:txBody>
          <a:bodyPr wrap="square" lIns="0" tIns="100013" rIns="0" bIns="0" rtlCol="0" anchor="t"/>
          <a:lstStyle/>
          <a:p>
            <a:pPr marL="0" indent="0" algn="ctr">
              <a:lnSpc>
                <a:spcPts val="1125"/>
              </a:lnSpc>
              <a:buNone/>
            </a:pPr>
            <a:endParaRPr lang="en-US" sz="800" dirty="0">
              <a:latin typeface="+mj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285750" y="57150"/>
            <a:ext cx="6425915" cy="164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endParaRPr lang="en-US" sz="800" dirty="0">
              <a:latin typeface="+mj-lt"/>
            </a:endParaRPr>
          </a:p>
        </p:txBody>
      </p:sp>
      <p:sp>
        <p:nvSpPr>
          <p:cNvPr id="9" name="Text 5"/>
          <p:cNvSpPr/>
          <p:nvPr/>
        </p:nvSpPr>
        <p:spPr>
          <a:xfrm>
            <a:off x="6550796" y="50006"/>
            <a:ext cx="2364604" cy="169736"/>
          </a:xfrm>
          <a:prstGeom prst="rect">
            <a:avLst/>
          </a:prstGeom>
          <a:noFill/>
          <a:ln/>
          <a:effectLst>
            <a:outerShdw blurRad="19050" dist="50800" dir="162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r">
              <a:lnSpc>
                <a:spcPts val="1238"/>
              </a:lnSpc>
              <a:buNone/>
            </a:pPr>
            <a:r>
              <a:rPr lang="en-US" sz="825" i="1" kern="0" spc="11" dirty="0">
                <a:solidFill>
                  <a:srgbClr val="FFFFFF"/>
                </a:solidFill>
                <a:latin typeface="+mj-lt"/>
                <a:ea typeface="Carlito" pitchFamily="34" charset="-122"/>
                <a:cs typeface="Carlito" pitchFamily="34" charset="-120"/>
              </a:rPr>
              <a:t>Agentic AI-Based Equipment Health Monitoring</a:t>
            </a:r>
            <a:endParaRPr lang="en-US" sz="825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2307</Words>
  <Application>Microsoft Office PowerPoint</Application>
  <PresentationFormat>On-screen Show (16:9)</PresentationFormat>
  <Paragraphs>526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Calibri</vt:lpstr>
      <vt:lpstr>Calibri Light</vt:lpstr>
      <vt:lpstr>Carlito</vt:lpstr>
      <vt:lpstr>Frutiger 45 bold</vt:lpstr>
      <vt:lpstr>Frutiger LT Pro 45 Light</vt:lpstr>
      <vt:lpstr>Liberation Sans</vt:lpstr>
      <vt:lpstr>Liberation Sans Narrow</vt:lpstr>
      <vt:lpstr>Segoe UI Symbol</vt:lpstr>
      <vt:lpstr>Tinos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Aniket RajendraPatil</cp:lastModifiedBy>
  <cp:revision>5</cp:revision>
  <dcterms:created xsi:type="dcterms:W3CDTF">2026-10-08T03:27:54Z</dcterms:created>
  <dcterms:modified xsi:type="dcterms:W3CDTF">2026-10-08T07:02:55Z</dcterms:modified>
</cp:coreProperties>
</file>