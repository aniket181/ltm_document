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8" r:id="rId7"/>
    <p:sldId id="2147470496" r:id="rId8"/>
    <p:sldId id="2147470491" r:id="rId9"/>
    <p:sldId id="2147470499" r:id="rId10"/>
    <p:sldId id="214747050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6" d="100"/>
          <a:sy n="36" d="100"/>
        </p:scale>
        <p:origin x="115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RAG-Based Student Education Opportunity and Scholarship Eligibility Intelligence System </a:t>
            </a:r>
          </a:p>
          <a:p>
            <a:pPr lvl="0" algn="ctr"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Aniket Patil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T10007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EA6B6C-F49C-F24B-B055-7E1142D724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93" y="6001220"/>
            <a:ext cx="2759092" cy="73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395022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+mn-lt"/>
              </a:rPr>
              <a:t>Students have access to a large number of scholarships, fellowships, financial-aid programs and educational opportunities, but the information is distributed across multiple portals, institutions and official documents.</a:t>
            </a:r>
          </a:p>
          <a:p>
            <a:r>
              <a:rPr lang="en-IN" dirty="0">
                <a:solidFill>
                  <a:schemeClr val="tx1"/>
                </a:solidFill>
                <a:latin typeface="+mn-lt"/>
              </a:rPr>
              <a:t>Eligibility conditions are often complex and may depend on: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n-lt"/>
              </a:rPr>
              <a:t>Academic performance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n-lt"/>
              </a:rPr>
              <a:t>Course and education level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n-lt"/>
              </a:rPr>
              <a:t>Family income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n-lt"/>
              </a:rPr>
              <a:t>State and institution type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n-lt"/>
              </a:rPr>
              <a:t>Age and other scheme-specific conditions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3442447" y="57036"/>
            <a:ext cx="8749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+mj-lt"/>
                <a:ea typeface="Tinos" pitchFamily="34" charset="-122"/>
                <a:cs typeface="Times New Roman" panose="02020603050405020304" pitchFamily="18" charset="0"/>
              </a:rPr>
              <a:t>RAG-Based Student Education Opportunity and Scholarship Eligibility Intelligence System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8C9178"/>
                </a:solidFill>
                <a:latin typeface="+mn-lt"/>
                <a:ea typeface="Tinos" pitchFamily="34" charset="-122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+mn-lt"/>
                <a:ea typeface="Tinos" pitchFamily="34" charset="-122"/>
                <a:cs typeface="Times New Roman" panose="02020603050405020304" pitchFamily="18" charset="0"/>
              </a:rPr>
              <a:t>Build a centralized knowledge system for student opportunities.</a:t>
            </a:r>
            <a:endParaRPr lang="en-US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  <a:latin typeface="+mn-lt"/>
                <a:ea typeface="Tinos" pitchFamily="34" charset="-122"/>
                <a:cs typeface="Times New Roman" panose="02020603050405020304" pitchFamily="18" charset="0"/>
              </a:rPr>
              <a:t>Retrieve relevant scholarships and educational opportunities using RAG and Analyze student profiles against opportunity eligibility criteria.</a:t>
            </a:r>
            <a:endParaRPr lang="en-US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  <a:latin typeface="+mn-lt"/>
                <a:ea typeface="Tinos" pitchFamily="34" charset="-122"/>
                <a:cs typeface="Times New Roman" panose="02020603050405020304" pitchFamily="18" charset="0"/>
              </a:rPr>
              <a:t>Identify eligible and potentially eligible opportunities and Provide explanations for eligibility decisions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  <a:latin typeface="+mn-lt"/>
                <a:ea typeface="Tinos" pitchFamily="34" charset="-122"/>
                <a:cs typeface="Times New Roman" panose="02020603050405020304" pitchFamily="18" charset="0"/>
              </a:rPr>
              <a:t>Provide source-based answers with supporting information.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  <a:latin typeface="+mn-lt"/>
                <a:ea typeface="Tinos" pitchFamily="34" charset="-122"/>
                <a:cs typeface="Times New Roman" panose="02020603050405020304" pitchFamily="18" charset="0"/>
              </a:rPr>
              <a:t>Reduce the time required for students to discover suitable opportunities.</a:t>
            </a:r>
            <a:endParaRPr lang="en-US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3307977" y="57036"/>
            <a:ext cx="888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ea typeface="Tinos" pitchFamily="34" charset="-122"/>
                <a:cs typeface="Times New Roman" panose="02020603050405020304" pitchFamily="18" charset="0"/>
              </a:rPr>
              <a:t>RAG-Based Student Education Opportunity and Scholarship Eligibility Intelligence System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+mn-lt"/>
              </a:rPr>
              <a:t>Student Profiling</a:t>
            </a:r>
            <a:br>
              <a:rPr lang="en-IN" dirty="0">
                <a:solidFill>
                  <a:schemeClr val="tx1"/>
                </a:solidFill>
                <a:latin typeface="+mn-lt"/>
              </a:rPr>
            </a:br>
            <a:r>
              <a:rPr lang="en-IN" dirty="0">
                <a:solidFill>
                  <a:schemeClr val="tx1"/>
                </a:solidFill>
                <a:latin typeface="+mn-lt"/>
              </a:rPr>
              <a:t>Education, course, academic performance, income, domicile, category, institution, and interests.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+mn-lt"/>
              </a:rPr>
              <a:t>Opportunity Knowledge Base</a:t>
            </a:r>
            <a:br>
              <a:rPr lang="en-IN" dirty="0">
                <a:solidFill>
                  <a:schemeClr val="tx1"/>
                </a:solidFill>
                <a:latin typeface="+mn-lt"/>
              </a:rPr>
            </a:br>
            <a:r>
              <a:rPr lang="en-IN" dirty="0">
                <a:solidFill>
                  <a:schemeClr val="tx1"/>
                </a:solidFill>
                <a:latin typeface="+mn-lt"/>
              </a:rPr>
              <a:t>Scholarships, fellowships, financial aid, educational and skill-development opportunities.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+mn-lt"/>
              </a:rPr>
              <a:t>Explainable Recommendations</a:t>
            </a:r>
            <a:br>
              <a:rPr lang="en-IN" dirty="0">
                <a:solidFill>
                  <a:schemeClr val="tx1"/>
                </a:solidFill>
                <a:latin typeface="+mn-lt"/>
              </a:rPr>
            </a:br>
            <a:r>
              <a:rPr lang="en-IN" dirty="0">
                <a:solidFill>
                  <a:schemeClr val="tx1"/>
                </a:solidFill>
                <a:latin typeface="+mn-lt"/>
              </a:rPr>
              <a:t>Eligibility status, matched/missing conditions, benefits, dates, documents, and sources.</a:t>
            </a:r>
            <a:endParaRPr lang="en-US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3092825" y="57036"/>
            <a:ext cx="9099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ea typeface="Tinos" pitchFamily="34" charset="-122"/>
                <a:cs typeface="Times New Roman" panose="02020603050405020304" pitchFamily="18" charset="0"/>
              </a:rPr>
              <a:t>RAG-Based Student Education Opportunity and Scholarship Eligibility Intelligence System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  <a:latin typeface="+mn-lt"/>
              </a:rPr>
              <a:t>1. RAG for Knowledge-Intensive NLP — Lewis et al., 2020</a:t>
            </a:r>
          </a:p>
          <a:p>
            <a:r>
              <a:rPr lang="en-IN" dirty="0">
                <a:solidFill>
                  <a:schemeClr val="tx1"/>
                </a:solidFill>
                <a:latin typeface="+mn-lt"/>
              </a:rPr>
              <a:t>Approach: Retrieval-Augmented Generation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n-lt"/>
              </a:rPr>
              <a:t>Combines LLMs with external knowledge.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n-lt"/>
              </a:rPr>
              <a:t>Retrieves relevant information before generation.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n-lt"/>
              </a:rPr>
              <a:t>Improves knowledge-grounded responses.</a:t>
            </a:r>
            <a:br>
              <a:rPr lang="en-IN" dirty="0">
                <a:solidFill>
                  <a:schemeClr val="tx1"/>
                </a:solidFill>
                <a:latin typeface="+mn-lt"/>
              </a:rPr>
            </a:br>
            <a:r>
              <a:rPr lang="en-IN" dirty="0">
                <a:solidFill>
                  <a:schemeClr val="tx1"/>
                </a:solidFill>
                <a:latin typeface="+mn-lt"/>
              </a:rPr>
              <a:t>Relevance: Retrieve official scholarship information for grounded explanations.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2796989" y="57036"/>
            <a:ext cx="939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ea typeface="Tinos" pitchFamily="34" charset="-122"/>
                <a:cs typeface="Times New Roman" panose="02020603050405020304" pitchFamily="18" charset="0"/>
              </a:rPr>
              <a:t>RAG-Based Student Education Opportunity and Scholarship Eligibility Intelligence System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4C1E0-2C05-1D37-E3C9-397DC17E1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5028EE-67D8-4D90-BAE0-54A3AB8B32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  <a:latin typeface="+mn-lt"/>
              </a:rPr>
              <a:t>2. </a:t>
            </a:r>
            <a:r>
              <a:rPr lang="en-IN" dirty="0" err="1">
                <a:solidFill>
                  <a:schemeClr val="tx1"/>
                </a:solidFill>
                <a:latin typeface="+mn-lt"/>
              </a:rPr>
              <a:t>ScholarsAid</a:t>
            </a:r>
            <a:r>
              <a:rPr lang="en-IN" dirty="0">
                <a:solidFill>
                  <a:schemeClr val="tx1"/>
                </a:solidFill>
                <a:latin typeface="+mn-lt"/>
              </a:rPr>
              <a:t> — 2023</a:t>
            </a:r>
          </a:p>
          <a:p>
            <a:r>
              <a:rPr lang="en-IN" dirty="0">
                <a:solidFill>
                  <a:schemeClr val="tx1"/>
                </a:solidFill>
                <a:latin typeface="+mn-lt"/>
              </a:rPr>
              <a:t>Approach: Web Scraping + Personalized Recommendation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n-lt"/>
              </a:rPr>
              <a:t>Collects scholarship information automatically.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n-lt"/>
              </a:rPr>
              <a:t>Provides personalized recommendations.</a:t>
            </a:r>
            <a:br>
              <a:rPr lang="en-IN" dirty="0">
                <a:solidFill>
                  <a:schemeClr val="tx1"/>
                </a:solidFill>
                <a:latin typeface="+mn-lt"/>
              </a:rPr>
            </a:br>
            <a:r>
              <a:rPr lang="en-IN" dirty="0">
                <a:solidFill>
                  <a:schemeClr val="tx1"/>
                </a:solidFill>
                <a:latin typeface="+mn-lt"/>
              </a:rPr>
              <a:t>Limitation: Lacks RAG-based grounded explanations.</a:t>
            </a:r>
            <a:br>
              <a:rPr lang="en-IN" dirty="0">
                <a:solidFill>
                  <a:schemeClr val="tx1"/>
                </a:solidFill>
                <a:latin typeface="+mn-lt"/>
              </a:rPr>
            </a:br>
            <a:r>
              <a:rPr lang="en-IN" dirty="0">
                <a:solidFill>
                  <a:schemeClr val="tx1"/>
                </a:solidFill>
                <a:latin typeface="+mn-lt"/>
              </a:rPr>
              <a:t>Relevance: Supports personalized opportunity discovery.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80F1C-5DB8-A225-3FA4-11DBE4587A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BB32088-32EC-9583-00C4-72C4C475FF9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BBA7E85-2836-5DC0-7A7A-DD71506F2089}"/>
              </a:ext>
            </a:extLst>
          </p:cNvPr>
          <p:cNvSpPr txBox="1"/>
          <p:nvPr/>
        </p:nvSpPr>
        <p:spPr>
          <a:xfrm>
            <a:off x="2796989" y="57036"/>
            <a:ext cx="939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ea typeface="Tinos" pitchFamily="34" charset="-122"/>
                <a:cs typeface="Times New Roman" panose="02020603050405020304" pitchFamily="18" charset="0"/>
              </a:rPr>
              <a:t>RAG-Based Student Education Opportunity and Scholarship Eligibility Intelligence System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674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3173507" y="57036"/>
            <a:ext cx="9018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ea typeface="Tinos" pitchFamily="34" charset="-122"/>
                <a:cs typeface="Times New Roman" panose="02020603050405020304" pitchFamily="18" charset="0"/>
              </a:rPr>
              <a:t>RAG-Based Student Education Opportunity and Scholarship Eligibility Intelligence System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3CC44CE-8317-F56B-21EA-72A8D5522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527007"/>
              </p:ext>
            </p:extLst>
          </p:nvPr>
        </p:nvGraphicFramePr>
        <p:xfrm>
          <a:off x="677863" y="1738237"/>
          <a:ext cx="11514138" cy="472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38046">
                  <a:extLst>
                    <a:ext uri="{9D8B030D-6E8A-4147-A177-3AD203B41FA5}">
                      <a16:colId xmlns:a16="http://schemas.microsoft.com/office/drawing/2014/main" val="2988278427"/>
                    </a:ext>
                  </a:extLst>
                </a:gridCol>
                <a:gridCol w="3838046">
                  <a:extLst>
                    <a:ext uri="{9D8B030D-6E8A-4147-A177-3AD203B41FA5}">
                      <a16:colId xmlns:a16="http://schemas.microsoft.com/office/drawing/2014/main" val="1986996016"/>
                    </a:ext>
                  </a:extLst>
                </a:gridCol>
                <a:gridCol w="3838046">
                  <a:extLst>
                    <a:ext uri="{9D8B030D-6E8A-4147-A177-3AD203B41FA5}">
                      <a16:colId xmlns:a16="http://schemas.microsoft.com/office/drawing/2014/main" val="1423965171"/>
                    </a:ext>
                  </a:extLst>
                </a:gridCol>
              </a:tblGrid>
              <a:tr h="434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Key Strength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Main 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8351900"/>
                  </a:ext>
                </a:extLst>
              </a:tr>
              <a:tr h="760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Knowledge-grounded information retrieval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No built-in eligibility reasoning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6034686"/>
                  </a:ext>
                </a:extLst>
              </a:tr>
              <a:tr h="760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Rule-Based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Accurate rule-based eligibility decisions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Limited document understanding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9511071"/>
                  </a:ext>
                </a:extLst>
              </a:tr>
              <a:tr h="760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Web-Based Recommendation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Personalized opportunity discovery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Limited grounded explanations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7848311"/>
                  </a:ext>
                </a:extLst>
              </a:tr>
              <a:tr h="760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ML-Based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Automated and explainable eligibility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Depends on structured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195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1. Student Profile Management</a:t>
            </a:r>
          </a:p>
          <a:p>
            <a:r>
              <a:rPr lang="en-IN" dirty="0"/>
              <a:t>Create and manage structured student profiles.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2. Opportunity Knowledge Base</a:t>
            </a:r>
          </a:p>
          <a:p>
            <a:r>
              <a:rPr lang="en-IN" dirty="0"/>
              <a:t>Store scholarships, fellowships and educational opportunities with structured metadata.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3. Document Ingestion &amp; Processing</a:t>
            </a:r>
          </a:p>
          <a:p>
            <a:r>
              <a:rPr lang="en-IN" dirty="0"/>
              <a:t>Extract, clean, segment and enrich information from official documents.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3227295" y="57036"/>
            <a:ext cx="8964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ea typeface="Tinos" pitchFamily="34" charset="-122"/>
                <a:cs typeface="Times New Roman" panose="02020603050405020304" pitchFamily="18" charset="0"/>
              </a:rPr>
              <a:t>RAG-Based Student Education Opportunity and Scholarship Eligibility Intelligence System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BE8E7-602C-64D1-730D-DC9EDE533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549BC8-FFE3-4FEB-B9DD-E38C0BB4D2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IN" dirty="0"/>
              <a:t> </a:t>
            </a:r>
            <a:r>
              <a:rPr lang="en-IN" dirty="0">
                <a:latin typeface="+mn-lt"/>
              </a:rPr>
              <a:t>4. Embedding &amp; Vector Storage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+mn-lt"/>
              </a:rPr>
              <a:t>Convert document chunks into embeddings and store them for semantic retrieval.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dirty="0">
                <a:latin typeface="+mn-lt"/>
              </a:rPr>
              <a:t>5. Hybrid Retrieval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+mn-lt"/>
              </a:rPr>
              <a:t>Combine:  Semantic/vector search  ,Keyword search , Metadata filtering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dirty="0">
                <a:latin typeface="+mn-lt"/>
              </a:rPr>
              <a:t>6. RAG Generation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+mn-lt"/>
              </a:rPr>
              <a:t>Generate source-grounded natural-language responses from retrieved evidence.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2F5163-13F5-6F61-9A5E-1BB8E09282AE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D643EA-B1BF-1850-43A7-4CE095FFF73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1864066-C6AF-9100-2220-FC402CEC39D4}"/>
              </a:ext>
            </a:extLst>
          </p:cNvPr>
          <p:cNvSpPr txBox="1"/>
          <p:nvPr/>
        </p:nvSpPr>
        <p:spPr>
          <a:xfrm>
            <a:off x="3227295" y="57036"/>
            <a:ext cx="8964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ea typeface="Tinos" pitchFamily="34" charset="-122"/>
                <a:cs typeface="Times New Roman" panose="02020603050405020304" pitchFamily="18" charset="0"/>
              </a:rPr>
              <a:t>RAG-Based Student Education Opportunity and Scholarship Eligibility Intelligence System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569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9C6C7-266C-D12F-C57E-207A41F5C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EE56FB8-04FB-D408-5C73-E047164E19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7. Student Dashboard</a:t>
            </a:r>
          </a:p>
          <a:p>
            <a:r>
              <a:rPr lang="en-IN" dirty="0"/>
              <a:t>Provide search, recommendations, eligibility explanations and source information.</a:t>
            </a:r>
          </a:p>
          <a:p>
            <a:pPr marL="0" indent="0">
              <a:lnSpc>
                <a:spcPct val="100000"/>
              </a:lnSpc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34B97B-D882-37DC-333A-131A8BACC91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D388326-FEA5-174E-E563-051D72807CB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971213D-619C-2221-EE0E-C5B3FEEB3946}"/>
              </a:ext>
            </a:extLst>
          </p:cNvPr>
          <p:cNvSpPr txBox="1"/>
          <p:nvPr/>
        </p:nvSpPr>
        <p:spPr>
          <a:xfrm>
            <a:off x="3227295" y="57036"/>
            <a:ext cx="8964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ea typeface="Tinos" pitchFamily="34" charset="-122"/>
                <a:cs typeface="Times New Roman" panose="02020603050405020304" pitchFamily="18" charset="0"/>
              </a:rPr>
              <a:t>RAG-Based Student Education Opportunity and Scholarship Eligibility Intelligence System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02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537</Words>
  <Application>Microsoft Office PowerPoint</Application>
  <PresentationFormat>Widescreen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Tinos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Aniket RajendraPatil</cp:lastModifiedBy>
  <cp:revision>13</cp:revision>
  <dcterms:created xsi:type="dcterms:W3CDTF">2024-05-13T10:33:11Z</dcterms:created>
  <dcterms:modified xsi:type="dcterms:W3CDTF">2026-09-07T05:12:06Z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